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8" r:id="rId3"/>
    <p:sldId id="259" r:id="rId4"/>
    <p:sldId id="260" r:id="rId5"/>
    <p:sldId id="261" r:id="rId6"/>
    <p:sldId id="262" r:id="rId7"/>
    <p:sldId id="263" r:id="rId8"/>
    <p:sldId id="266" r:id="rId11"/>
    <p:sldId id="267"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dempotency" id="{E48DF457-4B77-C84A-E0A2-3754DDA5A9F0}">
          <p14:sldIdLst>
            <p14:sldId id="256"/>
            <p14:sldId id="258"/>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4" Type="http://schemas.openxmlformats.org/officeDocument/2006/relationships/slide" Target="slides/slide3.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5505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Welcome. Our group was assigned the pattern Idempotency and Exactly-Once(ish) from the Distributed Design lecture. We will explain the pattern, how we built it in IdempotentWallet, and what problems it solves.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A customer taps Send LKR 500 and the Wi-Fi drops. The server cannot tell a lost request from a lost reply. Three worlds are possible. In the third one the money moved but the client heard nothing. Retrying is the only safe choice, so duplicates are unavoidable. Our whole project makes a duplicate harmless.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At-least-once delivery means we retry until acknowledged, so nothing is lost but duplicates can happen. An idempotent receiver uses a stable operation ID so a duplicate changes nothing. Together this gives effectively-once. Perfect exactly-once over a network is impossible, so the ish is the honest word. Analogy: pressing a lift button five times still calls one lift.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One service is enough to show both boundaries the pattern protects: client to API, and database to broker to consumer. wallet-service writes the key, the ledger event and the outbox row in one PostgreSQL transaction. RabbitMQ only announces the change, and a consumer with an inbox applies each message once.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The client creates one UUID per Send tap and reuses it on every retry. The server inserts the key into a table with a unique index, so only one request wins. The winner does the work and saves the receipt. Everyone else gets the receipt back with the header Idempotent-Replayed true. The class is IdempotentExecutor.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The key row, the ledger event and the outbox row are written in one database transaction, so they all exist or none do. If the effect is saved but not the key, a retry repeats it: double debit. If the key is saved but not the effect, a retry replays a success for money that never moved. The ledger is append-only, enforced by a database trigger. The balance is updated only where last_seq matches, so two racing withdrawals cannot both win; the loser retries and gets insufficient funds.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7. Saving to the database and publishing to the broker are two systems, so one can succeed while the other fails. The outbox writes the message in the same transaction as the data, and a relay publishes it later. The relay runs every second and uses FOR UPDATE SKIP LOCKED. If it crashes after publishing it publishes again, so it is at-least-once. The inbox stores each message ID, and a repeat is skipped. Bad messages retry three times then go to the dead-letter queue.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8. We send 50 identical top-ups at the same time. The result is exactly one ledger event, 49 replays and a balance of 1000. Then we use three chaos switches: dropResponse loses the reply after commit, duplicatePublish makes the relay publish twice, and failConsumer fills the dead-letter queue. Tests: a unit test, 8 parallel different keys, and a k6 load script. A Postman collection runs the whole demo with assertions. Be honest that isolated component tests are the thin part.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9. Summary. The pattern solves double credits and debits from a retry, lost replies, duplicate messages and racing writes. We name our limits first: no publisher confirms on the relay, keys are not tied to a user because there is no login, component tests are thin, and the chaos endpoints are for demo only. A third boundary, calling an outside provider, would use the same idea by forwarding our key, but we did not build it because the assignment was one pattern in one service. Close with: effectively-once means many arrivals, one effect. Thank you.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548640" y="1097280"/>
            <a:ext cx="5212080" cy="1645920"/>
          </a:xfrm>
          <a:prstGeom prst="rect">
            <a:avLst/>
          </a:prstGeom>
          <a:noFill/>
          <a:ln/>
        </p:spPr>
        <p:txBody>
          <a:bodyPr wrap="square" rtlCol="0"/>
          <a:lstStyle>
            <a:lvl1pPr marL="0" indent="0">
              <a:buNone/>
              <a:defRPr lang="en-US" sz="3800" b="1" dirty="0">
                <a:solidFill>
                  <a:schemeClr val="bg1"/>
                </a:solidFill>
              </a:defRPr>
            </a:lvl1pPr>
          </a:lstStyle>
          <a:p>
            <a:pPr marL="0" indent="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buNone/>
              <a:defRPr lang="en-US" sz="3200" b="1" dirty="0">
                <a:solidFill>
                  <a:schemeClr val="tx2"/>
                </a:solidFill>
              </a:defRPr>
            </a:lvl1pPr>
          </a:lstStyle>
          <a:p>
            <a:pPr marL="0" indent="0">
              <a:buNone/>
            </a:pPr>
            <a:endParaRPr lang="en-US" sz="3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1097280"/>
            <a:ext cx="5212080" cy="1645920"/>
          </a:xfrm>
          <a:prstGeom prst="rect">
            <a:avLst/>
          </a:prstGeom>
          <a:noFill/>
          <a:ln/>
        </p:spPr>
        <p:txBody>
          <a:bodyPr wrap="square" lIns="0" tIns="0" rIns="0" bIns="0" rtlCol="0" anchor="t"/>
          <a:lstStyle/>
          <a:p>
            <a:pPr marL="0" indent="0">
              <a:buNone/>
            </a:pPr>
            <a:r>
              <a:rPr lang="en-US" sz="3800" b="1" dirty="0">
                <a:solidFill>
                  <a:schemeClr val="bg1"/>
                </a:solidFill>
              </a:rPr>
              <a:t>Idempotency and Exactly-Once(ish)</a:t>
            </a:r>
            <a:endParaRPr lang="en-US" sz="3800" dirty="0"/>
          </a:p>
        </p:txBody>
      </p:sp>
      <p:sp>
        <p:nvSpPr>
          <p:cNvPr id="3" name="Text 1"/>
          <p:cNvSpPr txBox="1"/>
          <p:nvPr/>
        </p:nvSpPr>
        <p:spPr>
          <a:xfrm>
            <a:off x="548640" y="2880360"/>
            <a:ext cx="5120640" cy="320040"/>
          </a:xfrm>
          <a:prstGeom prst="rect">
            <a:avLst/>
          </a:prstGeom>
          <a:noFill/>
          <a:ln/>
        </p:spPr>
        <p:txBody>
          <a:bodyPr wrap="square" lIns="0" tIns="0" rIns="0" bIns="0" rtlCol="0" anchor="t"/>
          <a:lstStyle/>
          <a:p>
            <a:pPr marL="0" indent="0">
              <a:buNone/>
            </a:pPr>
            <a:r>
              <a:rPr lang="en-US" sz="1800" b="1" dirty="0">
                <a:solidFill>
                  <a:schemeClr val="accent2"/>
                </a:solidFill>
              </a:rPr>
              <a:t>The design pattern in our project: IdempotentWallet</a:t>
            </a:r>
            <a:endParaRPr lang="en-US" sz="1800" dirty="0"/>
          </a:p>
        </p:txBody>
      </p:sp>
      <p:sp>
        <p:nvSpPr>
          <p:cNvPr id="4" name="Text 2"/>
          <p:cNvSpPr txBox="1"/>
          <p:nvPr/>
        </p:nvSpPr>
        <p:spPr>
          <a:xfrm>
            <a:off x="548640" y="3291840"/>
            <a:ext cx="5120640" cy="548640"/>
          </a:xfrm>
          <a:prstGeom prst="rect">
            <a:avLst/>
          </a:prstGeom>
          <a:noFill/>
          <a:ln/>
        </p:spPr>
        <p:txBody>
          <a:bodyPr wrap="square" lIns="0" tIns="0" rIns="0" bIns="0" rtlCol="0" anchor="t"/>
          <a:lstStyle/>
          <a:p>
            <a:pPr marL="0" indent="0">
              <a:buNone/>
            </a:pPr>
            <a:r>
              <a:rPr lang="en-US" sz="1400" dirty="0">
                <a:solidFill>
                  <a:schemeClr val="bg1"/>
                </a:solidFill>
              </a:rPr>
              <a:t>IT3133 Programming Distributed Components · Group presentation</a:t>
            </a:r>
            <a:endParaRPr lang="en-US" sz="1400" dirty="0"/>
          </a:p>
        </p:txBody>
      </p:sp>
      <p:sp>
        <p:nvSpPr>
          <p:cNvPr id="5" name="Text 3"/>
          <p:cNvSpPr txBox="1"/>
          <p:nvPr/>
        </p:nvSpPr>
        <p:spPr>
          <a:xfrm>
            <a:off x="548640" y="4023360"/>
            <a:ext cx="5120640" cy="365760"/>
          </a:xfrm>
          <a:prstGeom prst="rect">
            <a:avLst/>
          </a:prstGeom>
          <a:noFill/>
          <a:ln/>
        </p:spPr>
        <p:txBody>
          <a:bodyPr wrap="square" lIns="0" tIns="0" rIns="0" bIns="0" rtlCol="0" anchor="t"/>
          <a:lstStyle/>
          <a:p>
            <a:pPr marL="0" indent="0">
              <a:buNone/>
            </a:pPr>
            <a:r>
              <a:rPr lang="en-US" sz="1600" i="1" dirty="0">
                <a:solidFill>
                  <a:schemeClr val="bg1"/>
                </a:solidFill>
              </a:rPr>
              <a:t>Press Send five times. The money moves once.</a:t>
            </a:r>
            <a:endParaRPr lang="en-US" sz="1600" dirty="0"/>
          </a:p>
        </p:txBody>
      </p:sp>
      <p:sp>
        <p:nvSpPr>
          <p:cNvPr id="6" name="Shape 4"/>
          <p:cNvSpPr/>
          <p:nvPr/>
        </p:nvSpPr>
        <p:spPr>
          <a:xfrm>
            <a:off x="6126480" y="1005840"/>
            <a:ext cx="2560320" cy="2560320"/>
          </a:xfrm>
          <a:prstGeom prst="ellipse">
            <a:avLst/>
          </a:prstGeom>
          <a:solidFill>
            <a:schemeClr val="accent2"/>
          </a:solidFill>
          <a:ln/>
        </p:spPr>
      </p:sp>
      <p:sp>
        <p:nvSpPr>
          <p:cNvPr id="7" name="Text 5"/>
          <p:cNvSpPr txBox="1"/>
          <p:nvPr/>
        </p:nvSpPr>
        <p:spPr>
          <a:xfrm>
            <a:off x="6126480" y="1005840"/>
            <a:ext cx="2560320" cy="2560320"/>
          </a:xfrm>
          <a:prstGeom prst="rect">
            <a:avLst/>
          </a:prstGeom>
          <a:noFill/>
          <a:ln/>
        </p:spPr>
        <p:txBody>
          <a:bodyPr wrap="square" lIns="0" tIns="0" rIns="0" bIns="0" rtlCol="0" anchor="ctr"/>
          <a:lstStyle/>
          <a:p>
            <a:pPr marL="0" indent="0" algn="ctr">
              <a:buNone/>
            </a:pPr>
            <a:r>
              <a:rPr lang="en-US" sz="4800" b="1" dirty="0">
                <a:solidFill>
                  <a:schemeClr val="tx1"/>
                </a:solidFill>
              </a:rPr>
              <a:t>5 → 1</a:t>
            </a:r>
            <a:endParaRPr lang="en-US" sz="4800" dirty="0"/>
          </a:p>
        </p:txBody>
      </p:sp>
      <p:sp>
        <p:nvSpPr>
          <p:cNvPr id="8" name="Text 6"/>
          <p:cNvSpPr txBox="1"/>
          <p:nvPr/>
        </p:nvSpPr>
        <p:spPr>
          <a:xfrm>
            <a:off x="6126480" y="3749040"/>
            <a:ext cx="2560320" cy="365760"/>
          </a:xfrm>
          <a:prstGeom prst="rect">
            <a:avLst/>
          </a:prstGeom>
          <a:noFill/>
          <a:ln/>
        </p:spPr>
        <p:txBody>
          <a:bodyPr wrap="square" lIns="0" tIns="0" rIns="0" bIns="0" rtlCol="0" anchor="t"/>
          <a:lstStyle/>
          <a:p>
            <a:pPr marL="0" indent="0" algn="ctr">
              <a:buNone/>
            </a:pPr>
            <a:r>
              <a:rPr lang="en-US" sz="1400" dirty="0">
                <a:solidFill>
                  <a:schemeClr val="bg1"/>
                </a:solidFill>
              </a:rPr>
              <a:t>five taps, one effect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The problem: the lost reply</a:t>
            </a:r>
            <a:endParaRPr lang="en-US" sz="3200" dirty="0"/>
          </a:p>
        </p:txBody>
      </p:sp>
      <p:sp>
        <p:nvSpPr>
          <p:cNvPr id="3" name="Text 1"/>
          <p:cNvSpPr txBox="1"/>
          <p:nvPr/>
        </p:nvSpPr>
        <p:spPr>
          <a:xfrm>
            <a:off x="457200" y="4754880"/>
            <a:ext cx="2743200" cy="228600"/>
          </a:xfrm>
          <a:prstGeom prst="rect">
            <a:avLst/>
          </a:prstGeom>
          <a:noFill/>
          <a:ln/>
        </p:spPr>
        <p:txBody>
          <a:bodyPr wrap="square" lIns="0" tIns="0" rIns="0" bIns="0" rtlCol="0" anchor="t"/>
          <a:lstStyle/>
          <a:p>
            <a:pPr marL="0" indent="0">
              <a:buNone/>
            </a:pPr>
            <a:r>
              <a:rPr lang="en-US" sz="1000" dirty="0">
                <a:solidFill>
                  <a:schemeClr val="accent5"/>
                </a:solidFill>
              </a:rPr>
              <a:t>Presenter: Member 2</a:t>
            </a:r>
            <a:endParaRPr lang="en-US" sz="1000" dirty="0"/>
          </a:p>
        </p:txBody>
      </p:sp>
      <p:sp>
        <p:nvSpPr>
          <p:cNvPr id="5" name="Shape 2"/>
          <p:cNvSpPr/>
          <p:nvPr/>
        </p:nvSpPr>
        <p:spPr>
          <a:xfrm>
            <a:off x="457200" y="1188720"/>
            <a:ext cx="4937760" cy="914400"/>
          </a:xfrm>
          <a:prstGeom prst="roundRect">
            <a:avLst>
              <a:gd name="adj" fmla="val 8000"/>
            </a:avLst>
          </a:prstGeom>
          <a:solidFill>
            <a:schemeClr val="bg2"/>
          </a:solidFill>
          <a:ln/>
        </p:spPr>
      </p:sp>
      <p:sp>
        <p:nvSpPr>
          <p:cNvPr id="6" name="Text 3"/>
          <p:cNvSpPr txBox="1"/>
          <p:nvPr/>
        </p:nvSpPr>
        <p:spPr>
          <a:xfrm>
            <a:off x="621792" y="1316736"/>
            <a:ext cx="4608576" cy="320040"/>
          </a:xfrm>
          <a:prstGeom prst="rect">
            <a:avLst/>
          </a:prstGeom>
          <a:noFill/>
          <a:ln/>
        </p:spPr>
        <p:txBody>
          <a:bodyPr wrap="square" lIns="0" tIns="0" rIns="0" bIns="0" rtlCol="0" anchor="t"/>
          <a:lstStyle/>
          <a:p>
            <a:pPr marL="0" indent="0">
              <a:buNone/>
            </a:pPr>
            <a:r>
              <a:rPr lang="en-US" sz="1500" b="1" dirty="0">
                <a:solidFill>
                  <a:schemeClr val="tx1"/>
                </a:solidFill>
              </a:rPr>
              <a:t>1. The request never arrived</a:t>
            </a:r>
            <a:endParaRPr lang="en-US" sz="1500" dirty="0"/>
          </a:p>
        </p:txBody>
      </p:sp>
      <p:sp>
        <p:nvSpPr>
          <p:cNvPr id="7" name="Text 4"/>
          <p:cNvSpPr txBox="1"/>
          <p:nvPr/>
        </p:nvSpPr>
        <p:spPr>
          <a:xfrm>
            <a:off x="621792" y="1682496"/>
            <a:ext cx="4608576" cy="274320"/>
          </a:xfrm>
          <a:prstGeom prst="rect">
            <a:avLst/>
          </a:prstGeom>
          <a:noFill/>
          <a:ln/>
        </p:spPr>
        <p:txBody>
          <a:bodyPr wrap="square" lIns="0" tIns="0" rIns="0" bIns="0" rtlCol="0" anchor="t"/>
          <a:lstStyle/>
          <a:p>
            <a:pPr marL="0" indent="0">
              <a:buNone/>
            </a:pPr>
            <a:r>
              <a:rPr lang="en-US" sz="1400" dirty="0">
                <a:solidFill>
                  <a:schemeClr val="tx1"/>
                </a:solidFill>
              </a:rPr>
              <a:t>Money did not move.</a:t>
            </a:r>
            <a:endParaRPr lang="en-US" sz="1400" dirty="0"/>
          </a:p>
        </p:txBody>
      </p:sp>
      <p:sp>
        <p:nvSpPr>
          <p:cNvPr id="8" name="Shape 5"/>
          <p:cNvSpPr/>
          <p:nvPr/>
        </p:nvSpPr>
        <p:spPr>
          <a:xfrm>
            <a:off x="457200" y="2240280"/>
            <a:ext cx="4937760" cy="914400"/>
          </a:xfrm>
          <a:prstGeom prst="roundRect">
            <a:avLst>
              <a:gd name="adj" fmla="val 8000"/>
            </a:avLst>
          </a:prstGeom>
          <a:solidFill>
            <a:schemeClr val="bg2"/>
          </a:solidFill>
          <a:ln/>
        </p:spPr>
      </p:sp>
      <p:sp>
        <p:nvSpPr>
          <p:cNvPr id="9" name="Text 6"/>
          <p:cNvSpPr txBox="1"/>
          <p:nvPr/>
        </p:nvSpPr>
        <p:spPr>
          <a:xfrm>
            <a:off x="621792" y="2368296"/>
            <a:ext cx="4608576" cy="320040"/>
          </a:xfrm>
          <a:prstGeom prst="rect">
            <a:avLst/>
          </a:prstGeom>
          <a:noFill/>
          <a:ln/>
        </p:spPr>
        <p:txBody>
          <a:bodyPr wrap="square" lIns="0" tIns="0" rIns="0" bIns="0" rtlCol="0" anchor="t"/>
          <a:lstStyle/>
          <a:p>
            <a:pPr marL="0" indent="0">
              <a:buNone/>
            </a:pPr>
            <a:r>
              <a:rPr lang="en-US" sz="1500" b="1" dirty="0">
                <a:solidFill>
                  <a:schemeClr val="tx1"/>
                </a:solidFill>
              </a:rPr>
              <a:t>2. The server crashed before saving</a:t>
            </a:r>
            <a:endParaRPr lang="en-US" sz="1500" dirty="0"/>
          </a:p>
        </p:txBody>
      </p:sp>
      <p:sp>
        <p:nvSpPr>
          <p:cNvPr id="10" name="Text 7"/>
          <p:cNvSpPr txBox="1"/>
          <p:nvPr/>
        </p:nvSpPr>
        <p:spPr>
          <a:xfrm>
            <a:off x="621792" y="2734056"/>
            <a:ext cx="4608576" cy="274320"/>
          </a:xfrm>
          <a:prstGeom prst="rect">
            <a:avLst/>
          </a:prstGeom>
          <a:noFill/>
          <a:ln/>
        </p:spPr>
        <p:txBody>
          <a:bodyPr wrap="square" lIns="0" tIns="0" rIns="0" bIns="0" rtlCol="0" anchor="t"/>
          <a:lstStyle/>
          <a:p>
            <a:pPr marL="0" indent="0">
              <a:buNone/>
            </a:pPr>
            <a:r>
              <a:rPr lang="en-US" sz="1400" dirty="0">
                <a:solidFill>
                  <a:schemeClr val="tx1"/>
                </a:solidFill>
              </a:rPr>
              <a:t>Money did not move.</a:t>
            </a:r>
            <a:endParaRPr lang="en-US" sz="1400" dirty="0"/>
          </a:p>
        </p:txBody>
      </p:sp>
      <p:sp>
        <p:nvSpPr>
          <p:cNvPr id="11" name="Shape 8"/>
          <p:cNvSpPr/>
          <p:nvPr/>
        </p:nvSpPr>
        <p:spPr>
          <a:xfrm>
            <a:off x="457200" y="3291840"/>
            <a:ext cx="4937760" cy="914400"/>
          </a:xfrm>
          <a:prstGeom prst="roundRect">
            <a:avLst>
              <a:gd name="adj" fmla="val 8000"/>
            </a:avLst>
          </a:prstGeom>
          <a:solidFill>
            <a:schemeClr val="accent2"/>
          </a:solidFill>
          <a:ln/>
        </p:spPr>
      </p:sp>
      <p:sp>
        <p:nvSpPr>
          <p:cNvPr id="12" name="Text 9"/>
          <p:cNvSpPr txBox="1"/>
          <p:nvPr/>
        </p:nvSpPr>
        <p:spPr>
          <a:xfrm>
            <a:off x="621792" y="3419856"/>
            <a:ext cx="4608576" cy="320040"/>
          </a:xfrm>
          <a:prstGeom prst="rect">
            <a:avLst/>
          </a:prstGeom>
          <a:noFill/>
          <a:ln/>
        </p:spPr>
        <p:txBody>
          <a:bodyPr wrap="square" lIns="0" tIns="0" rIns="0" bIns="0" rtlCol="0" anchor="t"/>
          <a:lstStyle/>
          <a:p>
            <a:pPr marL="0" indent="0">
              <a:buNone/>
            </a:pPr>
            <a:r>
              <a:rPr lang="en-US" sz="1500" b="1" dirty="0">
                <a:solidFill>
                  <a:schemeClr val="tx1"/>
                </a:solidFill>
              </a:rPr>
              <a:t>3. Saved, but the reply was lost</a:t>
            </a:r>
            <a:endParaRPr lang="en-US" sz="1500" dirty="0"/>
          </a:p>
        </p:txBody>
      </p:sp>
      <p:sp>
        <p:nvSpPr>
          <p:cNvPr id="13" name="Text 10"/>
          <p:cNvSpPr txBox="1"/>
          <p:nvPr/>
        </p:nvSpPr>
        <p:spPr>
          <a:xfrm>
            <a:off x="621792" y="3785616"/>
            <a:ext cx="4608576" cy="274320"/>
          </a:xfrm>
          <a:prstGeom prst="rect">
            <a:avLst/>
          </a:prstGeom>
          <a:noFill/>
          <a:ln/>
        </p:spPr>
        <p:txBody>
          <a:bodyPr wrap="square" lIns="0" tIns="0" rIns="0" bIns="0" rtlCol="0" anchor="t"/>
          <a:lstStyle/>
          <a:p>
            <a:pPr marL="0" indent="0">
              <a:buNone/>
            </a:pPr>
            <a:r>
              <a:rPr lang="en-US" sz="1400" dirty="0">
                <a:solidFill>
                  <a:schemeClr val="tx1"/>
                </a:solidFill>
              </a:rPr>
              <a:t>Money moved. The client does not know.</a:t>
            </a:r>
            <a:endParaRPr lang="en-US" sz="1400" dirty="0"/>
          </a:p>
        </p:txBody>
      </p:sp>
      <p:sp>
        <p:nvSpPr>
          <p:cNvPr id="14" name="Shape 11"/>
          <p:cNvSpPr/>
          <p:nvPr/>
        </p:nvSpPr>
        <p:spPr>
          <a:xfrm>
            <a:off x="5669280" y="1188720"/>
            <a:ext cx="3017520" cy="3017520"/>
          </a:xfrm>
          <a:prstGeom prst="roundRect">
            <a:avLst>
              <a:gd name="adj" fmla="val 2424"/>
            </a:avLst>
          </a:prstGeom>
          <a:solidFill>
            <a:schemeClr val="tx2"/>
          </a:solidFill>
          <a:ln/>
        </p:spPr>
      </p:sp>
      <p:sp>
        <p:nvSpPr>
          <p:cNvPr id="15" name="Text 12"/>
          <p:cNvSpPr txBox="1"/>
          <p:nvPr/>
        </p:nvSpPr>
        <p:spPr>
          <a:xfrm>
            <a:off x="5852160" y="1371600"/>
            <a:ext cx="2651760" cy="1005840"/>
          </a:xfrm>
          <a:prstGeom prst="rect">
            <a:avLst/>
          </a:prstGeom>
          <a:noFill/>
          <a:ln/>
        </p:spPr>
        <p:txBody>
          <a:bodyPr wrap="square" lIns="0" tIns="0" rIns="0" bIns="0" rtlCol="0" anchor="t"/>
          <a:lstStyle/>
          <a:p>
            <a:pPr marL="0" indent="0">
              <a:buNone/>
            </a:pPr>
            <a:r>
              <a:rPr lang="en-US" sz="2000" b="1" dirty="0">
                <a:solidFill>
                  <a:schemeClr val="bg1"/>
                </a:solidFill>
              </a:rPr>
              <a:t>The client cannot tell which world it is in.</a:t>
            </a:r>
            <a:endParaRPr lang="en-US" sz="2000" dirty="0"/>
          </a:p>
        </p:txBody>
      </p:sp>
      <p:sp>
        <p:nvSpPr>
          <p:cNvPr id="16" name="Text 13"/>
          <p:cNvSpPr txBox="1"/>
          <p:nvPr/>
        </p:nvSpPr>
        <p:spPr>
          <a:xfrm>
            <a:off x="5852160" y="2514600"/>
            <a:ext cx="2651760" cy="914400"/>
          </a:xfrm>
          <a:prstGeom prst="rect">
            <a:avLst/>
          </a:prstGeom>
          <a:noFill/>
          <a:ln/>
        </p:spPr>
        <p:txBody>
          <a:bodyPr wrap="square" lIns="0" tIns="0" rIns="0" bIns="0" rtlCol="0" anchor="t"/>
          <a:lstStyle/>
          <a:p>
            <a:pPr marL="0" indent="0">
              <a:buNone/>
            </a:pPr>
            <a:r>
              <a:rPr lang="en-US" sz="1500" dirty="0">
                <a:solidFill>
                  <a:schemeClr val="bg1"/>
                </a:solidFill>
              </a:rPr>
              <a:t>So retrying is the only safe choice, and duplicates are unavoidable.</a:t>
            </a:r>
            <a:endParaRPr lang="en-US" sz="1500" dirty="0"/>
          </a:p>
        </p:txBody>
      </p:sp>
      <p:sp>
        <p:nvSpPr>
          <p:cNvPr id="17" name="Text 14"/>
          <p:cNvSpPr txBox="1"/>
          <p:nvPr/>
        </p:nvSpPr>
        <p:spPr>
          <a:xfrm>
            <a:off x="5852160" y="3474720"/>
            <a:ext cx="2651760" cy="548640"/>
          </a:xfrm>
          <a:prstGeom prst="rect">
            <a:avLst/>
          </a:prstGeom>
          <a:noFill/>
          <a:ln/>
        </p:spPr>
        <p:txBody>
          <a:bodyPr wrap="square" lIns="0" tIns="0" rIns="0" bIns="0" rtlCol="0" anchor="t"/>
          <a:lstStyle/>
          <a:p>
            <a:pPr marL="0" indent="0">
              <a:buNone/>
            </a:pPr>
            <a:r>
              <a:rPr lang="en-US" sz="1500" b="1" dirty="0">
                <a:solidFill>
                  <a:schemeClr val="accent2"/>
                </a:solidFill>
              </a:rPr>
              <a:t>Our job: make a duplicate harmless.</a:t>
            </a:r>
            <a:endParaRPr lang="en-US" sz="15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The pattern in one idea</a:t>
            </a:r>
            <a:endParaRPr lang="en-US" sz="3200" dirty="0"/>
          </a:p>
        </p:txBody>
      </p:sp>
      <p:sp>
        <p:nvSpPr>
          <p:cNvPr id="3" name="Text 1"/>
          <p:cNvSpPr txBox="1"/>
          <p:nvPr/>
        </p:nvSpPr>
        <p:spPr>
          <a:xfrm>
            <a:off x="457200" y="4754880"/>
            <a:ext cx="2743200" cy="228600"/>
          </a:xfrm>
          <a:prstGeom prst="rect">
            <a:avLst/>
          </a:prstGeom>
          <a:noFill/>
          <a:ln/>
        </p:spPr>
        <p:txBody>
          <a:bodyPr wrap="square" lIns="0" tIns="0" rIns="0" bIns="0" rtlCol="0" anchor="t"/>
          <a:lstStyle/>
          <a:p>
            <a:pPr marL="0" indent="0">
              <a:buNone/>
            </a:pPr>
            <a:r>
              <a:rPr lang="en-US" sz="1000" dirty="0">
                <a:solidFill>
                  <a:schemeClr val="accent5"/>
                </a:solidFill>
              </a:rPr>
              <a:t>Presenter: Member 3</a:t>
            </a:r>
            <a:endParaRPr lang="en-US" sz="1000" dirty="0"/>
          </a:p>
        </p:txBody>
      </p:sp>
      <p:sp>
        <p:nvSpPr>
          <p:cNvPr id="5" name="Shape 2"/>
          <p:cNvSpPr/>
          <p:nvPr/>
        </p:nvSpPr>
        <p:spPr>
          <a:xfrm>
            <a:off x="548640" y="1188720"/>
            <a:ext cx="2377440" cy="1737360"/>
          </a:xfrm>
          <a:prstGeom prst="roundRect">
            <a:avLst>
              <a:gd name="adj" fmla="val 4211"/>
            </a:avLst>
          </a:prstGeom>
          <a:solidFill>
            <a:schemeClr val="bg2"/>
          </a:solidFill>
          <a:ln/>
        </p:spPr>
      </p:sp>
      <p:sp>
        <p:nvSpPr>
          <p:cNvPr id="6" name="Text 3"/>
          <p:cNvSpPr txBox="1"/>
          <p:nvPr/>
        </p:nvSpPr>
        <p:spPr>
          <a:xfrm>
            <a:off x="713232" y="1316736"/>
            <a:ext cx="2048256" cy="320040"/>
          </a:xfrm>
          <a:prstGeom prst="rect">
            <a:avLst/>
          </a:prstGeom>
          <a:noFill/>
          <a:ln/>
        </p:spPr>
        <p:txBody>
          <a:bodyPr wrap="square" lIns="0" tIns="0" rIns="0" bIns="0" rtlCol="0" anchor="t"/>
          <a:lstStyle/>
          <a:p>
            <a:pPr marL="0" indent="0">
              <a:buNone/>
            </a:pPr>
            <a:r>
              <a:rPr lang="en-US" sz="1500" b="1" dirty="0">
                <a:solidFill>
                  <a:schemeClr val="tx1"/>
                </a:solidFill>
              </a:rPr>
              <a:t>At-least-once</a:t>
            </a:r>
            <a:endParaRPr lang="en-US" sz="1500" dirty="0"/>
          </a:p>
        </p:txBody>
      </p:sp>
      <p:sp>
        <p:nvSpPr>
          <p:cNvPr id="7" name="Text 4"/>
          <p:cNvSpPr txBox="1"/>
          <p:nvPr/>
        </p:nvSpPr>
        <p:spPr>
          <a:xfrm>
            <a:off x="713232" y="1682496"/>
            <a:ext cx="2048256" cy="1097280"/>
          </a:xfrm>
          <a:prstGeom prst="rect">
            <a:avLst/>
          </a:prstGeom>
          <a:noFill/>
          <a:ln/>
        </p:spPr>
        <p:txBody>
          <a:bodyPr wrap="square" lIns="0" tIns="0" rIns="0" bIns="0" rtlCol="0" anchor="t"/>
          <a:lstStyle/>
          <a:p>
            <a:pPr marL="0" indent="0">
              <a:buNone/>
            </a:pPr>
            <a:r>
              <a:rPr lang="en-US" sz="1400" dirty="0">
                <a:solidFill>
                  <a:schemeClr val="tx1"/>
                </a:solidFill>
              </a:rPr>
              <a:t>Retry until acknowledged. Nothing is lost, but a message may arrive twice.</a:t>
            </a:r>
            <a:endParaRPr lang="en-US" sz="1400" dirty="0"/>
          </a:p>
        </p:txBody>
      </p:sp>
      <p:sp>
        <p:nvSpPr>
          <p:cNvPr id="8" name="Shape 5"/>
          <p:cNvSpPr/>
          <p:nvPr/>
        </p:nvSpPr>
        <p:spPr>
          <a:xfrm>
            <a:off x="3383280" y="1188720"/>
            <a:ext cx="2377440" cy="1737360"/>
          </a:xfrm>
          <a:prstGeom prst="roundRect">
            <a:avLst>
              <a:gd name="adj" fmla="val 4211"/>
            </a:avLst>
          </a:prstGeom>
          <a:solidFill>
            <a:schemeClr val="bg2"/>
          </a:solidFill>
          <a:ln/>
        </p:spPr>
      </p:sp>
      <p:sp>
        <p:nvSpPr>
          <p:cNvPr id="9" name="Text 6"/>
          <p:cNvSpPr txBox="1"/>
          <p:nvPr/>
        </p:nvSpPr>
        <p:spPr>
          <a:xfrm>
            <a:off x="3547872" y="1316736"/>
            <a:ext cx="2048256" cy="320040"/>
          </a:xfrm>
          <a:prstGeom prst="rect">
            <a:avLst/>
          </a:prstGeom>
          <a:noFill/>
          <a:ln/>
        </p:spPr>
        <p:txBody>
          <a:bodyPr wrap="square" lIns="0" tIns="0" rIns="0" bIns="0" rtlCol="0" anchor="t"/>
          <a:lstStyle/>
          <a:p>
            <a:pPr marL="0" indent="0">
              <a:buNone/>
            </a:pPr>
            <a:r>
              <a:rPr lang="en-US" sz="1500" b="1" dirty="0">
                <a:solidFill>
                  <a:schemeClr val="tx1"/>
                </a:solidFill>
              </a:rPr>
              <a:t>Idempotent receiver</a:t>
            </a:r>
            <a:endParaRPr lang="en-US" sz="1500" dirty="0"/>
          </a:p>
        </p:txBody>
      </p:sp>
      <p:sp>
        <p:nvSpPr>
          <p:cNvPr id="10" name="Text 7"/>
          <p:cNvSpPr txBox="1"/>
          <p:nvPr/>
        </p:nvSpPr>
        <p:spPr>
          <a:xfrm>
            <a:off x="3547872" y="1682496"/>
            <a:ext cx="2048256" cy="1097280"/>
          </a:xfrm>
          <a:prstGeom prst="rect">
            <a:avLst/>
          </a:prstGeom>
          <a:noFill/>
          <a:ln/>
        </p:spPr>
        <p:txBody>
          <a:bodyPr wrap="square" lIns="0" tIns="0" rIns="0" bIns="0" rtlCol="0" anchor="t"/>
          <a:lstStyle/>
          <a:p>
            <a:pPr marL="0" indent="0">
              <a:buNone/>
            </a:pPr>
            <a:r>
              <a:rPr lang="en-US" sz="1400" dirty="0">
                <a:solidFill>
                  <a:schemeClr val="tx1"/>
                </a:solidFill>
              </a:rPr>
              <a:t>A stable key names the intention. A repeat gets the saved result.</a:t>
            </a:r>
            <a:endParaRPr lang="en-US" sz="1400" dirty="0"/>
          </a:p>
        </p:txBody>
      </p:sp>
      <p:sp>
        <p:nvSpPr>
          <p:cNvPr id="11" name="Shape 8"/>
          <p:cNvSpPr/>
          <p:nvPr/>
        </p:nvSpPr>
        <p:spPr>
          <a:xfrm>
            <a:off x="6217920" y="1188720"/>
            <a:ext cx="2377440" cy="1737360"/>
          </a:xfrm>
          <a:prstGeom prst="roundRect">
            <a:avLst>
              <a:gd name="adj" fmla="val 4211"/>
            </a:avLst>
          </a:prstGeom>
          <a:solidFill>
            <a:schemeClr val="accent1"/>
          </a:solidFill>
          <a:ln/>
        </p:spPr>
      </p:sp>
      <p:sp>
        <p:nvSpPr>
          <p:cNvPr id="12" name="Text 9"/>
          <p:cNvSpPr txBox="1"/>
          <p:nvPr/>
        </p:nvSpPr>
        <p:spPr>
          <a:xfrm>
            <a:off x="6382512" y="1316736"/>
            <a:ext cx="2048256" cy="320040"/>
          </a:xfrm>
          <a:prstGeom prst="rect">
            <a:avLst/>
          </a:prstGeom>
          <a:noFill/>
          <a:ln/>
        </p:spPr>
        <p:txBody>
          <a:bodyPr wrap="square" lIns="0" tIns="0" rIns="0" bIns="0" rtlCol="0" anchor="t"/>
          <a:lstStyle/>
          <a:p>
            <a:pPr marL="0" indent="0">
              <a:buNone/>
            </a:pPr>
            <a:r>
              <a:rPr lang="en-US" sz="1500" b="1" dirty="0">
                <a:solidFill>
                  <a:schemeClr val="bg1"/>
                </a:solidFill>
              </a:rPr>
              <a:t>Effectively-once</a:t>
            </a:r>
            <a:endParaRPr lang="en-US" sz="1500" dirty="0"/>
          </a:p>
        </p:txBody>
      </p:sp>
      <p:sp>
        <p:nvSpPr>
          <p:cNvPr id="13" name="Text 10"/>
          <p:cNvSpPr txBox="1"/>
          <p:nvPr/>
        </p:nvSpPr>
        <p:spPr>
          <a:xfrm>
            <a:off x="6382512" y="1682496"/>
            <a:ext cx="2048256" cy="1097280"/>
          </a:xfrm>
          <a:prstGeom prst="rect">
            <a:avLst/>
          </a:prstGeom>
          <a:noFill/>
          <a:ln/>
        </p:spPr>
        <p:txBody>
          <a:bodyPr wrap="square" lIns="0" tIns="0" rIns="0" bIns="0" rtlCol="0" anchor="t"/>
          <a:lstStyle/>
          <a:p>
            <a:pPr marL="0" indent="0">
              <a:buNone/>
            </a:pPr>
            <a:r>
              <a:rPr lang="en-US" sz="1400" dirty="0">
                <a:solidFill>
                  <a:schemeClr val="bg1"/>
                </a:solidFill>
              </a:rPr>
              <a:t>Many arrivals, but the effect happens only once.</a:t>
            </a:r>
            <a:endParaRPr lang="en-US" sz="1400" dirty="0"/>
          </a:p>
        </p:txBody>
      </p:sp>
      <p:sp>
        <p:nvSpPr>
          <p:cNvPr id="14" name="Text 11"/>
          <p:cNvSpPr txBox="1"/>
          <p:nvPr/>
        </p:nvSpPr>
        <p:spPr>
          <a:xfrm>
            <a:off x="2926080" y="1737360"/>
            <a:ext cx="457200" cy="640080"/>
          </a:xfrm>
          <a:prstGeom prst="rect">
            <a:avLst/>
          </a:prstGeom>
          <a:noFill/>
          <a:ln/>
        </p:spPr>
        <p:txBody>
          <a:bodyPr wrap="square" lIns="0" tIns="0" rIns="0" bIns="0" rtlCol="0" anchor="t"/>
          <a:lstStyle/>
          <a:p>
            <a:pPr marL="0" indent="0" algn="ctr">
              <a:buNone/>
            </a:pPr>
            <a:r>
              <a:rPr lang="en-US" sz="3200" b="1" dirty="0">
                <a:solidFill>
                  <a:schemeClr val="accent5"/>
                </a:solidFill>
              </a:rPr>
              <a:t>+</a:t>
            </a:r>
            <a:endParaRPr lang="en-US" sz="3200" dirty="0"/>
          </a:p>
        </p:txBody>
      </p:sp>
      <p:sp>
        <p:nvSpPr>
          <p:cNvPr id="15" name="Text 12"/>
          <p:cNvSpPr txBox="1"/>
          <p:nvPr/>
        </p:nvSpPr>
        <p:spPr>
          <a:xfrm>
            <a:off x="5760720" y="1737360"/>
            <a:ext cx="457200" cy="640080"/>
          </a:xfrm>
          <a:prstGeom prst="rect">
            <a:avLst/>
          </a:prstGeom>
          <a:noFill/>
          <a:ln/>
        </p:spPr>
        <p:txBody>
          <a:bodyPr wrap="square" lIns="0" tIns="0" rIns="0" bIns="0" rtlCol="0" anchor="t"/>
          <a:lstStyle/>
          <a:p>
            <a:pPr marL="0" indent="0" algn="ctr">
              <a:buNone/>
            </a:pPr>
            <a:r>
              <a:rPr lang="en-US" sz="3200" b="1" dirty="0">
                <a:solidFill>
                  <a:schemeClr val="accent5"/>
                </a:solidFill>
              </a:rPr>
              <a:t>=</a:t>
            </a:r>
            <a:endParaRPr lang="en-US" sz="3200" dirty="0"/>
          </a:p>
        </p:txBody>
      </p:sp>
      <p:sp>
        <p:nvSpPr>
          <p:cNvPr id="16" name="Shape 13"/>
          <p:cNvSpPr/>
          <p:nvPr/>
        </p:nvSpPr>
        <p:spPr>
          <a:xfrm>
            <a:off x="548640" y="3200400"/>
            <a:ext cx="3931920" cy="1234440"/>
          </a:xfrm>
          <a:prstGeom prst="roundRect">
            <a:avLst>
              <a:gd name="adj" fmla="val 5926"/>
            </a:avLst>
          </a:prstGeom>
          <a:solidFill>
            <a:schemeClr val="bg2"/>
          </a:solidFill>
          <a:ln/>
        </p:spPr>
      </p:sp>
      <p:sp>
        <p:nvSpPr>
          <p:cNvPr id="17" name="Text 14"/>
          <p:cNvSpPr txBox="1"/>
          <p:nvPr/>
        </p:nvSpPr>
        <p:spPr>
          <a:xfrm>
            <a:off x="713232" y="3328416"/>
            <a:ext cx="3602736" cy="320040"/>
          </a:xfrm>
          <a:prstGeom prst="rect">
            <a:avLst/>
          </a:prstGeom>
          <a:noFill/>
          <a:ln/>
        </p:spPr>
        <p:txBody>
          <a:bodyPr wrap="square" lIns="0" tIns="0" rIns="0" bIns="0" rtlCol="0" anchor="t"/>
          <a:lstStyle/>
          <a:p>
            <a:pPr marL="0" indent="0">
              <a:buNone/>
            </a:pPr>
            <a:r>
              <a:rPr lang="en-US" sz="1500" b="1" dirty="0">
                <a:solidFill>
                  <a:schemeClr val="tx1"/>
                </a:solidFill>
              </a:rPr>
              <a:t>Like a lift button</a:t>
            </a:r>
            <a:endParaRPr lang="en-US" sz="1500" dirty="0"/>
          </a:p>
        </p:txBody>
      </p:sp>
      <p:sp>
        <p:nvSpPr>
          <p:cNvPr id="18" name="Text 15"/>
          <p:cNvSpPr txBox="1"/>
          <p:nvPr/>
        </p:nvSpPr>
        <p:spPr>
          <a:xfrm>
            <a:off x="713232" y="3694176"/>
            <a:ext cx="3602736" cy="594360"/>
          </a:xfrm>
          <a:prstGeom prst="rect">
            <a:avLst/>
          </a:prstGeom>
          <a:noFill/>
          <a:ln/>
        </p:spPr>
        <p:txBody>
          <a:bodyPr wrap="square" lIns="0" tIns="0" rIns="0" bIns="0" rtlCol="0" anchor="t"/>
          <a:lstStyle/>
          <a:p>
            <a:pPr marL="0" indent="0">
              <a:buNone/>
            </a:pPr>
            <a:r>
              <a:rPr lang="en-US" sz="1400" dirty="0">
                <a:solidFill>
                  <a:schemeClr val="tx1"/>
                </a:solidFill>
              </a:rPr>
              <a:t>Press it five times and one lift still comes.</a:t>
            </a:r>
            <a:endParaRPr lang="en-US" sz="1400" dirty="0"/>
          </a:p>
        </p:txBody>
      </p:sp>
      <p:sp>
        <p:nvSpPr>
          <p:cNvPr id="19" name="Shape 16"/>
          <p:cNvSpPr/>
          <p:nvPr/>
        </p:nvSpPr>
        <p:spPr>
          <a:xfrm>
            <a:off x="4663440" y="3200400"/>
            <a:ext cx="3931920" cy="1234440"/>
          </a:xfrm>
          <a:prstGeom prst="roundRect">
            <a:avLst>
              <a:gd name="adj" fmla="val 5926"/>
            </a:avLst>
          </a:prstGeom>
          <a:solidFill>
            <a:schemeClr val="accent2"/>
          </a:solidFill>
          <a:ln/>
        </p:spPr>
      </p:sp>
      <p:sp>
        <p:nvSpPr>
          <p:cNvPr id="20" name="Text 17"/>
          <p:cNvSpPr txBox="1"/>
          <p:nvPr/>
        </p:nvSpPr>
        <p:spPr>
          <a:xfrm>
            <a:off x="4828032" y="3328416"/>
            <a:ext cx="3602736" cy="320040"/>
          </a:xfrm>
          <a:prstGeom prst="rect">
            <a:avLst/>
          </a:prstGeom>
          <a:noFill/>
          <a:ln/>
        </p:spPr>
        <p:txBody>
          <a:bodyPr wrap="square" lIns="0" tIns="0" rIns="0" bIns="0" rtlCol="0" anchor="t"/>
          <a:lstStyle/>
          <a:p>
            <a:pPr marL="0" indent="0">
              <a:buNone/>
            </a:pPr>
            <a:r>
              <a:rPr lang="en-US" sz="1500" b="1" dirty="0">
                <a:solidFill>
                  <a:schemeClr val="tx1"/>
                </a:solidFill>
              </a:rPr>
              <a:t>Why "ish"?</a:t>
            </a:r>
            <a:endParaRPr lang="en-US" sz="1500" dirty="0"/>
          </a:p>
        </p:txBody>
      </p:sp>
      <p:sp>
        <p:nvSpPr>
          <p:cNvPr id="21" name="Text 18"/>
          <p:cNvSpPr txBox="1"/>
          <p:nvPr/>
        </p:nvSpPr>
        <p:spPr>
          <a:xfrm>
            <a:off x="4828032" y="3694176"/>
            <a:ext cx="3602736" cy="594360"/>
          </a:xfrm>
          <a:prstGeom prst="rect">
            <a:avLst/>
          </a:prstGeom>
          <a:noFill/>
          <a:ln/>
        </p:spPr>
        <p:txBody>
          <a:bodyPr wrap="square" lIns="0" tIns="0" rIns="0" bIns="0" rtlCol="0" anchor="t"/>
          <a:lstStyle/>
          <a:p>
            <a:pPr marL="0" indent="0">
              <a:buNone/>
            </a:pPr>
            <a:r>
              <a:rPr lang="en-US" sz="1400" dirty="0">
                <a:solidFill>
                  <a:schemeClr val="tx1"/>
                </a:solidFill>
              </a:rPr>
              <a:t>Perfect exactly-once is impossible over a network. We say it honestly.</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How we built it: IdempotentWallet</a:t>
            </a:r>
            <a:endParaRPr lang="en-US" sz="3200" dirty="0"/>
          </a:p>
        </p:txBody>
      </p:sp>
      <p:sp>
        <p:nvSpPr>
          <p:cNvPr id="3" name="Text 1"/>
          <p:cNvSpPr txBox="1"/>
          <p:nvPr/>
        </p:nvSpPr>
        <p:spPr>
          <a:xfrm>
            <a:off x="457200" y="4754880"/>
            <a:ext cx="2743200" cy="228600"/>
          </a:xfrm>
          <a:prstGeom prst="rect">
            <a:avLst/>
          </a:prstGeom>
          <a:noFill/>
          <a:ln/>
        </p:spPr>
        <p:txBody>
          <a:bodyPr wrap="square" lIns="0" tIns="0" rIns="0" bIns="0" rtlCol="0" anchor="t"/>
          <a:lstStyle/>
          <a:p>
            <a:pPr marL="0" indent="0">
              <a:buNone/>
            </a:pPr>
            <a:r>
              <a:rPr lang="en-US" sz="1000" dirty="0">
                <a:solidFill>
                  <a:schemeClr val="accent5"/>
                </a:solidFill>
              </a:rPr>
              <a:t>Presenter: Member 4</a:t>
            </a:r>
            <a:endParaRPr lang="en-US" sz="1000" dirty="0"/>
          </a:p>
        </p:txBody>
      </p:sp>
      <p:sp>
        <p:nvSpPr>
          <p:cNvPr id="5" name="Shape 2"/>
          <p:cNvSpPr/>
          <p:nvPr/>
        </p:nvSpPr>
        <p:spPr>
          <a:xfrm>
            <a:off x="502920" y="1097280"/>
            <a:ext cx="1508760" cy="1005840"/>
          </a:xfrm>
          <a:prstGeom prst="roundRect">
            <a:avLst>
              <a:gd name="adj" fmla="val 7273"/>
            </a:avLst>
          </a:prstGeom>
          <a:solidFill>
            <a:schemeClr val="bg2"/>
          </a:solidFill>
          <a:ln/>
        </p:spPr>
      </p:sp>
      <p:sp>
        <p:nvSpPr>
          <p:cNvPr id="6" name="Text 3"/>
          <p:cNvSpPr txBox="1"/>
          <p:nvPr/>
        </p:nvSpPr>
        <p:spPr>
          <a:xfrm>
            <a:off x="502920" y="1170432"/>
            <a:ext cx="1508760" cy="502920"/>
          </a:xfrm>
          <a:prstGeom prst="rect">
            <a:avLst/>
          </a:prstGeom>
          <a:noFill/>
          <a:ln/>
        </p:spPr>
        <p:txBody>
          <a:bodyPr wrap="square" lIns="0" tIns="0" rIns="0" bIns="0" rtlCol="0" anchor="t"/>
          <a:lstStyle/>
          <a:p>
            <a:pPr marL="0" indent="0" algn="ctr">
              <a:buNone/>
            </a:pPr>
            <a:r>
              <a:rPr lang="en-US" sz="3200" b="1" dirty="0">
                <a:solidFill>
                  <a:schemeClr val="accent1"/>
                </a:solidFill>
              </a:rPr>
              <a:t>1</a:t>
            </a:r>
            <a:endParaRPr lang="en-US" sz="3200" dirty="0"/>
          </a:p>
        </p:txBody>
      </p:sp>
      <p:sp>
        <p:nvSpPr>
          <p:cNvPr id="7" name="Text 4"/>
          <p:cNvSpPr txBox="1"/>
          <p:nvPr/>
        </p:nvSpPr>
        <p:spPr>
          <a:xfrm>
            <a:off x="502920" y="1691640"/>
            <a:ext cx="1508760" cy="320040"/>
          </a:xfrm>
          <a:prstGeom prst="rect">
            <a:avLst/>
          </a:prstGeom>
          <a:noFill/>
          <a:ln/>
        </p:spPr>
        <p:txBody>
          <a:bodyPr wrap="square" lIns="0" tIns="0" rIns="0" bIns="0" rtlCol="0" anchor="t"/>
          <a:lstStyle/>
          <a:p>
            <a:pPr marL="0" indent="0" algn="ctr">
              <a:buNone/>
            </a:pPr>
            <a:r>
              <a:rPr lang="en-US" sz="1200" dirty="0">
                <a:solidFill>
                  <a:schemeClr val="tx1"/>
                </a:solidFill>
              </a:rPr>
              <a:t>service</a:t>
            </a:r>
            <a:endParaRPr lang="en-US" sz="1200" dirty="0"/>
          </a:p>
        </p:txBody>
      </p:sp>
      <p:sp>
        <p:nvSpPr>
          <p:cNvPr id="8" name="Shape 5"/>
          <p:cNvSpPr/>
          <p:nvPr/>
        </p:nvSpPr>
        <p:spPr>
          <a:xfrm>
            <a:off x="2148840" y="1097280"/>
            <a:ext cx="1508760" cy="1005840"/>
          </a:xfrm>
          <a:prstGeom prst="roundRect">
            <a:avLst>
              <a:gd name="adj" fmla="val 7273"/>
            </a:avLst>
          </a:prstGeom>
          <a:solidFill>
            <a:schemeClr val="bg2"/>
          </a:solidFill>
          <a:ln/>
        </p:spPr>
      </p:sp>
      <p:sp>
        <p:nvSpPr>
          <p:cNvPr id="9" name="Text 6"/>
          <p:cNvSpPr txBox="1"/>
          <p:nvPr/>
        </p:nvSpPr>
        <p:spPr>
          <a:xfrm>
            <a:off x="2148840" y="1170432"/>
            <a:ext cx="1508760" cy="502920"/>
          </a:xfrm>
          <a:prstGeom prst="rect">
            <a:avLst/>
          </a:prstGeom>
          <a:noFill/>
          <a:ln/>
        </p:spPr>
        <p:txBody>
          <a:bodyPr wrap="square" lIns="0" tIns="0" rIns="0" bIns="0" rtlCol="0" anchor="t"/>
          <a:lstStyle/>
          <a:p>
            <a:pPr marL="0" indent="0" algn="ctr">
              <a:buNone/>
            </a:pPr>
            <a:r>
              <a:rPr lang="en-US" sz="3200" b="1" dirty="0">
                <a:solidFill>
                  <a:schemeClr val="accent1"/>
                </a:solidFill>
              </a:rPr>
              <a:t>1</a:t>
            </a:r>
            <a:endParaRPr lang="en-US" sz="3200" dirty="0"/>
          </a:p>
        </p:txBody>
      </p:sp>
      <p:sp>
        <p:nvSpPr>
          <p:cNvPr id="10" name="Text 7"/>
          <p:cNvSpPr txBox="1"/>
          <p:nvPr/>
        </p:nvSpPr>
        <p:spPr>
          <a:xfrm>
            <a:off x="2148840" y="1691640"/>
            <a:ext cx="1508760" cy="320040"/>
          </a:xfrm>
          <a:prstGeom prst="rect">
            <a:avLst/>
          </a:prstGeom>
          <a:noFill/>
          <a:ln/>
        </p:spPr>
        <p:txBody>
          <a:bodyPr wrap="square" lIns="0" tIns="0" rIns="0" bIns="0" rtlCol="0" anchor="t"/>
          <a:lstStyle/>
          <a:p>
            <a:pPr marL="0" indent="0" algn="ctr">
              <a:buNone/>
            </a:pPr>
            <a:r>
              <a:rPr lang="en-US" sz="1200" dirty="0">
                <a:solidFill>
                  <a:schemeClr val="tx1"/>
                </a:solidFill>
              </a:rPr>
              <a:t>database</a:t>
            </a:r>
            <a:endParaRPr lang="en-US" sz="1200" dirty="0"/>
          </a:p>
        </p:txBody>
      </p:sp>
      <p:sp>
        <p:nvSpPr>
          <p:cNvPr id="11" name="Shape 8"/>
          <p:cNvSpPr/>
          <p:nvPr/>
        </p:nvSpPr>
        <p:spPr>
          <a:xfrm>
            <a:off x="3794760" y="1097280"/>
            <a:ext cx="1508760" cy="1005840"/>
          </a:xfrm>
          <a:prstGeom prst="roundRect">
            <a:avLst>
              <a:gd name="adj" fmla="val 7273"/>
            </a:avLst>
          </a:prstGeom>
          <a:solidFill>
            <a:schemeClr val="bg2"/>
          </a:solidFill>
          <a:ln/>
        </p:spPr>
      </p:sp>
      <p:sp>
        <p:nvSpPr>
          <p:cNvPr id="12" name="Text 9"/>
          <p:cNvSpPr txBox="1"/>
          <p:nvPr/>
        </p:nvSpPr>
        <p:spPr>
          <a:xfrm>
            <a:off x="3794760" y="1170432"/>
            <a:ext cx="1508760" cy="502920"/>
          </a:xfrm>
          <a:prstGeom prst="rect">
            <a:avLst/>
          </a:prstGeom>
          <a:noFill/>
          <a:ln/>
        </p:spPr>
        <p:txBody>
          <a:bodyPr wrap="square" lIns="0" tIns="0" rIns="0" bIns="0" rtlCol="0" anchor="t"/>
          <a:lstStyle/>
          <a:p>
            <a:pPr marL="0" indent="0" algn="ctr">
              <a:buNone/>
            </a:pPr>
            <a:r>
              <a:rPr lang="en-US" sz="3200" b="1" dirty="0">
                <a:solidFill>
                  <a:schemeClr val="accent1"/>
                </a:solidFill>
              </a:rPr>
              <a:t>1</a:t>
            </a:r>
            <a:endParaRPr lang="en-US" sz="3200" dirty="0"/>
          </a:p>
        </p:txBody>
      </p:sp>
      <p:sp>
        <p:nvSpPr>
          <p:cNvPr id="13" name="Text 10"/>
          <p:cNvSpPr txBox="1"/>
          <p:nvPr/>
        </p:nvSpPr>
        <p:spPr>
          <a:xfrm>
            <a:off x="3794760" y="1691640"/>
            <a:ext cx="1508760" cy="320040"/>
          </a:xfrm>
          <a:prstGeom prst="rect">
            <a:avLst/>
          </a:prstGeom>
          <a:noFill/>
          <a:ln/>
        </p:spPr>
        <p:txBody>
          <a:bodyPr wrap="square" lIns="0" tIns="0" rIns="0" bIns="0" rtlCol="0" anchor="t"/>
          <a:lstStyle/>
          <a:p>
            <a:pPr marL="0" indent="0" algn="ctr">
              <a:buNone/>
            </a:pPr>
            <a:r>
              <a:rPr lang="en-US" sz="1200" dirty="0">
                <a:solidFill>
                  <a:schemeClr val="tx1"/>
                </a:solidFill>
              </a:rPr>
              <a:t>broker</a:t>
            </a:r>
            <a:endParaRPr lang="en-US" sz="1200" dirty="0"/>
          </a:p>
        </p:txBody>
      </p:sp>
      <p:sp>
        <p:nvSpPr>
          <p:cNvPr id="14" name="Shape 11"/>
          <p:cNvSpPr/>
          <p:nvPr/>
        </p:nvSpPr>
        <p:spPr>
          <a:xfrm>
            <a:off x="5440680" y="1097280"/>
            <a:ext cx="1508760" cy="1005840"/>
          </a:xfrm>
          <a:prstGeom prst="roundRect">
            <a:avLst>
              <a:gd name="adj" fmla="val 7273"/>
            </a:avLst>
          </a:prstGeom>
          <a:solidFill>
            <a:schemeClr val="bg2"/>
          </a:solidFill>
          <a:ln/>
        </p:spPr>
      </p:sp>
      <p:sp>
        <p:nvSpPr>
          <p:cNvPr id="15" name="Text 12"/>
          <p:cNvSpPr txBox="1"/>
          <p:nvPr/>
        </p:nvSpPr>
        <p:spPr>
          <a:xfrm>
            <a:off x="5440680" y="1170432"/>
            <a:ext cx="1508760" cy="502920"/>
          </a:xfrm>
          <a:prstGeom prst="rect">
            <a:avLst/>
          </a:prstGeom>
          <a:noFill/>
          <a:ln/>
        </p:spPr>
        <p:txBody>
          <a:bodyPr wrap="square" lIns="0" tIns="0" rIns="0" bIns="0" rtlCol="0" anchor="t"/>
          <a:lstStyle/>
          <a:p>
            <a:pPr marL="0" indent="0" algn="ctr">
              <a:buNone/>
            </a:pPr>
            <a:r>
              <a:rPr lang="en-US" sz="3200" b="1" dirty="0">
                <a:solidFill>
                  <a:schemeClr val="accent1"/>
                </a:solidFill>
              </a:rPr>
              <a:t>2</a:t>
            </a:r>
            <a:endParaRPr lang="en-US" sz="3200" dirty="0"/>
          </a:p>
        </p:txBody>
      </p:sp>
      <p:sp>
        <p:nvSpPr>
          <p:cNvPr id="16" name="Text 13"/>
          <p:cNvSpPr txBox="1"/>
          <p:nvPr/>
        </p:nvSpPr>
        <p:spPr>
          <a:xfrm>
            <a:off x="5440680" y="1691640"/>
            <a:ext cx="1508760" cy="320040"/>
          </a:xfrm>
          <a:prstGeom prst="rect">
            <a:avLst/>
          </a:prstGeom>
          <a:noFill/>
          <a:ln/>
        </p:spPr>
        <p:txBody>
          <a:bodyPr wrap="square" lIns="0" tIns="0" rIns="0" bIns="0" rtlCol="0" anchor="t"/>
          <a:lstStyle/>
          <a:p>
            <a:pPr marL="0" indent="0" algn="ctr">
              <a:buNone/>
            </a:pPr>
            <a:r>
              <a:rPr lang="en-US" sz="1200" dirty="0">
                <a:solidFill>
                  <a:schemeClr val="tx1"/>
                </a:solidFill>
              </a:rPr>
              <a:t>idempotency layers</a:t>
            </a:r>
            <a:endParaRPr lang="en-US" sz="1200" dirty="0"/>
          </a:p>
        </p:txBody>
      </p:sp>
      <p:sp>
        <p:nvSpPr>
          <p:cNvPr id="17" name="Shape 14"/>
          <p:cNvSpPr/>
          <p:nvPr/>
        </p:nvSpPr>
        <p:spPr>
          <a:xfrm>
            <a:off x="7086600" y="1097280"/>
            <a:ext cx="1508760" cy="1005840"/>
          </a:xfrm>
          <a:prstGeom prst="roundRect">
            <a:avLst>
              <a:gd name="adj" fmla="val 7273"/>
            </a:avLst>
          </a:prstGeom>
          <a:solidFill>
            <a:schemeClr val="bg2"/>
          </a:solidFill>
          <a:ln/>
        </p:spPr>
      </p:sp>
      <p:sp>
        <p:nvSpPr>
          <p:cNvPr id="18" name="Text 15"/>
          <p:cNvSpPr txBox="1"/>
          <p:nvPr/>
        </p:nvSpPr>
        <p:spPr>
          <a:xfrm>
            <a:off x="7086600" y="1170432"/>
            <a:ext cx="1508760" cy="502920"/>
          </a:xfrm>
          <a:prstGeom prst="rect">
            <a:avLst/>
          </a:prstGeom>
          <a:noFill/>
          <a:ln/>
        </p:spPr>
        <p:txBody>
          <a:bodyPr wrap="square" lIns="0" tIns="0" rIns="0" bIns="0" rtlCol="0" anchor="t"/>
          <a:lstStyle/>
          <a:p>
            <a:pPr marL="0" indent="0" algn="ctr">
              <a:buNone/>
            </a:pPr>
            <a:r>
              <a:rPr lang="en-US" sz="3200" b="1" dirty="0">
                <a:solidFill>
                  <a:schemeClr val="accent1"/>
                </a:solidFill>
              </a:rPr>
              <a:t>6</a:t>
            </a:r>
            <a:endParaRPr lang="en-US" sz="3200" dirty="0"/>
          </a:p>
        </p:txBody>
      </p:sp>
      <p:sp>
        <p:nvSpPr>
          <p:cNvPr id="19" name="Text 16"/>
          <p:cNvSpPr txBox="1"/>
          <p:nvPr/>
        </p:nvSpPr>
        <p:spPr>
          <a:xfrm>
            <a:off x="7086600" y="1691640"/>
            <a:ext cx="1508760" cy="320040"/>
          </a:xfrm>
          <a:prstGeom prst="rect">
            <a:avLst/>
          </a:prstGeom>
          <a:noFill/>
          <a:ln/>
        </p:spPr>
        <p:txBody>
          <a:bodyPr wrap="square" lIns="0" tIns="0" rIns="0" bIns="0" rtlCol="0" anchor="t"/>
          <a:lstStyle/>
          <a:p>
            <a:pPr marL="0" indent="0" algn="ctr">
              <a:buNone/>
            </a:pPr>
            <a:r>
              <a:rPr lang="en-US" sz="1200" dirty="0">
                <a:solidFill>
                  <a:schemeClr val="tx1"/>
                </a:solidFill>
              </a:rPr>
              <a:t>demo scenarios</a:t>
            </a:r>
            <a:endParaRPr lang="en-US" sz="1200" dirty="0"/>
          </a:p>
        </p:txBody>
      </p:sp>
      <p:sp>
        <p:nvSpPr>
          <p:cNvPr id="20" name="Shape 17"/>
          <p:cNvSpPr/>
          <p:nvPr/>
        </p:nvSpPr>
        <p:spPr>
          <a:xfrm>
            <a:off x="548640" y="2423160"/>
            <a:ext cx="1280160" cy="914400"/>
          </a:xfrm>
          <a:prstGeom prst="roundRect">
            <a:avLst>
              <a:gd name="adj" fmla="val 8000"/>
            </a:avLst>
          </a:prstGeom>
          <a:solidFill>
            <a:schemeClr val="tx2"/>
          </a:solidFill>
          <a:ln/>
        </p:spPr>
      </p:sp>
      <p:sp>
        <p:nvSpPr>
          <p:cNvPr id="21" name="Text 18"/>
          <p:cNvSpPr txBox="1"/>
          <p:nvPr/>
        </p:nvSpPr>
        <p:spPr>
          <a:xfrm>
            <a:off x="548640" y="2560320"/>
            <a:ext cx="1280160" cy="320040"/>
          </a:xfrm>
          <a:prstGeom prst="rect">
            <a:avLst/>
          </a:prstGeom>
          <a:noFill/>
          <a:ln/>
        </p:spPr>
        <p:txBody>
          <a:bodyPr wrap="square" lIns="0" tIns="0" rIns="0" bIns="0" rtlCol="0" anchor="t"/>
          <a:lstStyle/>
          <a:p>
            <a:pPr marL="0" indent="0" algn="ctr">
              <a:buNone/>
            </a:pPr>
            <a:r>
              <a:rPr lang="en-US" sz="1500" b="1" dirty="0">
                <a:solidFill>
                  <a:schemeClr val="bg1"/>
                </a:solidFill>
              </a:rPr>
              <a:t>Client</a:t>
            </a:r>
            <a:endParaRPr lang="en-US" sz="1500" dirty="0"/>
          </a:p>
        </p:txBody>
      </p:sp>
      <p:sp>
        <p:nvSpPr>
          <p:cNvPr id="22" name="Text 19"/>
          <p:cNvSpPr txBox="1"/>
          <p:nvPr/>
        </p:nvSpPr>
        <p:spPr>
          <a:xfrm>
            <a:off x="548640" y="2898648"/>
            <a:ext cx="1280160" cy="365760"/>
          </a:xfrm>
          <a:prstGeom prst="rect">
            <a:avLst/>
          </a:prstGeom>
          <a:noFill/>
          <a:ln/>
        </p:spPr>
        <p:txBody>
          <a:bodyPr wrap="square" lIns="0" tIns="0" rIns="0" bIns="0" rtlCol="0" anchor="t"/>
          <a:lstStyle/>
          <a:p>
            <a:pPr marL="0" indent="0" algn="ctr">
              <a:buNone/>
            </a:pPr>
            <a:r>
              <a:rPr lang="en-US" sz="1200" dirty="0">
                <a:solidFill>
                  <a:schemeClr val="bg1"/>
                </a:solidFill>
              </a:rPr>
              <a:t>REST calls</a:t>
            </a:r>
            <a:endParaRPr lang="en-US" sz="1200" dirty="0"/>
          </a:p>
        </p:txBody>
      </p:sp>
      <p:sp>
        <p:nvSpPr>
          <p:cNvPr id="23" name="Shape 20"/>
          <p:cNvSpPr/>
          <p:nvPr/>
        </p:nvSpPr>
        <p:spPr>
          <a:xfrm>
            <a:off x="2194560" y="2423160"/>
            <a:ext cx="2011680" cy="914400"/>
          </a:xfrm>
          <a:prstGeom prst="roundRect">
            <a:avLst>
              <a:gd name="adj" fmla="val 8000"/>
            </a:avLst>
          </a:prstGeom>
          <a:solidFill>
            <a:schemeClr val="accent1"/>
          </a:solidFill>
          <a:ln/>
        </p:spPr>
      </p:sp>
      <p:sp>
        <p:nvSpPr>
          <p:cNvPr id="24" name="Text 21"/>
          <p:cNvSpPr txBox="1"/>
          <p:nvPr/>
        </p:nvSpPr>
        <p:spPr>
          <a:xfrm>
            <a:off x="2194560" y="2560320"/>
            <a:ext cx="2011680" cy="320040"/>
          </a:xfrm>
          <a:prstGeom prst="rect">
            <a:avLst/>
          </a:prstGeom>
          <a:noFill/>
          <a:ln/>
        </p:spPr>
        <p:txBody>
          <a:bodyPr wrap="square" lIns="0" tIns="0" rIns="0" bIns="0" rtlCol="0" anchor="t"/>
          <a:lstStyle/>
          <a:p>
            <a:pPr marL="0" indent="0" algn="ctr">
              <a:buNone/>
            </a:pPr>
            <a:r>
              <a:rPr lang="en-US" sz="1500" b="1" dirty="0">
                <a:solidFill>
                  <a:schemeClr val="bg1"/>
                </a:solidFill>
              </a:rPr>
              <a:t>wallet-service</a:t>
            </a:r>
            <a:endParaRPr lang="en-US" sz="1500" dirty="0"/>
          </a:p>
        </p:txBody>
      </p:sp>
      <p:sp>
        <p:nvSpPr>
          <p:cNvPr id="25" name="Text 22"/>
          <p:cNvSpPr txBox="1"/>
          <p:nvPr/>
        </p:nvSpPr>
        <p:spPr>
          <a:xfrm>
            <a:off x="2194560" y="2898648"/>
            <a:ext cx="2011680" cy="365760"/>
          </a:xfrm>
          <a:prstGeom prst="rect">
            <a:avLst/>
          </a:prstGeom>
          <a:noFill/>
          <a:ln/>
        </p:spPr>
        <p:txBody>
          <a:bodyPr wrap="square" lIns="0" tIns="0" rIns="0" bIns="0" rtlCol="0" anchor="t"/>
          <a:lstStyle/>
          <a:p>
            <a:pPr marL="0" indent="0" algn="ctr">
              <a:buNone/>
            </a:pPr>
            <a:r>
              <a:rPr lang="en-US" sz="1200" dirty="0">
                <a:solidFill>
                  <a:schemeClr val="bg1"/>
                </a:solidFill>
              </a:rPr>
              <a:t>port 8080</a:t>
            </a:r>
            <a:endParaRPr lang="en-US" sz="1200" dirty="0"/>
          </a:p>
        </p:txBody>
      </p:sp>
      <p:sp>
        <p:nvSpPr>
          <p:cNvPr id="26" name="Shape 23"/>
          <p:cNvSpPr/>
          <p:nvPr/>
        </p:nvSpPr>
        <p:spPr>
          <a:xfrm>
            <a:off x="4572000" y="2423160"/>
            <a:ext cx="1280160" cy="914400"/>
          </a:xfrm>
          <a:prstGeom prst="roundRect">
            <a:avLst>
              <a:gd name="adj" fmla="val 8000"/>
            </a:avLst>
          </a:prstGeom>
          <a:solidFill>
            <a:schemeClr val="accent2"/>
          </a:solidFill>
          <a:ln/>
        </p:spPr>
      </p:sp>
      <p:sp>
        <p:nvSpPr>
          <p:cNvPr id="27" name="Text 24"/>
          <p:cNvSpPr txBox="1"/>
          <p:nvPr/>
        </p:nvSpPr>
        <p:spPr>
          <a:xfrm>
            <a:off x="4572000" y="2560320"/>
            <a:ext cx="1280160" cy="320040"/>
          </a:xfrm>
          <a:prstGeom prst="rect">
            <a:avLst/>
          </a:prstGeom>
          <a:noFill/>
          <a:ln/>
        </p:spPr>
        <p:txBody>
          <a:bodyPr wrap="square" lIns="0" tIns="0" rIns="0" bIns="0" rtlCol="0" anchor="t"/>
          <a:lstStyle/>
          <a:p>
            <a:pPr marL="0" indent="0" algn="ctr">
              <a:buNone/>
            </a:pPr>
            <a:r>
              <a:rPr lang="en-US" sz="1500" b="1" dirty="0">
                <a:solidFill>
                  <a:schemeClr val="tx1"/>
                </a:solidFill>
              </a:rPr>
              <a:t>RabbitMQ</a:t>
            </a:r>
            <a:endParaRPr lang="en-US" sz="1500" dirty="0"/>
          </a:p>
        </p:txBody>
      </p:sp>
      <p:sp>
        <p:nvSpPr>
          <p:cNvPr id="28" name="Text 25"/>
          <p:cNvSpPr txBox="1"/>
          <p:nvPr/>
        </p:nvSpPr>
        <p:spPr>
          <a:xfrm>
            <a:off x="4572000" y="2898648"/>
            <a:ext cx="1280160" cy="365760"/>
          </a:xfrm>
          <a:prstGeom prst="rect">
            <a:avLst/>
          </a:prstGeom>
          <a:noFill/>
          <a:ln/>
        </p:spPr>
        <p:txBody>
          <a:bodyPr wrap="square" lIns="0" tIns="0" rIns="0" bIns="0" rtlCol="0" anchor="t"/>
          <a:lstStyle/>
          <a:p>
            <a:pPr marL="0" indent="0" algn="ctr">
              <a:buNone/>
            </a:pPr>
            <a:r>
              <a:rPr lang="en-US" sz="1200" dirty="0">
                <a:solidFill>
                  <a:schemeClr val="tx1"/>
                </a:solidFill>
              </a:rPr>
              <a:t>messages</a:t>
            </a:r>
            <a:endParaRPr lang="en-US" sz="1200" dirty="0"/>
          </a:p>
        </p:txBody>
      </p:sp>
      <p:sp>
        <p:nvSpPr>
          <p:cNvPr id="29" name="Shape 26"/>
          <p:cNvSpPr/>
          <p:nvPr/>
        </p:nvSpPr>
        <p:spPr>
          <a:xfrm>
            <a:off x="6217920" y="2423160"/>
            <a:ext cx="2011680" cy="914400"/>
          </a:xfrm>
          <a:prstGeom prst="roundRect">
            <a:avLst>
              <a:gd name="adj" fmla="val 8000"/>
            </a:avLst>
          </a:prstGeom>
          <a:solidFill>
            <a:schemeClr val="accent1"/>
          </a:solidFill>
          <a:ln/>
        </p:spPr>
      </p:sp>
      <p:sp>
        <p:nvSpPr>
          <p:cNvPr id="30" name="Text 27"/>
          <p:cNvSpPr txBox="1"/>
          <p:nvPr/>
        </p:nvSpPr>
        <p:spPr>
          <a:xfrm>
            <a:off x="6217920" y="2560320"/>
            <a:ext cx="2011680" cy="320040"/>
          </a:xfrm>
          <a:prstGeom prst="rect">
            <a:avLst/>
          </a:prstGeom>
          <a:noFill/>
          <a:ln/>
        </p:spPr>
        <p:txBody>
          <a:bodyPr wrap="square" lIns="0" tIns="0" rIns="0" bIns="0" rtlCol="0" anchor="t"/>
          <a:lstStyle/>
          <a:p>
            <a:pPr marL="0" indent="0" algn="ctr">
              <a:buNone/>
            </a:pPr>
            <a:r>
              <a:rPr lang="en-US" sz="1500" b="1" dirty="0">
                <a:solidFill>
                  <a:schemeClr val="bg1"/>
                </a:solidFill>
              </a:rPr>
              <a:t>Consumer</a:t>
            </a:r>
            <a:endParaRPr lang="en-US" sz="1500" dirty="0"/>
          </a:p>
        </p:txBody>
      </p:sp>
      <p:sp>
        <p:nvSpPr>
          <p:cNvPr id="31" name="Text 28"/>
          <p:cNvSpPr txBox="1"/>
          <p:nvPr/>
        </p:nvSpPr>
        <p:spPr>
          <a:xfrm>
            <a:off x="6217920" y="2898648"/>
            <a:ext cx="2011680" cy="365760"/>
          </a:xfrm>
          <a:prstGeom prst="rect">
            <a:avLst/>
          </a:prstGeom>
          <a:noFill/>
          <a:ln/>
        </p:spPr>
        <p:txBody>
          <a:bodyPr wrap="square" lIns="0" tIns="0" rIns="0" bIns="0" rtlCol="0" anchor="t"/>
          <a:lstStyle/>
          <a:p>
            <a:pPr marL="0" indent="0" algn="ctr">
              <a:buNone/>
            </a:pPr>
            <a:r>
              <a:rPr lang="en-US" sz="1200" dirty="0">
                <a:solidFill>
                  <a:schemeClr val="bg1"/>
                </a:solidFill>
              </a:rPr>
              <a:t>inbox dedupe</a:t>
            </a:r>
            <a:endParaRPr lang="en-US" sz="1200" dirty="0"/>
          </a:p>
        </p:txBody>
      </p:sp>
      <p:sp>
        <p:nvSpPr>
          <p:cNvPr id="32" name="Shape 29"/>
          <p:cNvSpPr/>
          <p:nvPr/>
        </p:nvSpPr>
        <p:spPr>
          <a:xfrm>
            <a:off x="1828800" y="2880360"/>
            <a:ext cx="365760" cy="0"/>
          </a:xfrm>
          <a:prstGeom prst="line">
            <a:avLst/>
          </a:prstGeom>
          <a:noFill/>
          <a:ln w="25400">
            <a:solidFill>
              <a:schemeClr val="accent5"/>
            </a:solidFill>
            <a:prstDash val="solid"/>
            <a:tailEnd type="triangle"/>
          </a:ln>
        </p:spPr>
      </p:sp>
      <p:sp>
        <p:nvSpPr>
          <p:cNvPr id="33" name="Shape 30"/>
          <p:cNvSpPr/>
          <p:nvPr/>
        </p:nvSpPr>
        <p:spPr>
          <a:xfrm>
            <a:off x="4206240" y="2880360"/>
            <a:ext cx="365760" cy="0"/>
          </a:xfrm>
          <a:prstGeom prst="line">
            <a:avLst/>
          </a:prstGeom>
          <a:noFill/>
          <a:ln w="25400">
            <a:solidFill>
              <a:schemeClr val="accent5"/>
            </a:solidFill>
            <a:prstDash val="solid"/>
            <a:headEnd type="triangle"/>
            <a:tailEnd type="triangle"/>
          </a:ln>
        </p:spPr>
      </p:sp>
      <p:sp>
        <p:nvSpPr>
          <p:cNvPr id="34" name="Shape 31"/>
          <p:cNvSpPr/>
          <p:nvPr/>
        </p:nvSpPr>
        <p:spPr>
          <a:xfrm>
            <a:off x="5852160" y="2880360"/>
            <a:ext cx="365760" cy="0"/>
          </a:xfrm>
          <a:prstGeom prst="line">
            <a:avLst/>
          </a:prstGeom>
          <a:noFill/>
          <a:ln w="25400">
            <a:solidFill>
              <a:schemeClr val="accent5"/>
            </a:solidFill>
            <a:prstDash val="solid"/>
            <a:headEnd type="triangle"/>
            <a:tailEnd type="triangle"/>
          </a:ln>
        </p:spPr>
      </p:sp>
      <p:sp>
        <p:nvSpPr>
          <p:cNvPr id="35" name="Shape 32"/>
          <p:cNvSpPr/>
          <p:nvPr/>
        </p:nvSpPr>
        <p:spPr>
          <a:xfrm>
            <a:off x="2194560" y="3520440"/>
            <a:ext cx="2011680" cy="457200"/>
          </a:xfrm>
          <a:prstGeom prst="roundRect">
            <a:avLst>
              <a:gd name="adj" fmla="val 16000"/>
            </a:avLst>
          </a:prstGeom>
          <a:solidFill>
            <a:schemeClr val="bg2"/>
          </a:solidFill>
          <a:ln/>
        </p:spPr>
      </p:sp>
      <p:sp>
        <p:nvSpPr>
          <p:cNvPr id="36" name="Text 33"/>
          <p:cNvSpPr txBox="1"/>
          <p:nvPr/>
        </p:nvSpPr>
        <p:spPr>
          <a:xfrm>
            <a:off x="2194560" y="3657600"/>
            <a:ext cx="2011680" cy="320040"/>
          </a:xfrm>
          <a:prstGeom prst="rect">
            <a:avLst/>
          </a:prstGeom>
          <a:noFill/>
          <a:ln/>
        </p:spPr>
        <p:txBody>
          <a:bodyPr wrap="square" lIns="0" tIns="0" rIns="0" bIns="0" rtlCol="0" anchor="t"/>
          <a:lstStyle/>
          <a:p>
            <a:pPr marL="0" indent="0" algn="ctr">
              <a:buNone/>
            </a:pPr>
            <a:endParaRPr lang="en-US" sz="1500" dirty="0"/>
          </a:p>
        </p:txBody>
      </p:sp>
      <p:sp>
        <p:nvSpPr>
          <p:cNvPr id="37" name="Text 34"/>
          <p:cNvSpPr txBox="1"/>
          <p:nvPr/>
        </p:nvSpPr>
        <p:spPr>
          <a:xfrm>
            <a:off x="2194560" y="3995928"/>
            <a:ext cx="2011680" cy="365760"/>
          </a:xfrm>
          <a:prstGeom prst="rect">
            <a:avLst/>
          </a:prstGeom>
          <a:noFill/>
          <a:ln/>
        </p:spPr>
        <p:txBody>
          <a:bodyPr wrap="square" lIns="0" tIns="0" rIns="0" bIns="0" rtlCol="0" anchor="t"/>
          <a:lstStyle/>
          <a:p>
            <a:pPr marL="0" indent="0" algn="ctr">
              <a:buNone/>
            </a:pPr>
            <a:endParaRPr lang="en-US" sz="1200" dirty="0"/>
          </a:p>
        </p:txBody>
      </p:sp>
      <p:sp>
        <p:nvSpPr>
          <p:cNvPr id="38" name="Text 35"/>
          <p:cNvSpPr txBox="1"/>
          <p:nvPr/>
        </p:nvSpPr>
        <p:spPr>
          <a:xfrm>
            <a:off x="2194560" y="3630168"/>
            <a:ext cx="2011680" cy="274320"/>
          </a:xfrm>
          <a:prstGeom prst="rect">
            <a:avLst/>
          </a:prstGeom>
          <a:noFill/>
          <a:ln/>
        </p:spPr>
        <p:txBody>
          <a:bodyPr wrap="square" lIns="0" tIns="0" rIns="0" bIns="0" rtlCol="0" anchor="t"/>
          <a:lstStyle/>
          <a:p>
            <a:pPr marL="0" indent="0" algn="ctr">
              <a:buNone/>
            </a:pPr>
            <a:r>
              <a:rPr lang="en-US" sz="1200" dirty="0">
                <a:solidFill>
                  <a:schemeClr val="tx1"/>
                </a:solidFill>
              </a:rPr>
              <a:t>PostgreSQL: wallet</a:t>
            </a:r>
            <a:endParaRPr lang="en-US" sz="1200" dirty="0"/>
          </a:p>
        </p:txBody>
      </p:sp>
      <p:sp>
        <p:nvSpPr>
          <p:cNvPr id="41" name="Text 38"/>
          <p:cNvSpPr txBox="1"/>
          <p:nvPr/>
        </p:nvSpPr>
        <p:spPr>
          <a:xfrm>
            <a:off x="548640" y="4160520"/>
            <a:ext cx="8046720" cy="320040"/>
          </a:xfrm>
          <a:prstGeom prst="rect">
            <a:avLst/>
          </a:prstGeom>
          <a:noFill/>
          <a:ln/>
        </p:spPr>
        <p:txBody>
          <a:bodyPr wrap="square" lIns="0" tIns="0" rIns="0" bIns="0" rtlCol="0" anchor="t"/>
          <a:lstStyle/>
          <a:p>
            <a:pPr marL="0" indent="0">
              <a:buNone/>
            </a:pPr>
            <a:r>
              <a:rPr lang="en-US" sz="1400" b="1" dirty="0">
                <a:solidFill>
                  <a:schemeClr val="tx2"/>
                </a:solidFill>
              </a:rPr>
              <a:t>One transaction saves the key, the event and the outbox row. RabbitMQ only announces the change.</a:t>
            </a:r>
            <a:endParaRPr lang="en-US" sz="1400" dirty="0"/>
          </a:p>
        </p:txBody>
      </p:sp>
      <p:sp>
        <p:nvSpPr>
          <p:cNvPr id="4"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Layer 1: the Idempotency-Key</a:t>
            </a:r>
            <a:endParaRPr lang="en-US" sz="3200" dirty="0"/>
          </a:p>
        </p:txBody>
      </p:sp>
      <p:sp>
        <p:nvSpPr>
          <p:cNvPr id="3" name="Text 1"/>
          <p:cNvSpPr txBox="1"/>
          <p:nvPr/>
        </p:nvSpPr>
        <p:spPr>
          <a:xfrm>
            <a:off x="457200" y="4754880"/>
            <a:ext cx="2743200" cy="228600"/>
          </a:xfrm>
          <a:prstGeom prst="rect">
            <a:avLst/>
          </a:prstGeom>
          <a:noFill/>
          <a:ln/>
        </p:spPr>
        <p:txBody>
          <a:bodyPr wrap="square" lIns="0" tIns="0" rIns="0" bIns="0" rtlCol="0" anchor="t"/>
          <a:lstStyle/>
          <a:p>
            <a:pPr marL="0" indent="0">
              <a:buNone/>
            </a:pPr>
            <a:r>
              <a:rPr lang="en-US" sz="1000" dirty="0">
                <a:solidFill>
                  <a:schemeClr val="accent5"/>
                </a:solidFill>
              </a:rPr>
              <a:t>Presenter: Member 5</a:t>
            </a:r>
            <a:endParaRPr lang="en-US" sz="1000" dirty="0"/>
          </a:p>
        </p:txBody>
      </p:sp>
      <p:sp>
        <p:nvSpPr>
          <p:cNvPr id="5" name="Shape 2"/>
          <p:cNvSpPr/>
          <p:nvPr/>
        </p:nvSpPr>
        <p:spPr>
          <a:xfrm>
            <a:off x="457200" y="1143000"/>
            <a:ext cx="4846320" cy="749808"/>
          </a:xfrm>
          <a:prstGeom prst="roundRect">
            <a:avLst>
              <a:gd name="adj" fmla="val 9756"/>
            </a:avLst>
          </a:prstGeom>
          <a:solidFill>
            <a:schemeClr val="bg2"/>
          </a:solidFill>
          <a:ln/>
        </p:spPr>
      </p:sp>
      <p:sp>
        <p:nvSpPr>
          <p:cNvPr id="6" name="Shape 3"/>
          <p:cNvSpPr/>
          <p:nvPr/>
        </p:nvSpPr>
        <p:spPr>
          <a:xfrm>
            <a:off x="594360" y="1316736"/>
            <a:ext cx="402336" cy="402336"/>
          </a:xfrm>
          <a:prstGeom prst="ellipse">
            <a:avLst/>
          </a:prstGeom>
          <a:solidFill>
            <a:schemeClr val="accent1"/>
          </a:solidFill>
          <a:ln/>
        </p:spPr>
      </p:sp>
      <p:sp>
        <p:nvSpPr>
          <p:cNvPr id="7" name="Text 4"/>
          <p:cNvSpPr txBox="1"/>
          <p:nvPr/>
        </p:nvSpPr>
        <p:spPr>
          <a:xfrm>
            <a:off x="594360" y="1316736"/>
            <a:ext cx="402336" cy="402336"/>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ext 5"/>
          <p:cNvSpPr txBox="1"/>
          <p:nvPr/>
        </p:nvSpPr>
        <p:spPr>
          <a:xfrm>
            <a:off x="1188720" y="1252728"/>
            <a:ext cx="4023360" cy="548640"/>
          </a:xfrm>
          <a:prstGeom prst="rect">
            <a:avLst/>
          </a:prstGeom>
          <a:noFill/>
          <a:ln/>
        </p:spPr>
        <p:txBody>
          <a:bodyPr wrap="square" lIns="0" tIns="0" rIns="0" bIns="0" rtlCol="0" anchor="t"/>
          <a:lstStyle/>
          <a:p>
            <a:pPr marL="0" indent="0">
              <a:buNone/>
            </a:pPr>
            <a:r>
              <a:rPr lang="en-US" sz="1500" b="1" dirty="0">
                <a:solidFill>
                  <a:schemeClr val="tx1"/>
                </a:solidFill>
              </a:rPr>
              <a:t>Client sends the key</a:t>
            </a:r>
            <a:endParaRPr lang="en-US" sz="1400" dirty="0"/>
          </a:p>
          <a:p>
            <a:pPr marL="0" indent="0">
              <a:buNone/>
            </a:pPr>
            <a:r>
              <a:rPr lang="en-US" sz="1300" dirty="0">
                <a:solidFill>
                  <a:schemeClr val="tx1"/>
                </a:solidFill>
              </a:rPr>
              <a:t>One UUID per Send tap, reused on retries</a:t>
            </a:r>
            <a:endParaRPr lang="en-US" sz="1400" dirty="0"/>
          </a:p>
        </p:txBody>
      </p:sp>
      <p:sp>
        <p:nvSpPr>
          <p:cNvPr id="9" name="Shape 6"/>
          <p:cNvSpPr/>
          <p:nvPr/>
        </p:nvSpPr>
        <p:spPr>
          <a:xfrm>
            <a:off x="457200" y="2011680"/>
            <a:ext cx="4846320" cy="749808"/>
          </a:xfrm>
          <a:prstGeom prst="roundRect">
            <a:avLst>
              <a:gd name="adj" fmla="val 9756"/>
            </a:avLst>
          </a:prstGeom>
          <a:solidFill>
            <a:schemeClr val="bg2"/>
          </a:solidFill>
          <a:ln/>
        </p:spPr>
      </p:sp>
      <p:sp>
        <p:nvSpPr>
          <p:cNvPr id="10" name="Shape 7"/>
          <p:cNvSpPr/>
          <p:nvPr/>
        </p:nvSpPr>
        <p:spPr>
          <a:xfrm>
            <a:off x="594360" y="2185416"/>
            <a:ext cx="402336" cy="402336"/>
          </a:xfrm>
          <a:prstGeom prst="ellipse">
            <a:avLst/>
          </a:prstGeom>
          <a:solidFill>
            <a:schemeClr val="accent1"/>
          </a:solidFill>
          <a:ln/>
        </p:spPr>
      </p:sp>
      <p:sp>
        <p:nvSpPr>
          <p:cNvPr id="11" name="Text 8"/>
          <p:cNvSpPr txBox="1"/>
          <p:nvPr/>
        </p:nvSpPr>
        <p:spPr>
          <a:xfrm>
            <a:off x="594360" y="2185416"/>
            <a:ext cx="402336" cy="402336"/>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2" name="Text 9"/>
          <p:cNvSpPr txBox="1"/>
          <p:nvPr/>
        </p:nvSpPr>
        <p:spPr>
          <a:xfrm>
            <a:off x="1188720" y="2121408"/>
            <a:ext cx="4023360" cy="548640"/>
          </a:xfrm>
          <a:prstGeom prst="rect">
            <a:avLst/>
          </a:prstGeom>
          <a:noFill/>
          <a:ln/>
        </p:spPr>
        <p:txBody>
          <a:bodyPr wrap="square" lIns="0" tIns="0" rIns="0" bIns="0" rtlCol="0" anchor="t"/>
          <a:lstStyle/>
          <a:p>
            <a:pPr marL="0" indent="0">
              <a:buNone/>
            </a:pPr>
            <a:r>
              <a:rPr lang="en-US" sz="1500" b="1" dirty="0">
                <a:solidFill>
                  <a:schemeClr val="tx1"/>
                </a:solidFill>
              </a:rPr>
              <a:t>Server claims the key</a:t>
            </a:r>
            <a:endParaRPr lang="en-US" sz="1400" dirty="0"/>
          </a:p>
          <a:p>
            <a:pPr marL="0" indent="0">
              <a:buNone/>
            </a:pPr>
            <a:r>
              <a:rPr lang="en-US" sz="1300" dirty="0">
                <a:solidFill>
                  <a:schemeClr val="tx1"/>
                </a:solidFill>
              </a:rPr>
              <a:t>Unique index lets only one request win</a:t>
            </a:r>
            <a:endParaRPr lang="en-US" sz="1400" dirty="0"/>
          </a:p>
        </p:txBody>
      </p:sp>
      <p:sp>
        <p:nvSpPr>
          <p:cNvPr id="13" name="Shape 10"/>
          <p:cNvSpPr/>
          <p:nvPr/>
        </p:nvSpPr>
        <p:spPr>
          <a:xfrm>
            <a:off x="457200" y="2880360"/>
            <a:ext cx="4846320" cy="749808"/>
          </a:xfrm>
          <a:prstGeom prst="roundRect">
            <a:avLst>
              <a:gd name="adj" fmla="val 9756"/>
            </a:avLst>
          </a:prstGeom>
          <a:solidFill>
            <a:schemeClr val="bg2"/>
          </a:solidFill>
          <a:ln/>
        </p:spPr>
      </p:sp>
      <p:sp>
        <p:nvSpPr>
          <p:cNvPr id="14" name="Shape 11"/>
          <p:cNvSpPr/>
          <p:nvPr/>
        </p:nvSpPr>
        <p:spPr>
          <a:xfrm>
            <a:off x="594360" y="3054096"/>
            <a:ext cx="402336" cy="402336"/>
          </a:xfrm>
          <a:prstGeom prst="ellipse">
            <a:avLst/>
          </a:prstGeom>
          <a:solidFill>
            <a:schemeClr val="accent1"/>
          </a:solidFill>
          <a:ln/>
        </p:spPr>
      </p:sp>
      <p:sp>
        <p:nvSpPr>
          <p:cNvPr id="15" name="Text 12"/>
          <p:cNvSpPr txBox="1"/>
          <p:nvPr/>
        </p:nvSpPr>
        <p:spPr>
          <a:xfrm>
            <a:off x="594360" y="3054096"/>
            <a:ext cx="402336" cy="402336"/>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6" name="Text 13"/>
          <p:cNvSpPr txBox="1"/>
          <p:nvPr/>
        </p:nvSpPr>
        <p:spPr>
          <a:xfrm>
            <a:off x="1188720" y="2990088"/>
            <a:ext cx="4023360" cy="548640"/>
          </a:xfrm>
          <a:prstGeom prst="rect">
            <a:avLst/>
          </a:prstGeom>
          <a:noFill/>
          <a:ln/>
        </p:spPr>
        <p:txBody>
          <a:bodyPr wrap="square" lIns="0" tIns="0" rIns="0" bIns="0" rtlCol="0" anchor="t"/>
          <a:lstStyle/>
          <a:p>
            <a:pPr marL="0" indent="0">
              <a:buNone/>
            </a:pPr>
            <a:r>
              <a:rPr lang="en-US" sz="1500" b="1" dirty="0">
                <a:solidFill>
                  <a:schemeClr val="tx1"/>
                </a:solidFill>
              </a:rPr>
              <a:t>Winner does the work</a:t>
            </a:r>
            <a:endParaRPr lang="en-US" sz="1400" dirty="0"/>
          </a:p>
          <a:p>
            <a:pPr marL="0" indent="0">
              <a:buNone/>
            </a:pPr>
            <a:r>
              <a:rPr lang="en-US" sz="1300" dirty="0">
                <a:solidFill>
                  <a:schemeClr val="tx1"/>
                </a:solidFill>
              </a:rPr>
              <a:t>Saves the receipt against the key</a:t>
            </a:r>
            <a:endParaRPr lang="en-US" sz="1400" dirty="0"/>
          </a:p>
        </p:txBody>
      </p:sp>
      <p:sp>
        <p:nvSpPr>
          <p:cNvPr id="17" name="Shape 14"/>
          <p:cNvSpPr/>
          <p:nvPr/>
        </p:nvSpPr>
        <p:spPr>
          <a:xfrm>
            <a:off x="457200" y="3749040"/>
            <a:ext cx="4846320" cy="749808"/>
          </a:xfrm>
          <a:prstGeom prst="roundRect">
            <a:avLst>
              <a:gd name="adj" fmla="val 9756"/>
            </a:avLst>
          </a:prstGeom>
          <a:solidFill>
            <a:schemeClr val="bg2"/>
          </a:solidFill>
          <a:ln/>
        </p:spPr>
      </p:sp>
      <p:sp>
        <p:nvSpPr>
          <p:cNvPr id="18" name="Shape 15"/>
          <p:cNvSpPr/>
          <p:nvPr/>
        </p:nvSpPr>
        <p:spPr>
          <a:xfrm>
            <a:off x="594360" y="3922776"/>
            <a:ext cx="402336" cy="402336"/>
          </a:xfrm>
          <a:prstGeom prst="ellipse">
            <a:avLst/>
          </a:prstGeom>
          <a:solidFill>
            <a:schemeClr val="accent1"/>
          </a:solidFill>
          <a:ln/>
        </p:spPr>
      </p:sp>
      <p:sp>
        <p:nvSpPr>
          <p:cNvPr id="19" name="Text 16"/>
          <p:cNvSpPr txBox="1"/>
          <p:nvPr/>
        </p:nvSpPr>
        <p:spPr>
          <a:xfrm>
            <a:off x="594360" y="3922776"/>
            <a:ext cx="402336" cy="402336"/>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0" name="Text 17"/>
          <p:cNvSpPr txBox="1"/>
          <p:nvPr/>
        </p:nvSpPr>
        <p:spPr>
          <a:xfrm>
            <a:off x="1188720" y="3858768"/>
            <a:ext cx="4023360" cy="548640"/>
          </a:xfrm>
          <a:prstGeom prst="rect">
            <a:avLst/>
          </a:prstGeom>
          <a:noFill/>
          <a:ln/>
        </p:spPr>
        <p:txBody>
          <a:bodyPr wrap="square" lIns="0" tIns="0" rIns="0" bIns="0" rtlCol="0" anchor="t"/>
          <a:lstStyle/>
          <a:p>
            <a:pPr marL="0" indent="0">
              <a:buNone/>
            </a:pPr>
            <a:r>
              <a:rPr lang="en-US" sz="1500" b="1" dirty="0">
                <a:solidFill>
                  <a:schemeClr val="tx1"/>
                </a:solidFill>
              </a:rPr>
              <a:t>Repeats get the receipt</a:t>
            </a:r>
            <a:endParaRPr lang="en-US" sz="1400" dirty="0"/>
          </a:p>
          <a:p>
            <a:pPr marL="0" indent="0">
              <a:buNone/>
            </a:pPr>
            <a:r>
              <a:rPr lang="en-US" sz="1300" dirty="0">
                <a:solidFill>
                  <a:schemeClr val="tx1"/>
                </a:solidFill>
              </a:rPr>
              <a:t>Header: Idempotent-Replayed: true</a:t>
            </a:r>
            <a:endParaRPr lang="en-US" sz="1400" dirty="0"/>
          </a:p>
        </p:txBody>
      </p:sp>
      <p:sp>
        <p:nvSpPr>
          <p:cNvPr id="21" name="Shape 18"/>
          <p:cNvSpPr/>
          <p:nvPr/>
        </p:nvSpPr>
        <p:spPr>
          <a:xfrm>
            <a:off x="5577840" y="1143000"/>
            <a:ext cx="3108960" cy="3337560"/>
          </a:xfrm>
          <a:prstGeom prst="roundRect">
            <a:avLst>
              <a:gd name="adj" fmla="val 2353"/>
            </a:avLst>
          </a:prstGeom>
          <a:solidFill>
            <a:schemeClr val="tx2"/>
          </a:solidFill>
          <a:ln/>
        </p:spPr>
      </p:sp>
      <p:sp>
        <p:nvSpPr>
          <p:cNvPr id="22" name="Text 19"/>
          <p:cNvSpPr txBox="1"/>
          <p:nvPr/>
        </p:nvSpPr>
        <p:spPr>
          <a:xfrm>
            <a:off x="5760720" y="1280160"/>
            <a:ext cx="2743200" cy="320040"/>
          </a:xfrm>
          <a:prstGeom prst="rect">
            <a:avLst/>
          </a:prstGeom>
          <a:noFill/>
          <a:ln/>
        </p:spPr>
        <p:txBody>
          <a:bodyPr wrap="square" lIns="0" tIns="0" rIns="0" bIns="0" rtlCol="0" anchor="t"/>
          <a:lstStyle/>
          <a:p>
            <a:pPr marL="0" indent="0">
              <a:buNone/>
            </a:pPr>
            <a:r>
              <a:rPr lang="en-US" sz="1600" b="1" dirty="0">
                <a:solidFill>
                  <a:schemeClr val="accent2"/>
                </a:solidFill>
              </a:rPr>
              <a:t>Edge cases handled</a:t>
            </a:r>
            <a:endParaRPr lang="en-US" sz="1600" dirty="0"/>
          </a:p>
        </p:txBody>
      </p:sp>
      <p:sp>
        <p:nvSpPr>
          <p:cNvPr id="23" name="Text 20"/>
          <p:cNvSpPr txBox="1"/>
          <p:nvPr/>
        </p:nvSpPr>
        <p:spPr>
          <a:xfrm>
            <a:off x="5760720" y="1737360"/>
            <a:ext cx="274320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Same key, different body: 422</a:t>
            </a:r>
            <a:endParaRPr lang="en-US" sz="1400" dirty="0"/>
          </a:p>
          <a:p>
            <a:pPr marL="342900" indent="-342900">
              <a:spcAft>
                <a:spcPts val="600"/>
              </a:spcAft>
              <a:buSzPct val="100000"/>
              <a:buChar char="•"/>
            </a:pPr>
            <a:r>
              <a:rPr lang="en-US" sz="1400" dirty="0">
                <a:solidFill>
                  <a:schemeClr val="bg1"/>
                </a:solidFill>
              </a:rPr>
              <a:t>No key at all: 400</a:t>
            </a:r>
            <a:endParaRPr lang="en-US" sz="1400" dirty="0"/>
          </a:p>
          <a:p>
            <a:pPr marL="342900" indent="-342900">
              <a:spcAft>
                <a:spcPts val="600"/>
              </a:spcAft>
              <a:buSzPct val="100000"/>
              <a:buChar char="•"/>
            </a:pPr>
            <a:r>
              <a:rPr lang="en-US" sz="1400" dirty="0">
                <a:solidFill>
                  <a:schemeClr val="bg1"/>
                </a:solidFill>
              </a:rPr>
              <a:t>Key older than 24 hours: new request</a:t>
            </a:r>
            <a:endParaRPr lang="en-US" sz="1400" dirty="0"/>
          </a:p>
          <a:p>
            <a:pPr marL="342900" indent="-342900">
              <a:spcAft>
                <a:spcPts val="600"/>
              </a:spcAft>
              <a:buSzPct val="100000"/>
              <a:buChar char="•"/>
            </a:pPr>
            <a:r>
              <a:rPr lang="en-US" sz="1400" dirty="0">
                <a:solidFill>
                  <a:schemeClr val="bg1"/>
                </a:solidFill>
              </a:rPr>
              <a:t>Key scoped to endpoint and wallet</a:t>
            </a:r>
            <a:endParaRPr lang="en-US" sz="1400" dirty="0"/>
          </a:p>
          <a:p>
            <a:pPr marL="342900" indent="-342900">
              <a:spcAft>
                <a:spcPts val="600"/>
              </a:spcAft>
              <a:buSzPct val="100000"/>
              <a:buChar char="•"/>
            </a:pPr>
            <a:r>
              <a:rPr lang="en-US" sz="1400" dirty="0">
                <a:solidFill>
                  <a:schemeClr val="bg1"/>
                </a:solidFill>
              </a:rPr>
              <a:t>Body checked with a SHA-256 hash</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Key and effect commit together</a:t>
            </a:r>
            <a:endParaRPr lang="en-US" sz="3200" dirty="0"/>
          </a:p>
        </p:txBody>
      </p:sp>
      <p:sp>
        <p:nvSpPr>
          <p:cNvPr id="3" name="Text 1"/>
          <p:cNvSpPr txBox="1"/>
          <p:nvPr/>
        </p:nvSpPr>
        <p:spPr>
          <a:xfrm>
            <a:off x="457200" y="4754880"/>
            <a:ext cx="2743200" cy="228600"/>
          </a:xfrm>
          <a:prstGeom prst="rect">
            <a:avLst/>
          </a:prstGeom>
          <a:noFill/>
          <a:ln/>
        </p:spPr>
        <p:txBody>
          <a:bodyPr wrap="square" lIns="0" tIns="0" rIns="0" bIns="0" rtlCol="0" anchor="t"/>
          <a:lstStyle/>
          <a:p>
            <a:pPr marL="0" indent="0">
              <a:buNone/>
            </a:pPr>
            <a:r>
              <a:rPr lang="en-US" sz="1000" dirty="0">
                <a:solidFill>
                  <a:schemeClr val="accent5"/>
                </a:solidFill>
              </a:rPr>
              <a:t>Presenter: Member 6</a:t>
            </a:r>
            <a:endParaRPr lang="en-US" sz="1000" dirty="0"/>
          </a:p>
        </p:txBody>
      </p:sp>
      <p:sp>
        <p:nvSpPr>
          <p:cNvPr id="5" name="Shape 2"/>
          <p:cNvSpPr/>
          <p:nvPr/>
        </p:nvSpPr>
        <p:spPr>
          <a:xfrm>
            <a:off x="457200" y="1143000"/>
            <a:ext cx="8229600" cy="1417320"/>
          </a:xfrm>
          <a:prstGeom prst="roundRect">
            <a:avLst>
              <a:gd name="adj" fmla="val 5161"/>
            </a:avLst>
          </a:prstGeom>
          <a:solidFill>
            <a:schemeClr val="tx2"/>
          </a:solidFill>
          <a:ln/>
        </p:spPr>
      </p:sp>
      <p:sp>
        <p:nvSpPr>
          <p:cNvPr id="6" name="Text 3"/>
          <p:cNvSpPr txBox="1"/>
          <p:nvPr/>
        </p:nvSpPr>
        <p:spPr>
          <a:xfrm>
            <a:off x="731520" y="1280160"/>
            <a:ext cx="4572000" cy="274320"/>
          </a:xfrm>
          <a:prstGeom prst="rect">
            <a:avLst/>
          </a:prstGeom>
          <a:noFill/>
          <a:ln/>
        </p:spPr>
        <p:txBody>
          <a:bodyPr wrap="square" lIns="0" tIns="0" rIns="0" bIns="0" rtlCol="0" anchor="t"/>
          <a:lstStyle/>
          <a:p>
            <a:pPr marL="0" indent="0">
              <a:buNone/>
            </a:pPr>
            <a:r>
              <a:rPr lang="en-US" sz="1400" b="1" dirty="0">
                <a:solidFill>
                  <a:schemeClr val="accent2"/>
                </a:solidFill>
              </a:rPr>
              <a:t>ONE database transaction</a:t>
            </a:r>
            <a:endParaRPr lang="en-US" sz="1400" dirty="0"/>
          </a:p>
        </p:txBody>
      </p:sp>
      <p:sp>
        <p:nvSpPr>
          <p:cNvPr id="7" name="Shape 4"/>
          <p:cNvSpPr/>
          <p:nvPr/>
        </p:nvSpPr>
        <p:spPr>
          <a:xfrm>
            <a:off x="731520" y="1783080"/>
            <a:ext cx="2377440" cy="594360"/>
          </a:xfrm>
          <a:prstGeom prst="roundRect">
            <a:avLst>
              <a:gd name="adj" fmla="val 12308"/>
            </a:avLst>
          </a:prstGeom>
          <a:solidFill>
            <a:schemeClr val="bg1"/>
          </a:solidFill>
          <a:ln/>
        </p:spPr>
      </p:sp>
      <p:sp>
        <p:nvSpPr>
          <p:cNvPr id="8" name="Text 5"/>
          <p:cNvSpPr txBox="1"/>
          <p:nvPr/>
        </p:nvSpPr>
        <p:spPr>
          <a:xfrm>
            <a:off x="731520" y="1783080"/>
            <a:ext cx="2377440" cy="594360"/>
          </a:xfrm>
          <a:prstGeom prst="rect">
            <a:avLst/>
          </a:prstGeom>
          <a:noFill/>
          <a:ln/>
        </p:spPr>
        <p:txBody>
          <a:bodyPr wrap="square" lIns="0" tIns="0" rIns="0" bIns="0" rtlCol="0" anchor="ctr"/>
          <a:lstStyle/>
          <a:p>
            <a:pPr marL="0" indent="0" algn="ctr">
              <a:buNone/>
            </a:pPr>
            <a:r>
              <a:rPr lang="en-US" sz="1500" b="1" dirty="0">
                <a:solidFill>
                  <a:schemeClr val="tx2"/>
                </a:solidFill>
              </a:rPr>
              <a:t>Idempotency key row</a:t>
            </a:r>
            <a:endParaRPr lang="en-US" sz="1500" dirty="0"/>
          </a:p>
        </p:txBody>
      </p:sp>
      <p:sp>
        <p:nvSpPr>
          <p:cNvPr id="9" name="Shape 6"/>
          <p:cNvSpPr/>
          <p:nvPr/>
        </p:nvSpPr>
        <p:spPr>
          <a:xfrm>
            <a:off x="3337560" y="1783080"/>
            <a:ext cx="2377440" cy="594360"/>
          </a:xfrm>
          <a:prstGeom prst="roundRect">
            <a:avLst>
              <a:gd name="adj" fmla="val 12308"/>
            </a:avLst>
          </a:prstGeom>
          <a:solidFill>
            <a:schemeClr val="bg1"/>
          </a:solidFill>
          <a:ln/>
        </p:spPr>
      </p:sp>
      <p:sp>
        <p:nvSpPr>
          <p:cNvPr id="10" name="Text 7"/>
          <p:cNvSpPr txBox="1"/>
          <p:nvPr/>
        </p:nvSpPr>
        <p:spPr>
          <a:xfrm>
            <a:off x="3337560" y="1783080"/>
            <a:ext cx="2377440" cy="594360"/>
          </a:xfrm>
          <a:prstGeom prst="rect">
            <a:avLst/>
          </a:prstGeom>
          <a:noFill/>
          <a:ln/>
        </p:spPr>
        <p:txBody>
          <a:bodyPr wrap="square" lIns="0" tIns="0" rIns="0" bIns="0" rtlCol="0" anchor="ctr"/>
          <a:lstStyle/>
          <a:p>
            <a:pPr marL="0" indent="0" algn="ctr">
              <a:buNone/>
            </a:pPr>
            <a:r>
              <a:rPr lang="en-US" sz="1500" b="1" dirty="0">
                <a:solidFill>
                  <a:schemeClr val="tx2"/>
                </a:solidFill>
              </a:rPr>
              <a:t>Ledger event</a:t>
            </a:r>
            <a:endParaRPr lang="en-US" sz="1500" dirty="0"/>
          </a:p>
        </p:txBody>
      </p:sp>
      <p:sp>
        <p:nvSpPr>
          <p:cNvPr id="11" name="Shape 8"/>
          <p:cNvSpPr/>
          <p:nvPr/>
        </p:nvSpPr>
        <p:spPr>
          <a:xfrm>
            <a:off x="5943600" y="1783080"/>
            <a:ext cx="2377440" cy="594360"/>
          </a:xfrm>
          <a:prstGeom prst="roundRect">
            <a:avLst>
              <a:gd name="adj" fmla="val 12308"/>
            </a:avLst>
          </a:prstGeom>
          <a:solidFill>
            <a:schemeClr val="bg1"/>
          </a:solidFill>
          <a:ln/>
        </p:spPr>
      </p:sp>
      <p:sp>
        <p:nvSpPr>
          <p:cNvPr id="12" name="Text 9"/>
          <p:cNvSpPr txBox="1"/>
          <p:nvPr/>
        </p:nvSpPr>
        <p:spPr>
          <a:xfrm>
            <a:off x="5943600" y="1783080"/>
            <a:ext cx="2377440" cy="594360"/>
          </a:xfrm>
          <a:prstGeom prst="rect">
            <a:avLst/>
          </a:prstGeom>
          <a:noFill/>
          <a:ln/>
        </p:spPr>
        <p:txBody>
          <a:bodyPr wrap="square" lIns="0" tIns="0" rIns="0" bIns="0" rtlCol="0" anchor="ctr"/>
          <a:lstStyle/>
          <a:p>
            <a:pPr marL="0" indent="0" algn="ctr">
              <a:buNone/>
            </a:pPr>
            <a:r>
              <a:rPr lang="en-US" sz="1500" b="1" dirty="0">
                <a:solidFill>
                  <a:schemeClr val="tx2"/>
                </a:solidFill>
              </a:rPr>
              <a:t>Outbox row</a:t>
            </a:r>
            <a:endParaRPr lang="en-US" sz="1500" dirty="0"/>
          </a:p>
        </p:txBody>
      </p:sp>
      <p:sp>
        <p:nvSpPr>
          <p:cNvPr id="13" name="Shape 10"/>
          <p:cNvSpPr/>
          <p:nvPr/>
        </p:nvSpPr>
        <p:spPr>
          <a:xfrm>
            <a:off x="457200" y="2788920"/>
            <a:ext cx="4023360" cy="1371600"/>
          </a:xfrm>
          <a:prstGeom prst="roundRect">
            <a:avLst>
              <a:gd name="adj" fmla="val 5333"/>
            </a:avLst>
          </a:prstGeom>
          <a:solidFill>
            <a:schemeClr val="accent4"/>
          </a:solidFill>
          <a:ln/>
        </p:spPr>
      </p:sp>
      <p:sp>
        <p:nvSpPr>
          <p:cNvPr id="14" name="Text 11"/>
          <p:cNvSpPr txBox="1"/>
          <p:nvPr/>
        </p:nvSpPr>
        <p:spPr>
          <a:xfrm>
            <a:off x="621792" y="2916936"/>
            <a:ext cx="3694176" cy="320040"/>
          </a:xfrm>
          <a:prstGeom prst="rect">
            <a:avLst/>
          </a:prstGeom>
          <a:noFill/>
          <a:ln/>
        </p:spPr>
        <p:txBody>
          <a:bodyPr wrap="square" lIns="0" tIns="0" rIns="0" bIns="0" rtlCol="0" anchor="t"/>
          <a:lstStyle/>
          <a:p>
            <a:pPr marL="0" indent="0">
              <a:buNone/>
            </a:pPr>
            <a:r>
              <a:rPr lang="en-US" sz="1500" b="1" dirty="0">
                <a:solidFill>
                  <a:schemeClr val="bg1"/>
                </a:solidFill>
              </a:rPr>
              <a:t>Effect saved, key not saved</a:t>
            </a:r>
            <a:endParaRPr lang="en-US" sz="1500" dirty="0"/>
          </a:p>
        </p:txBody>
      </p:sp>
      <p:sp>
        <p:nvSpPr>
          <p:cNvPr id="15" name="Text 12"/>
          <p:cNvSpPr txBox="1"/>
          <p:nvPr/>
        </p:nvSpPr>
        <p:spPr>
          <a:xfrm>
            <a:off x="621792" y="3282696"/>
            <a:ext cx="3694176" cy="731520"/>
          </a:xfrm>
          <a:prstGeom prst="rect">
            <a:avLst/>
          </a:prstGeom>
          <a:noFill/>
          <a:ln/>
        </p:spPr>
        <p:txBody>
          <a:bodyPr wrap="square" lIns="0" tIns="0" rIns="0" bIns="0" rtlCol="0" anchor="t"/>
          <a:lstStyle/>
          <a:p>
            <a:pPr marL="0" indent="0">
              <a:buNone/>
            </a:pPr>
            <a:r>
              <a:rPr lang="en-US" sz="1400" dirty="0">
                <a:solidFill>
                  <a:schemeClr val="bg1"/>
                </a:solidFill>
              </a:rPr>
              <a:t>A retry repeats the effect. Result: a double debit.</a:t>
            </a:r>
            <a:endParaRPr lang="en-US" sz="1400" dirty="0"/>
          </a:p>
        </p:txBody>
      </p:sp>
      <p:sp>
        <p:nvSpPr>
          <p:cNvPr id="16" name="Shape 13"/>
          <p:cNvSpPr/>
          <p:nvPr/>
        </p:nvSpPr>
        <p:spPr>
          <a:xfrm>
            <a:off x="4663440" y="2788920"/>
            <a:ext cx="4023360" cy="1371600"/>
          </a:xfrm>
          <a:prstGeom prst="roundRect">
            <a:avLst>
              <a:gd name="adj" fmla="val 5333"/>
            </a:avLst>
          </a:prstGeom>
          <a:solidFill>
            <a:schemeClr val="accent4"/>
          </a:solidFill>
          <a:ln/>
        </p:spPr>
      </p:sp>
      <p:sp>
        <p:nvSpPr>
          <p:cNvPr id="17" name="Text 14"/>
          <p:cNvSpPr txBox="1"/>
          <p:nvPr/>
        </p:nvSpPr>
        <p:spPr>
          <a:xfrm>
            <a:off x="4828032" y="2916936"/>
            <a:ext cx="3694176" cy="320040"/>
          </a:xfrm>
          <a:prstGeom prst="rect">
            <a:avLst/>
          </a:prstGeom>
          <a:noFill/>
          <a:ln/>
        </p:spPr>
        <p:txBody>
          <a:bodyPr wrap="square" lIns="0" tIns="0" rIns="0" bIns="0" rtlCol="0" anchor="t"/>
          <a:lstStyle/>
          <a:p>
            <a:pPr marL="0" indent="0">
              <a:buNone/>
            </a:pPr>
            <a:r>
              <a:rPr lang="en-US" sz="1500" b="1" dirty="0">
                <a:solidFill>
                  <a:schemeClr val="bg1"/>
                </a:solidFill>
              </a:rPr>
              <a:t>Key saved, effect not saved</a:t>
            </a:r>
            <a:endParaRPr lang="en-US" sz="1500" dirty="0"/>
          </a:p>
        </p:txBody>
      </p:sp>
      <p:sp>
        <p:nvSpPr>
          <p:cNvPr id="18" name="Text 15"/>
          <p:cNvSpPr txBox="1"/>
          <p:nvPr/>
        </p:nvSpPr>
        <p:spPr>
          <a:xfrm>
            <a:off x="4828032" y="3282696"/>
            <a:ext cx="3694176" cy="731520"/>
          </a:xfrm>
          <a:prstGeom prst="rect">
            <a:avLst/>
          </a:prstGeom>
          <a:noFill/>
          <a:ln/>
        </p:spPr>
        <p:txBody>
          <a:bodyPr wrap="square" lIns="0" tIns="0" rIns="0" bIns="0" rtlCol="0" anchor="t"/>
          <a:lstStyle/>
          <a:p>
            <a:pPr marL="0" indent="0">
              <a:buNone/>
            </a:pPr>
            <a:r>
              <a:rPr lang="en-US" sz="1400" dirty="0">
                <a:solidFill>
                  <a:schemeClr val="bg1"/>
                </a:solidFill>
              </a:rPr>
              <a:t>A retry replays a "success" for money that never moved.</a:t>
            </a:r>
            <a:endParaRPr lang="en-US" sz="1400" dirty="0"/>
          </a:p>
        </p:txBody>
      </p:sp>
      <p:sp>
        <p:nvSpPr>
          <p:cNvPr id="19" name="Text 16"/>
          <p:cNvSpPr txBox="1"/>
          <p:nvPr/>
        </p:nvSpPr>
        <p:spPr>
          <a:xfrm>
            <a:off x="457200" y="4251960"/>
            <a:ext cx="8229600" cy="411480"/>
          </a:xfrm>
          <a:prstGeom prst="rect">
            <a:avLst/>
          </a:prstGeom>
          <a:noFill/>
          <a:ln/>
        </p:spPr>
        <p:txBody>
          <a:bodyPr wrap="square" lIns="0" tIns="0" rIns="0" bIns="0" rtlCol="0" anchor="t"/>
          <a:lstStyle/>
          <a:p>
            <a:pPr marL="0" indent="0">
              <a:buNone/>
            </a:pPr>
            <a:r>
              <a:rPr lang="en-US" sz="1200" dirty="0">
                <a:solidFill>
                  <a:schemeClr val="tx1"/>
                </a:solidFill>
              </a:rPr>
              <a:t>The ledger is append-only (a database trigger blocks edits). Balance updates use WHERE last_seq = ?, so racing writes cannot both win.</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Layer 2: outbox and inbox</a:t>
            </a:r>
            <a:endParaRPr lang="en-US" sz="3200" dirty="0"/>
          </a:p>
        </p:txBody>
      </p:sp>
      <p:sp>
        <p:nvSpPr>
          <p:cNvPr id="3" name="Text 1"/>
          <p:cNvSpPr txBox="1"/>
          <p:nvPr/>
        </p:nvSpPr>
        <p:spPr>
          <a:xfrm>
            <a:off x="457200" y="4754880"/>
            <a:ext cx="2743200" cy="228600"/>
          </a:xfrm>
          <a:prstGeom prst="rect">
            <a:avLst/>
          </a:prstGeom>
          <a:noFill/>
          <a:ln/>
        </p:spPr>
        <p:txBody>
          <a:bodyPr wrap="square" lIns="0" tIns="0" rIns="0" bIns="0" rtlCol="0" anchor="t"/>
          <a:lstStyle/>
          <a:p>
            <a:pPr marL="0" indent="0">
              <a:buNone/>
            </a:pPr>
            <a:r>
              <a:rPr lang="en-US" sz="1000" dirty="0">
                <a:solidFill>
                  <a:schemeClr val="accent5"/>
                </a:solidFill>
              </a:rPr>
              <a:t>Presenter: Member 7</a:t>
            </a:r>
            <a:endParaRPr lang="en-US" sz="1000" dirty="0"/>
          </a:p>
        </p:txBody>
      </p:sp>
      <p:sp>
        <p:nvSpPr>
          <p:cNvPr id="5" name="Shape 2"/>
          <p:cNvSpPr/>
          <p:nvPr/>
        </p:nvSpPr>
        <p:spPr>
          <a:xfrm>
            <a:off x="457200" y="1188720"/>
            <a:ext cx="1783080" cy="1051560"/>
          </a:xfrm>
          <a:prstGeom prst="roundRect">
            <a:avLst>
              <a:gd name="adj" fmla="val 6957"/>
            </a:avLst>
          </a:prstGeom>
          <a:solidFill>
            <a:schemeClr val="accent1"/>
          </a:solidFill>
          <a:ln/>
        </p:spPr>
      </p:sp>
      <p:sp>
        <p:nvSpPr>
          <p:cNvPr id="6" name="Text 3"/>
          <p:cNvSpPr txBox="1"/>
          <p:nvPr/>
        </p:nvSpPr>
        <p:spPr>
          <a:xfrm>
            <a:off x="457200" y="1298448"/>
            <a:ext cx="1783080" cy="320040"/>
          </a:xfrm>
          <a:prstGeom prst="rect">
            <a:avLst/>
          </a:prstGeom>
          <a:noFill/>
          <a:ln/>
        </p:spPr>
        <p:txBody>
          <a:bodyPr wrap="square" lIns="0" tIns="0" rIns="0" bIns="0" rtlCol="0" anchor="t"/>
          <a:lstStyle/>
          <a:p>
            <a:pPr marL="0" indent="0" algn="ctr">
              <a:buNone/>
            </a:pPr>
            <a:r>
              <a:rPr lang="en-US" sz="1500" b="1" dirty="0">
                <a:solidFill>
                  <a:schemeClr val="bg1"/>
                </a:solidFill>
              </a:rPr>
              <a:t>Transaction</a:t>
            </a:r>
            <a:endParaRPr lang="en-US" sz="1500" dirty="0"/>
          </a:p>
        </p:txBody>
      </p:sp>
      <p:sp>
        <p:nvSpPr>
          <p:cNvPr id="7" name="Text 4"/>
          <p:cNvSpPr txBox="1"/>
          <p:nvPr/>
        </p:nvSpPr>
        <p:spPr>
          <a:xfrm>
            <a:off x="548640" y="1691640"/>
            <a:ext cx="1600200" cy="457200"/>
          </a:xfrm>
          <a:prstGeom prst="rect">
            <a:avLst/>
          </a:prstGeom>
          <a:noFill/>
          <a:ln/>
        </p:spPr>
        <p:txBody>
          <a:bodyPr wrap="square" lIns="0" tIns="0" rIns="0" bIns="0" rtlCol="0" anchor="t"/>
          <a:lstStyle/>
          <a:p>
            <a:pPr marL="0" indent="0" algn="ctr">
              <a:buNone/>
            </a:pPr>
            <a:r>
              <a:rPr lang="en-US" sz="1200" dirty="0">
                <a:solidFill>
                  <a:schemeClr val="bg1"/>
                </a:solidFill>
              </a:rPr>
              <a:t>data + outbox row</a:t>
            </a:r>
            <a:endParaRPr lang="en-US" sz="1200" dirty="0"/>
          </a:p>
        </p:txBody>
      </p:sp>
      <p:sp>
        <p:nvSpPr>
          <p:cNvPr id="8" name="Shape 5"/>
          <p:cNvSpPr/>
          <p:nvPr/>
        </p:nvSpPr>
        <p:spPr>
          <a:xfrm>
            <a:off x="2240280" y="1714500"/>
            <a:ext cx="365760" cy="0"/>
          </a:xfrm>
          <a:prstGeom prst="line">
            <a:avLst/>
          </a:prstGeom>
          <a:noFill/>
          <a:ln w="25400">
            <a:solidFill>
              <a:schemeClr val="accent5"/>
            </a:solidFill>
            <a:prstDash val="solid"/>
            <a:tailEnd type="triangle"/>
          </a:ln>
        </p:spPr>
      </p:sp>
      <p:sp>
        <p:nvSpPr>
          <p:cNvPr id="9" name="Shape 6"/>
          <p:cNvSpPr/>
          <p:nvPr/>
        </p:nvSpPr>
        <p:spPr>
          <a:xfrm>
            <a:off x="2606040" y="1188720"/>
            <a:ext cx="1783080" cy="1051560"/>
          </a:xfrm>
          <a:prstGeom prst="roundRect">
            <a:avLst>
              <a:gd name="adj" fmla="val 6957"/>
            </a:avLst>
          </a:prstGeom>
          <a:solidFill>
            <a:schemeClr val="accent1"/>
          </a:solidFill>
          <a:ln/>
        </p:spPr>
      </p:sp>
      <p:sp>
        <p:nvSpPr>
          <p:cNvPr id="10" name="Text 7"/>
          <p:cNvSpPr txBox="1"/>
          <p:nvPr/>
        </p:nvSpPr>
        <p:spPr>
          <a:xfrm>
            <a:off x="2606040" y="1298448"/>
            <a:ext cx="1783080" cy="320040"/>
          </a:xfrm>
          <a:prstGeom prst="rect">
            <a:avLst/>
          </a:prstGeom>
          <a:noFill/>
          <a:ln/>
        </p:spPr>
        <p:txBody>
          <a:bodyPr wrap="square" lIns="0" tIns="0" rIns="0" bIns="0" rtlCol="0" anchor="t"/>
          <a:lstStyle/>
          <a:p>
            <a:pPr marL="0" indent="0" algn="ctr">
              <a:buNone/>
            </a:pPr>
            <a:r>
              <a:rPr lang="en-US" sz="1500" b="1" dirty="0">
                <a:solidFill>
                  <a:schemeClr val="bg1"/>
                </a:solidFill>
              </a:rPr>
              <a:t>Relay</a:t>
            </a:r>
            <a:endParaRPr lang="en-US" sz="1500" dirty="0"/>
          </a:p>
        </p:txBody>
      </p:sp>
      <p:sp>
        <p:nvSpPr>
          <p:cNvPr id="11" name="Text 8"/>
          <p:cNvSpPr txBox="1"/>
          <p:nvPr/>
        </p:nvSpPr>
        <p:spPr>
          <a:xfrm>
            <a:off x="2697480" y="1691640"/>
            <a:ext cx="1600200" cy="457200"/>
          </a:xfrm>
          <a:prstGeom prst="rect">
            <a:avLst/>
          </a:prstGeom>
          <a:noFill/>
          <a:ln/>
        </p:spPr>
        <p:txBody>
          <a:bodyPr wrap="square" lIns="0" tIns="0" rIns="0" bIns="0" rtlCol="0" anchor="t"/>
          <a:lstStyle/>
          <a:p>
            <a:pPr marL="0" indent="0" algn="ctr">
              <a:buNone/>
            </a:pPr>
            <a:r>
              <a:rPr lang="en-US" sz="1200" dirty="0">
                <a:solidFill>
                  <a:schemeClr val="bg1"/>
                </a:solidFill>
              </a:rPr>
              <a:t>every 1 s, SKIP LOCKED</a:t>
            </a:r>
            <a:endParaRPr lang="en-US" sz="1200" dirty="0"/>
          </a:p>
        </p:txBody>
      </p:sp>
      <p:sp>
        <p:nvSpPr>
          <p:cNvPr id="12" name="Shape 9"/>
          <p:cNvSpPr/>
          <p:nvPr/>
        </p:nvSpPr>
        <p:spPr>
          <a:xfrm>
            <a:off x="4389120" y="1714500"/>
            <a:ext cx="365760" cy="0"/>
          </a:xfrm>
          <a:prstGeom prst="line">
            <a:avLst/>
          </a:prstGeom>
          <a:noFill/>
          <a:ln w="25400">
            <a:solidFill>
              <a:schemeClr val="accent5"/>
            </a:solidFill>
            <a:prstDash val="solid"/>
            <a:tailEnd type="triangle"/>
          </a:ln>
        </p:spPr>
      </p:sp>
      <p:sp>
        <p:nvSpPr>
          <p:cNvPr id="13" name="Shape 10"/>
          <p:cNvSpPr/>
          <p:nvPr/>
        </p:nvSpPr>
        <p:spPr>
          <a:xfrm>
            <a:off x="4754880" y="1188720"/>
            <a:ext cx="1783080" cy="1051560"/>
          </a:xfrm>
          <a:prstGeom prst="roundRect">
            <a:avLst>
              <a:gd name="adj" fmla="val 6957"/>
            </a:avLst>
          </a:prstGeom>
          <a:solidFill>
            <a:schemeClr val="accent1"/>
          </a:solidFill>
          <a:ln/>
        </p:spPr>
      </p:sp>
      <p:sp>
        <p:nvSpPr>
          <p:cNvPr id="14" name="Text 11"/>
          <p:cNvSpPr txBox="1"/>
          <p:nvPr/>
        </p:nvSpPr>
        <p:spPr>
          <a:xfrm>
            <a:off x="4754880" y="1298448"/>
            <a:ext cx="1783080" cy="320040"/>
          </a:xfrm>
          <a:prstGeom prst="rect">
            <a:avLst/>
          </a:prstGeom>
          <a:noFill/>
          <a:ln/>
        </p:spPr>
        <p:txBody>
          <a:bodyPr wrap="square" lIns="0" tIns="0" rIns="0" bIns="0" rtlCol="0" anchor="t"/>
          <a:lstStyle/>
          <a:p>
            <a:pPr marL="0" indent="0" algn="ctr">
              <a:buNone/>
            </a:pPr>
            <a:r>
              <a:rPr lang="en-US" sz="1500" b="1" dirty="0">
                <a:solidFill>
                  <a:schemeClr val="bg1"/>
                </a:solidFill>
              </a:rPr>
              <a:t>RabbitMQ</a:t>
            </a:r>
            <a:endParaRPr lang="en-US" sz="1500" dirty="0"/>
          </a:p>
        </p:txBody>
      </p:sp>
      <p:sp>
        <p:nvSpPr>
          <p:cNvPr id="15" name="Text 12"/>
          <p:cNvSpPr txBox="1"/>
          <p:nvPr/>
        </p:nvSpPr>
        <p:spPr>
          <a:xfrm>
            <a:off x="4846320" y="1691640"/>
            <a:ext cx="1600200" cy="457200"/>
          </a:xfrm>
          <a:prstGeom prst="rect">
            <a:avLst/>
          </a:prstGeom>
          <a:noFill/>
          <a:ln/>
        </p:spPr>
        <p:txBody>
          <a:bodyPr wrap="square" lIns="0" tIns="0" rIns="0" bIns="0" rtlCol="0" anchor="t"/>
          <a:lstStyle/>
          <a:p>
            <a:pPr marL="0" indent="0" algn="ctr">
              <a:buNone/>
            </a:pPr>
            <a:r>
              <a:rPr lang="en-US" sz="1200" dirty="0">
                <a:solidFill>
                  <a:schemeClr val="bg1"/>
                </a:solidFill>
              </a:rPr>
              <a:t>at-least-once, durable</a:t>
            </a:r>
            <a:endParaRPr lang="en-US" sz="1200" dirty="0"/>
          </a:p>
        </p:txBody>
      </p:sp>
      <p:sp>
        <p:nvSpPr>
          <p:cNvPr id="16" name="Shape 13"/>
          <p:cNvSpPr/>
          <p:nvPr/>
        </p:nvSpPr>
        <p:spPr>
          <a:xfrm>
            <a:off x="6537960" y="1714500"/>
            <a:ext cx="365760" cy="0"/>
          </a:xfrm>
          <a:prstGeom prst="line">
            <a:avLst/>
          </a:prstGeom>
          <a:noFill/>
          <a:ln w="25400">
            <a:solidFill>
              <a:schemeClr val="accent5"/>
            </a:solidFill>
            <a:prstDash val="solid"/>
            <a:tailEnd type="triangle"/>
          </a:ln>
        </p:spPr>
      </p:sp>
      <p:sp>
        <p:nvSpPr>
          <p:cNvPr id="17" name="Shape 14"/>
          <p:cNvSpPr/>
          <p:nvPr/>
        </p:nvSpPr>
        <p:spPr>
          <a:xfrm>
            <a:off x="6903720" y="1188720"/>
            <a:ext cx="1783080" cy="1051560"/>
          </a:xfrm>
          <a:prstGeom prst="roundRect">
            <a:avLst>
              <a:gd name="adj" fmla="val 6957"/>
            </a:avLst>
          </a:prstGeom>
          <a:solidFill>
            <a:schemeClr val="accent2"/>
          </a:solidFill>
          <a:ln/>
        </p:spPr>
      </p:sp>
      <p:sp>
        <p:nvSpPr>
          <p:cNvPr id="18" name="Text 15"/>
          <p:cNvSpPr txBox="1"/>
          <p:nvPr/>
        </p:nvSpPr>
        <p:spPr>
          <a:xfrm>
            <a:off x="6903720" y="1298448"/>
            <a:ext cx="1783080" cy="320040"/>
          </a:xfrm>
          <a:prstGeom prst="rect">
            <a:avLst/>
          </a:prstGeom>
          <a:noFill/>
          <a:ln/>
        </p:spPr>
        <p:txBody>
          <a:bodyPr wrap="square" lIns="0" tIns="0" rIns="0" bIns="0" rtlCol="0" anchor="t"/>
          <a:lstStyle/>
          <a:p>
            <a:pPr marL="0" indent="0" algn="ctr">
              <a:buNone/>
            </a:pPr>
            <a:r>
              <a:rPr lang="en-US" sz="1500" b="1" dirty="0">
                <a:solidFill>
                  <a:schemeClr val="tx1"/>
                </a:solidFill>
              </a:rPr>
              <a:t>Inbox</a:t>
            </a:r>
            <a:endParaRPr lang="en-US" sz="1500" dirty="0"/>
          </a:p>
        </p:txBody>
      </p:sp>
      <p:sp>
        <p:nvSpPr>
          <p:cNvPr id="19" name="Text 16"/>
          <p:cNvSpPr txBox="1"/>
          <p:nvPr/>
        </p:nvSpPr>
        <p:spPr>
          <a:xfrm>
            <a:off x="6995160" y="1691640"/>
            <a:ext cx="1600200" cy="457200"/>
          </a:xfrm>
          <a:prstGeom prst="rect">
            <a:avLst/>
          </a:prstGeom>
          <a:noFill/>
          <a:ln/>
        </p:spPr>
        <p:txBody>
          <a:bodyPr wrap="square" lIns="0" tIns="0" rIns="0" bIns="0" rtlCol="0" anchor="t"/>
          <a:lstStyle/>
          <a:p>
            <a:pPr marL="0" indent="0" algn="ctr">
              <a:buNone/>
            </a:pPr>
            <a:r>
              <a:rPr lang="en-US" sz="1200" dirty="0">
                <a:solidFill>
                  <a:schemeClr val="tx1"/>
                </a:solidFill>
              </a:rPr>
              <a:t>new ID: act. Seen ID: skip</a:t>
            </a:r>
            <a:endParaRPr lang="en-US" sz="1200" dirty="0"/>
          </a:p>
        </p:txBody>
      </p:sp>
      <p:sp>
        <p:nvSpPr>
          <p:cNvPr id="20" name="Shape 17"/>
          <p:cNvSpPr/>
          <p:nvPr/>
        </p:nvSpPr>
        <p:spPr>
          <a:xfrm>
            <a:off x="457200" y="2560320"/>
            <a:ext cx="4023360" cy="1417320"/>
          </a:xfrm>
          <a:prstGeom prst="roundRect">
            <a:avLst>
              <a:gd name="adj" fmla="val 5161"/>
            </a:avLst>
          </a:prstGeom>
          <a:solidFill>
            <a:schemeClr val="bg2"/>
          </a:solidFill>
          <a:ln/>
        </p:spPr>
      </p:sp>
      <p:sp>
        <p:nvSpPr>
          <p:cNvPr id="21" name="Text 18"/>
          <p:cNvSpPr txBox="1"/>
          <p:nvPr/>
        </p:nvSpPr>
        <p:spPr>
          <a:xfrm>
            <a:off x="621792" y="2688336"/>
            <a:ext cx="3694176" cy="320040"/>
          </a:xfrm>
          <a:prstGeom prst="rect">
            <a:avLst/>
          </a:prstGeom>
          <a:noFill/>
          <a:ln/>
        </p:spPr>
        <p:txBody>
          <a:bodyPr wrap="square" lIns="0" tIns="0" rIns="0" bIns="0" rtlCol="0" anchor="t"/>
          <a:lstStyle/>
          <a:p>
            <a:pPr marL="0" indent="0">
              <a:buNone/>
            </a:pPr>
            <a:r>
              <a:rPr lang="en-US" sz="1500" b="1" dirty="0">
                <a:solidFill>
                  <a:schemeClr val="tx1"/>
                </a:solidFill>
              </a:rPr>
              <a:t>Outbox: no lost message</a:t>
            </a:r>
            <a:endParaRPr lang="en-US" sz="1500" dirty="0"/>
          </a:p>
        </p:txBody>
      </p:sp>
      <p:sp>
        <p:nvSpPr>
          <p:cNvPr id="22" name="Text 19"/>
          <p:cNvSpPr txBox="1"/>
          <p:nvPr/>
        </p:nvSpPr>
        <p:spPr>
          <a:xfrm>
            <a:off x="621792" y="3054096"/>
            <a:ext cx="3694176" cy="777240"/>
          </a:xfrm>
          <a:prstGeom prst="rect">
            <a:avLst/>
          </a:prstGeom>
          <a:noFill/>
          <a:ln/>
        </p:spPr>
        <p:txBody>
          <a:bodyPr wrap="square" lIns="0" tIns="0" rIns="0" bIns="0" rtlCol="0" anchor="t"/>
          <a:lstStyle/>
          <a:p>
            <a:pPr marL="0" indent="0">
              <a:buNone/>
            </a:pPr>
            <a:r>
              <a:rPr lang="en-US" sz="1400" dirty="0">
                <a:solidFill>
                  <a:schemeClr val="tx1"/>
                </a:solidFill>
              </a:rPr>
              <a:t>Save then publish can lose the message. Writing it in the same transaction means it is never lost.</a:t>
            </a:r>
            <a:endParaRPr lang="en-US" sz="1400" dirty="0"/>
          </a:p>
        </p:txBody>
      </p:sp>
      <p:sp>
        <p:nvSpPr>
          <p:cNvPr id="23" name="Shape 20"/>
          <p:cNvSpPr/>
          <p:nvPr/>
        </p:nvSpPr>
        <p:spPr>
          <a:xfrm>
            <a:off x="4663440" y="2560320"/>
            <a:ext cx="4023360" cy="1417320"/>
          </a:xfrm>
          <a:prstGeom prst="roundRect">
            <a:avLst>
              <a:gd name="adj" fmla="val 5161"/>
            </a:avLst>
          </a:prstGeom>
          <a:solidFill>
            <a:schemeClr val="bg2"/>
          </a:solidFill>
          <a:ln/>
        </p:spPr>
      </p:sp>
      <p:sp>
        <p:nvSpPr>
          <p:cNvPr id="24" name="Text 21"/>
          <p:cNvSpPr txBox="1"/>
          <p:nvPr/>
        </p:nvSpPr>
        <p:spPr>
          <a:xfrm>
            <a:off x="4828032" y="2688336"/>
            <a:ext cx="3694176" cy="320040"/>
          </a:xfrm>
          <a:prstGeom prst="rect">
            <a:avLst/>
          </a:prstGeom>
          <a:noFill/>
          <a:ln/>
        </p:spPr>
        <p:txBody>
          <a:bodyPr wrap="square" lIns="0" tIns="0" rIns="0" bIns="0" rtlCol="0" anchor="t"/>
          <a:lstStyle/>
          <a:p>
            <a:pPr marL="0" indent="0">
              <a:buNone/>
            </a:pPr>
            <a:r>
              <a:rPr lang="en-US" sz="1500" b="1" dirty="0">
                <a:solidFill>
                  <a:schemeClr val="tx1"/>
                </a:solidFill>
              </a:rPr>
              <a:t>Inbox: no double effect</a:t>
            </a:r>
            <a:endParaRPr lang="en-US" sz="1500" dirty="0"/>
          </a:p>
        </p:txBody>
      </p:sp>
      <p:sp>
        <p:nvSpPr>
          <p:cNvPr id="25" name="Text 22"/>
          <p:cNvSpPr txBox="1"/>
          <p:nvPr/>
        </p:nvSpPr>
        <p:spPr>
          <a:xfrm>
            <a:off x="4828032" y="3054096"/>
            <a:ext cx="3694176" cy="777240"/>
          </a:xfrm>
          <a:prstGeom prst="rect">
            <a:avLst/>
          </a:prstGeom>
          <a:noFill/>
          <a:ln/>
        </p:spPr>
        <p:txBody>
          <a:bodyPr wrap="square" lIns="0" tIns="0" rIns="0" bIns="0" rtlCol="0" anchor="t"/>
          <a:lstStyle/>
          <a:p>
            <a:pPr marL="0" indent="0">
              <a:buNone/>
            </a:pPr>
            <a:r>
              <a:rPr lang="en-US" sz="1400" dirty="0">
                <a:solidFill>
                  <a:schemeClr val="tx1"/>
                </a:solidFill>
              </a:rPr>
              <a:t>The relay may publish twice. A repeated message ID is skipped, so the effect happens once.</a:t>
            </a:r>
            <a:endParaRPr lang="en-US" sz="1400" dirty="0"/>
          </a:p>
        </p:txBody>
      </p:sp>
      <p:sp>
        <p:nvSpPr>
          <p:cNvPr id="26" name="Text 23"/>
          <p:cNvSpPr txBox="1"/>
          <p:nvPr/>
        </p:nvSpPr>
        <p:spPr>
          <a:xfrm>
            <a:off x="457200" y="4160520"/>
            <a:ext cx="8229600" cy="320040"/>
          </a:xfrm>
          <a:prstGeom prst="rect">
            <a:avLst/>
          </a:prstGeom>
          <a:noFill/>
          <a:ln/>
        </p:spPr>
        <p:txBody>
          <a:bodyPr wrap="square" lIns="0" tIns="0" rIns="0" bIns="0" rtlCol="0" anchor="t"/>
          <a:lstStyle/>
          <a:p>
            <a:pPr marL="0" indent="0">
              <a:buNone/>
            </a:pPr>
            <a:r>
              <a:rPr lang="en-US" sz="1400" b="1" dirty="0">
                <a:solidFill>
                  <a:schemeClr val="tx2"/>
                </a:solidFill>
              </a:rPr>
              <a:t>Bad messages retry 3 times, then go to the dead-letter queue.</a:t>
            </a:r>
            <a:endParaRPr lang="en-US" sz="1400" dirty="0"/>
          </a:p>
        </p:txBody>
      </p:sp>
      <p:sp>
        <p:nvSpPr>
          <p:cNvPr id="4"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7</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Proof: we break it on purpose</a:t>
            </a:r>
            <a:endParaRPr lang="en-US" sz="3200" dirty="0"/>
          </a:p>
        </p:txBody>
      </p:sp>
      <p:sp>
        <p:nvSpPr>
          <p:cNvPr id="3" name="Text 1"/>
          <p:cNvSpPr txBox="1"/>
          <p:nvPr/>
        </p:nvSpPr>
        <p:spPr>
          <a:xfrm>
            <a:off x="457200" y="4754880"/>
            <a:ext cx="2743200" cy="228600"/>
          </a:xfrm>
          <a:prstGeom prst="rect">
            <a:avLst/>
          </a:prstGeom>
          <a:noFill/>
          <a:ln/>
        </p:spPr>
        <p:txBody>
          <a:bodyPr wrap="square" lIns="0" tIns="0" rIns="0" bIns="0" rtlCol="0" anchor="t"/>
          <a:lstStyle/>
          <a:p>
            <a:pPr marL="0" indent="0">
              <a:buNone/>
            </a:pPr>
            <a:r>
              <a:rPr lang="en-US" sz="1000" dirty="0">
                <a:solidFill>
                  <a:schemeClr val="accent5"/>
                </a:solidFill>
              </a:rPr>
              <a:t>Presenter: Member 8</a:t>
            </a:r>
            <a:endParaRPr lang="en-US" sz="1000" dirty="0"/>
          </a:p>
        </p:txBody>
      </p:sp>
      <p:sp>
        <p:nvSpPr>
          <p:cNvPr id="5" name="Text 2"/>
          <p:cNvSpPr txBox="1"/>
          <p:nvPr/>
        </p:nvSpPr>
        <p:spPr>
          <a:xfrm>
            <a:off x="457200" y="1143000"/>
            <a:ext cx="3474720" cy="320040"/>
          </a:xfrm>
          <a:prstGeom prst="rect">
            <a:avLst/>
          </a:prstGeom>
          <a:noFill/>
          <a:ln/>
        </p:spPr>
        <p:txBody>
          <a:bodyPr wrap="square" lIns="0" tIns="0" rIns="0" bIns="0" rtlCol="0" anchor="t"/>
          <a:lstStyle/>
          <a:p>
            <a:pPr marL="0" indent="0">
              <a:buNone/>
            </a:pPr>
            <a:r>
              <a:rPr lang="en-US" sz="1600" b="1" dirty="0">
                <a:solidFill>
                  <a:schemeClr val="tx2"/>
                </a:solidFill>
              </a:rPr>
              <a:t>50 identical requests at once</a:t>
            </a:r>
            <a:endParaRPr lang="en-US" sz="1600" dirty="0"/>
          </a:p>
        </p:txBody>
      </p:sp>
      <p:sp>
        <p:nvSpPr>
          <p:cNvPr id="6" name="Shape 3"/>
          <p:cNvSpPr/>
          <p:nvPr/>
        </p:nvSpPr>
        <p:spPr>
          <a:xfrm>
            <a:off x="457200" y="1600200"/>
            <a:ext cx="3474720" cy="841248"/>
          </a:xfrm>
          <a:prstGeom prst="roundRect">
            <a:avLst>
              <a:gd name="adj" fmla="val 8696"/>
            </a:avLst>
          </a:prstGeom>
          <a:solidFill>
            <a:schemeClr val="bg2"/>
          </a:solidFill>
          <a:ln/>
        </p:spPr>
      </p:sp>
      <p:sp>
        <p:nvSpPr>
          <p:cNvPr id="7" name="Text 4"/>
          <p:cNvSpPr txBox="1"/>
          <p:nvPr/>
        </p:nvSpPr>
        <p:spPr>
          <a:xfrm>
            <a:off x="594360" y="1600200"/>
            <a:ext cx="1188720" cy="841248"/>
          </a:xfrm>
          <a:prstGeom prst="rect">
            <a:avLst/>
          </a:prstGeom>
          <a:noFill/>
          <a:ln/>
        </p:spPr>
        <p:txBody>
          <a:bodyPr wrap="square" lIns="0" tIns="0" rIns="0" bIns="0" rtlCol="0" anchor="ctr"/>
          <a:lstStyle/>
          <a:p>
            <a:pPr marL="0" indent="0">
              <a:buNone/>
            </a:pPr>
            <a:r>
              <a:rPr lang="en-US" sz="3000" b="1" dirty="0">
                <a:solidFill>
                  <a:schemeClr val="accent1"/>
                </a:solidFill>
              </a:rPr>
              <a:t>1</a:t>
            </a:r>
            <a:endParaRPr lang="en-US" sz="3000" dirty="0"/>
          </a:p>
        </p:txBody>
      </p:sp>
      <p:sp>
        <p:nvSpPr>
          <p:cNvPr id="8" name="Text 5"/>
          <p:cNvSpPr txBox="1"/>
          <p:nvPr/>
        </p:nvSpPr>
        <p:spPr>
          <a:xfrm>
            <a:off x="1828800" y="1600200"/>
            <a:ext cx="2011680" cy="841248"/>
          </a:xfrm>
          <a:prstGeom prst="rect">
            <a:avLst/>
          </a:prstGeom>
          <a:noFill/>
          <a:ln/>
        </p:spPr>
        <p:txBody>
          <a:bodyPr wrap="square" lIns="0" tIns="0" rIns="0" bIns="0" rtlCol="0" anchor="ctr"/>
          <a:lstStyle/>
          <a:p>
            <a:pPr marL="0" indent="0">
              <a:buNone/>
            </a:pPr>
            <a:r>
              <a:rPr lang="en-US" sz="1300" dirty="0">
                <a:solidFill>
                  <a:schemeClr val="tx1"/>
                </a:solidFill>
              </a:rPr>
              <a:t>ledger event</a:t>
            </a:r>
            <a:endParaRPr lang="en-US" sz="1300" dirty="0"/>
          </a:p>
        </p:txBody>
      </p:sp>
      <p:sp>
        <p:nvSpPr>
          <p:cNvPr id="9" name="Shape 6"/>
          <p:cNvSpPr/>
          <p:nvPr/>
        </p:nvSpPr>
        <p:spPr>
          <a:xfrm>
            <a:off x="457200" y="2560320"/>
            <a:ext cx="3474720" cy="841248"/>
          </a:xfrm>
          <a:prstGeom prst="roundRect">
            <a:avLst>
              <a:gd name="adj" fmla="val 8696"/>
            </a:avLst>
          </a:prstGeom>
          <a:solidFill>
            <a:schemeClr val="bg2"/>
          </a:solidFill>
          <a:ln/>
        </p:spPr>
      </p:sp>
      <p:sp>
        <p:nvSpPr>
          <p:cNvPr id="10" name="Text 7"/>
          <p:cNvSpPr txBox="1"/>
          <p:nvPr/>
        </p:nvSpPr>
        <p:spPr>
          <a:xfrm>
            <a:off x="594360" y="2560320"/>
            <a:ext cx="1188720" cy="841248"/>
          </a:xfrm>
          <a:prstGeom prst="rect">
            <a:avLst/>
          </a:prstGeom>
          <a:noFill/>
          <a:ln/>
        </p:spPr>
        <p:txBody>
          <a:bodyPr wrap="square" lIns="0" tIns="0" rIns="0" bIns="0" rtlCol="0" anchor="ctr"/>
          <a:lstStyle/>
          <a:p>
            <a:pPr marL="0" indent="0">
              <a:buNone/>
            </a:pPr>
            <a:r>
              <a:rPr lang="en-US" sz="3000" b="1" dirty="0">
                <a:solidFill>
                  <a:schemeClr val="accent1"/>
                </a:solidFill>
              </a:rPr>
              <a:t>49</a:t>
            </a:r>
            <a:endParaRPr lang="en-US" sz="3000" dirty="0"/>
          </a:p>
        </p:txBody>
      </p:sp>
      <p:sp>
        <p:nvSpPr>
          <p:cNvPr id="11" name="Text 8"/>
          <p:cNvSpPr txBox="1"/>
          <p:nvPr/>
        </p:nvSpPr>
        <p:spPr>
          <a:xfrm>
            <a:off x="1828800" y="2560320"/>
            <a:ext cx="2011680" cy="841248"/>
          </a:xfrm>
          <a:prstGeom prst="rect">
            <a:avLst/>
          </a:prstGeom>
          <a:noFill/>
          <a:ln/>
        </p:spPr>
        <p:txBody>
          <a:bodyPr wrap="square" lIns="0" tIns="0" rIns="0" bIns="0" rtlCol="0" anchor="ctr"/>
          <a:lstStyle/>
          <a:p>
            <a:pPr marL="0" indent="0">
              <a:buNone/>
            </a:pPr>
            <a:r>
              <a:rPr lang="en-US" sz="1300" dirty="0">
                <a:solidFill>
                  <a:schemeClr val="tx1"/>
                </a:solidFill>
              </a:rPr>
              <a:t>replays (Idempotent-Replayed: true)</a:t>
            </a:r>
            <a:endParaRPr lang="en-US" sz="1300" dirty="0"/>
          </a:p>
        </p:txBody>
      </p:sp>
      <p:sp>
        <p:nvSpPr>
          <p:cNvPr id="12" name="Shape 9"/>
          <p:cNvSpPr/>
          <p:nvPr/>
        </p:nvSpPr>
        <p:spPr>
          <a:xfrm>
            <a:off x="457200" y="3520440"/>
            <a:ext cx="3474720" cy="841248"/>
          </a:xfrm>
          <a:prstGeom prst="roundRect">
            <a:avLst>
              <a:gd name="adj" fmla="val 8696"/>
            </a:avLst>
          </a:prstGeom>
          <a:solidFill>
            <a:schemeClr val="bg2"/>
          </a:solidFill>
          <a:ln/>
        </p:spPr>
      </p:sp>
      <p:sp>
        <p:nvSpPr>
          <p:cNvPr id="13" name="Text 10"/>
          <p:cNvSpPr txBox="1"/>
          <p:nvPr/>
        </p:nvSpPr>
        <p:spPr>
          <a:xfrm>
            <a:off x="594360" y="3520440"/>
            <a:ext cx="1188720" cy="841248"/>
          </a:xfrm>
          <a:prstGeom prst="rect">
            <a:avLst/>
          </a:prstGeom>
          <a:noFill/>
          <a:ln/>
        </p:spPr>
        <p:txBody>
          <a:bodyPr wrap="square" lIns="0" tIns="0" rIns="0" bIns="0" rtlCol="0" anchor="ctr"/>
          <a:lstStyle/>
          <a:p>
            <a:pPr marL="0" indent="0">
              <a:buNone/>
            </a:pPr>
            <a:r>
              <a:rPr lang="en-US" sz="3000" b="1" dirty="0">
                <a:solidFill>
                  <a:schemeClr val="accent1"/>
                </a:solidFill>
              </a:rPr>
              <a:t>1000</a:t>
            </a:r>
            <a:endParaRPr lang="en-US" sz="3000" dirty="0"/>
          </a:p>
        </p:txBody>
      </p:sp>
      <p:sp>
        <p:nvSpPr>
          <p:cNvPr id="14" name="Text 11"/>
          <p:cNvSpPr txBox="1"/>
          <p:nvPr/>
        </p:nvSpPr>
        <p:spPr>
          <a:xfrm>
            <a:off x="1828800" y="3520440"/>
            <a:ext cx="2011680" cy="841248"/>
          </a:xfrm>
          <a:prstGeom prst="rect">
            <a:avLst/>
          </a:prstGeom>
          <a:noFill/>
          <a:ln/>
        </p:spPr>
        <p:txBody>
          <a:bodyPr wrap="square" lIns="0" tIns="0" rIns="0" bIns="0" rtlCol="0" anchor="ctr"/>
          <a:lstStyle/>
          <a:p>
            <a:pPr marL="0" indent="0">
              <a:buNone/>
            </a:pPr>
            <a:r>
              <a:rPr lang="en-US" sz="1300" dirty="0">
                <a:solidFill>
                  <a:schemeClr val="tx1"/>
                </a:solidFill>
              </a:rPr>
              <a:t>final balance (LKR 10.00)</a:t>
            </a:r>
            <a:endParaRPr lang="en-US" sz="1300" dirty="0"/>
          </a:p>
        </p:txBody>
      </p:sp>
      <p:sp>
        <p:nvSpPr>
          <p:cNvPr id="15" name="Text 12"/>
          <p:cNvSpPr txBox="1"/>
          <p:nvPr/>
        </p:nvSpPr>
        <p:spPr>
          <a:xfrm>
            <a:off x="4297680" y="1143000"/>
            <a:ext cx="4389120" cy="320040"/>
          </a:xfrm>
          <a:prstGeom prst="rect">
            <a:avLst/>
          </a:prstGeom>
          <a:noFill/>
          <a:ln/>
        </p:spPr>
        <p:txBody>
          <a:bodyPr wrap="square" lIns="0" tIns="0" rIns="0" bIns="0" rtlCol="0" anchor="t"/>
          <a:lstStyle/>
          <a:p>
            <a:pPr marL="0" indent="0">
              <a:buNone/>
            </a:pPr>
            <a:r>
              <a:rPr lang="en-US" sz="1600" b="1" dirty="0">
                <a:solidFill>
                  <a:schemeClr val="tx2"/>
                </a:solidFill>
              </a:rPr>
              <a:t>Chaos switches</a:t>
            </a:r>
            <a:endParaRPr lang="en-US" sz="1600" dirty="0"/>
          </a:p>
        </p:txBody>
      </p:sp>
      <p:sp>
        <p:nvSpPr>
          <p:cNvPr id="16" name="Shape 13"/>
          <p:cNvSpPr/>
          <p:nvPr/>
        </p:nvSpPr>
        <p:spPr>
          <a:xfrm>
            <a:off x="4297680" y="1600200"/>
            <a:ext cx="1600200" cy="841248"/>
          </a:xfrm>
          <a:prstGeom prst="roundRect">
            <a:avLst>
              <a:gd name="adj" fmla="val 12121"/>
            </a:avLst>
          </a:prstGeom>
          <a:solidFill>
            <a:schemeClr val="accent2"/>
          </a:solidFill>
          <a:ln/>
        </p:spPr>
      </p:sp>
      <p:sp>
        <p:nvSpPr>
          <p:cNvPr id="17" name="Text 14"/>
          <p:cNvSpPr txBox="1"/>
          <p:nvPr/>
        </p:nvSpPr>
        <p:spPr>
          <a:xfrm>
            <a:off x="4297680" y="1600200"/>
            <a:ext cx="1600200" cy="841248"/>
          </a:xfrm>
          <a:prstGeom prst="rect">
            <a:avLst/>
          </a:prstGeom>
          <a:noFill/>
          <a:ln/>
        </p:spPr>
        <p:txBody>
          <a:bodyPr wrap="square" lIns="0" tIns="0" rIns="0" bIns="0" rtlCol="0" anchor="ctr"/>
          <a:lstStyle/>
          <a:p>
            <a:pPr marL="0" indent="0" algn="ctr">
              <a:buNone/>
            </a:pPr>
            <a:r>
              <a:rPr lang="en-US" sz="1200" b="1" dirty="0">
                <a:solidFill>
                  <a:schemeClr val="tx1"/>
                </a:solidFill>
              </a:rPr>
              <a:t>dropResponse</a:t>
            </a:r>
            <a:endParaRPr lang="en-US" sz="1200" dirty="0"/>
          </a:p>
        </p:txBody>
      </p:sp>
      <p:sp>
        <p:nvSpPr>
          <p:cNvPr id="18" name="Text 15"/>
          <p:cNvSpPr txBox="1"/>
          <p:nvPr/>
        </p:nvSpPr>
        <p:spPr>
          <a:xfrm>
            <a:off x="6080760" y="1600200"/>
            <a:ext cx="2606040" cy="841248"/>
          </a:xfrm>
          <a:prstGeom prst="rect">
            <a:avLst/>
          </a:prstGeom>
          <a:noFill/>
          <a:ln/>
        </p:spPr>
        <p:txBody>
          <a:bodyPr wrap="square" lIns="0" tIns="0" rIns="0" bIns="0" rtlCol="0" anchor="ctr"/>
          <a:lstStyle/>
          <a:p>
            <a:pPr marL="0" indent="0">
              <a:buNone/>
            </a:pPr>
            <a:r>
              <a:rPr lang="en-US" sz="1400" dirty="0">
                <a:solidFill>
                  <a:schemeClr val="tx1"/>
                </a:solidFill>
              </a:rPr>
              <a:t>Reply lost: the retry is a replay</a:t>
            </a:r>
            <a:endParaRPr lang="en-US" sz="1400" dirty="0"/>
          </a:p>
        </p:txBody>
      </p:sp>
      <p:sp>
        <p:nvSpPr>
          <p:cNvPr id="19" name="Shape 16"/>
          <p:cNvSpPr/>
          <p:nvPr/>
        </p:nvSpPr>
        <p:spPr>
          <a:xfrm>
            <a:off x="4297680" y="2560320"/>
            <a:ext cx="1600200" cy="841248"/>
          </a:xfrm>
          <a:prstGeom prst="roundRect">
            <a:avLst>
              <a:gd name="adj" fmla="val 12121"/>
            </a:avLst>
          </a:prstGeom>
          <a:solidFill>
            <a:schemeClr val="accent2"/>
          </a:solidFill>
          <a:ln/>
        </p:spPr>
      </p:sp>
      <p:sp>
        <p:nvSpPr>
          <p:cNvPr id="20" name="Text 17"/>
          <p:cNvSpPr txBox="1"/>
          <p:nvPr/>
        </p:nvSpPr>
        <p:spPr>
          <a:xfrm>
            <a:off x="4297680" y="2560320"/>
            <a:ext cx="1600200" cy="841248"/>
          </a:xfrm>
          <a:prstGeom prst="rect">
            <a:avLst/>
          </a:prstGeom>
          <a:noFill/>
          <a:ln/>
        </p:spPr>
        <p:txBody>
          <a:bodyPr wrap="square" lIns="0" tIns="0" rIns="0" bIns="0" rtlCol="0" anchor="ctr"/>
          <a:lstStyle/>
          <a:p>
            <a:pPr marL="0" indent="0" algn="ctr">
              <a:buNone/>
            </a:pPr>
            <a:r>
              <a:rPr lang="en-US" sz="1200" b="1" dirty="0">
                <a:solidFill>
                  <a:schemeClr val="tx1"/>
                </a:solidFill>
              </a:rPr>
              <a:t>duplicatePublish</a:t>
            </a:r>
            <a:endParaRPr lang="en-US" sz="1200" dirty="0"/>
          </a:p>
        </p:txBody>
      </p:sp>
      <p:sp>
        <p:nvSpPr>
          <p:cNvPr id="21" name="Text 18"/>
          <p:cNvSpPr txBox="1"/>
          <p:nvPr/>
        </p:nvSpPr>
        <p:spPr>
          <a:xfrm>
            <a:off x="6080760" y="2560320"/>
            <a:ext cx="2606040" cy="841248"/>
          </a:xfrm>
          <a:prstGeom prst="rect">
            <a:avLst/>
          </a:prstGeom>
          <a:noFill/>
          <a:ln/>
        </p:spPr>
        <p:txBody>
          <a:bodyPr wrap="square" lIns="0" tIns="0" rIns="0" bIns="0" rtlCol="0" anchor="ctr"/>
          <a:lstStyle/>
          <a:p>
            <a:pPr marL="0" indent="0">
              <a:buNone/>
            </a:pPr>
            <a:r>
              <a:rPr lang="en-US" sz="1400" dirty="0">
                <a:solidFill>
                  <a:schemeClr val="tx1"/>
                </a:solidFill>
              </a:rPr>
              <a:t>Message sent twice: inbox skips it</a:t>
            </a:r>
            <a:endParaRPr lang="en-US" sz="1400" dirty="0"/>
          </a:p>
        </p:txBody>
      </p:sp>
      <p:sp>
        <p:nvSpPr>
          <p:cNvPr id="22" name="Shape 19"/>
          <p:cNvSpPr/>
          <p:nvPr/>
        </p:nvSpPr>
        <p:spPr>
          <a:xfrm>
            <a:off x="4297680" y="3520440"/>
            <a:ext cx="1600200" cy="841248"/>
          </a:xfrm>
          <a:prstGeom prst="roundRect">
            <a:avLst>
              <a:gd name="adj" fmla="val 12121"/>
            </a:avLst>
          </a:prstGeom>
          <a:solidFill>
            <a:schemeClr val="accent2"/>
          </a:solidFill>
          <a:ln/>
        </p:spPr>
      </p:sp>
      <p:sp>
        <p:nvSpPr>
          <p:cNvPr id="23" name="Text 20"/>
          <p:cNvSpPr txBox="1"/>
          <p:nvPr/>
        </p:nvSpPr>
        <p:spPr>
          <a:xfrm>
            <a:off x="4297680" y="3520440"/>
            <a:ext cx="1600200" cy="841248"/>
          </a:xfrm>
          <a:prstGeom prst="rect">
            <a:avLst/>
          </a:prstGeom>
          <a:noFill/>
          <a:ln/>
        </p:spPr>
        <p:txBody>
          <a:bodyPr wrap="square" lIns="0" tIns="0" rIns="0" bIns="0" rtlCol="0" anchor="ctr"/>
          <a:lstStyle/>
          <a:p>
            <a:pPr marL="0" indent="0" algn="ctr">
              <a:buNone/>
            </a:pPr>
            <a:r>
              <a:rPr lang="en-US" sz="1200" b="1" dirty="0">
                <a:solidFill>
                  <a:schemeClr val="tx1"/>
                </a:solidFill>
              </a:rPr>
              <a:t>failConsumer</a:t>
            </a:r>
            <a:endParaRPr lang="en-US" sz="1200" dirty="0"/>
          </a:p>
        </p:txBody>
      </p:sp>
      <p:sp>
        <p:nvSpPr>
          <p:cNvPr id="24" name="Text 21"/>
          <p:cNvSpPr txBox="1"/>
          <p:nvPr/>
        </p:nvSpPr>
        <p:spPr>
          <a:xfrm>
            <a:off x="6080760" y="3520440"/>
            <a:ext cx="2606040" cy="841248"/>
          </a:xfrm>
          <a:prstGeom prst="rect">
            <a:avLst/>
          </a:prstGeom>
          <a:noFill/>
          <a:ln/>
        </p:spPr>
        <p:txBody>
          <a:bodyPr wrap="square" lIns="0" tIns="0" rIns="0" bIns="0" rtlCol="0" anchor="ctr"/>
          <a:lstStyle/>
          <a:p>
            <a:pPr marL="0" indent="0">
              <a:buNone/>
            </a:pPr>
            <a:r>
              <a:rPr lang="en-US" sz="1400" dirty="0">
                <a:solidFill>
                  <a:schemeClr val="tx1"/>
                </a:solidFill>
              </a:rPr>
              <a:t>Poison message: lands in the DLQ</a:t>
            </a:r>
            <a:endParaRPr lang="en-US" sz="1400" dirty="0"/>
          </a:p>
        </p:txBody>
      </p:sp>
      <p:sp>
        <p:nvSpPr>
          <p:cNvPr id="4"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8</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What it solves, and its limits</a:t>
            </a:r>
            <a:endParaRPr lang="en-US" sz="3200" dirty="0"/>
          </a:p>
        </p:txBody>
      </p:sp>
      <p:sp>
        <p:nvSpPr>
          <p:cNvPr id="3" name="Text 1"/>
          <p:cNvSpPr txBox="1"/>
          <p:nvPr/>
        </p:nvSpPr>
        <p:spPr>
          <a:xfrm>
            <a:off x="457200" y="4754880"/>
            <a:ext cx="2743200" cy="228600"/>
          </a:xfrm>
          <a:prstGeom prst="rect">
            <a:avLst/>
          </a:prstGeom>
          <a:noFill/>
          <a:ln/>
        </p:spPr>
        <p:txBody>
          <a:bodyPr wrap="square" lIns="0" tIns="0" rIns="0" bIns="0" rtlCol="0" anchor="t"/>
          <a:lstStyle/>
          <a:p>
            <a:pPr marL="0" indent="0">
              <a:buNone/>
            </a:pPr>
            <a:r>
              <a:rPr lang="en-US" sz="1000" dirty="0">
                <a:solidFill>
                  <a:schemeClr val="accent5"/>
                </a:solidFill>
              </a:rPr>
              <a:t>Presenter: Member 9</a:t>
            </a:r>
            <a:endParaRPr lang="en-US" sz="1000" dirty="0"/>
          </a:p>
        </p:txBody>
      </p:sp>
      <p:sp>
        <p:nvSpPr>
          <p:cNvPr id="5" name="Shape 2"/>
          <p:cNvSpPr/>
          <p:nvPr/>
        </p:nvSpPr>
        <p:spPr>
          <a:xfrm>
            <a:off x="457200" y="1143000"/>
            <a:ext cx="4023360" cy="2697480"/>
          </a:xfrm>
          <a:prstGeom prst="roundRect">
            <a:avLst>
              <a:gd name="adj" fmla="val 2712"/>
            </a:avLst>
          </a:prstGeom>
          <a:solidFill>
            <a:schemeClr val="bg2"/>
          </a:solidFill>
          <a:ln/>
        </p:spPr>
      </p:sp>
      <p:sp>
        <p:nvSpPr>
          <p:cNvPr id="6" name="Text 3"/>
          <p:cNvSpPr txBox="1"/>
          <p:nvPr/>
        </p:nvSpPr>
        <p:spPr>
          <a:xfrm>
            <a:off x="640080" y="1280160"/>
            <a:ext cx="3657600" cy="320040"/>
          </a:xfrm>
          <a:prstGeom prst="rect">
            <a:avLst/>
          </a:prstGeom>
          <a:noFill/>
          <a:ln/>
        </p:spPr>
        <p:txBody>
          <a:bodyPr wrap="square" lIns="0" tIns="0" rIns="0" bIns="0" rtlCol="0" anchor="t"/>
          <a:lstStyle/>
          <a:p>
            <a:pPr marL="0" indent="0">
              <a:buNone/>
            </a:pPr>
            <a:r>
              <a:rPr lang="en-US" sz="1600" b="1" dirty="0">
                <a:solidFill>
                  <a:schemeClr val="accent3"/>
                </a:solidFill>
              </a:rPr>
              <a:t>Problems solved</a:t>
            </a:r>
            <a:endParaRPr lang="en-US" sz="1600" dirty="0"/>
          </a:p>
        </p:txBody>
      </p:sp>
      <p:sp>
        <p:nvSpPr>
          <p:cNvPr id="7" name="Text 4"/>
          <p:cNvSpPr txBox="1"/>
          <p:nvPr/>
        </p:nvSpPr>
        <p:spPr>
          <a:xfrm>
            <a:off x="640080" y="1691640"/>
            <a:ext cx="3657600" cy="20574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Double credit from a retry or double tap</a:t>
            </a:r>
            <a:endParaRPr lang="en-US" sz="1400" dirty="0"/>
          </a:p>
          <a:p>
            <a:pPr marL="342900" indent="-342900">
              <a:spcAft>
                <a:spcPts val="500"/>
              </a:spcAft>
              <a:buSzPct val="100000"/>
              <a:buChar char="•"/>
            </a:pPr>
            <a:r>
              <a:rPr lang="en-US" sz="1400" dirty="0">
                <a:solidFill>
                  <a:schemeClr val="tx1"/>
                </a:solidFill>
              </a:rPr>
              <a:t>Lost reply after a successful save</a:t>
            </a:r>
            <a:endParaRPr lang="en-US" sz="1400" dirty="0"/>
          </a:p>
          <a:p>
            <a:pPr marL="342900" indent="-342900">
              <a:spcAft>
                <a:spcPts val="500"/>
              </a:spcAft>
              <a:buSzPct val="100000"/>
              <a:buChar char="•"/>
            </a:pPr>
            <a:r>
              <a:rPr lang="en-US" sz="1400" dirty="0">
                <a:solidFill>
                  <a:schemeClr val="tx1"/>
                </a:solidFill>
              </a:rPr>
              <a:t>Duplicate messages from the broker</a:t>
            </a:r>
            <a:endParaRPr lang="en-US" sz="1400" dirty="0"/>
          </a:p>
          <a:p>
            <a:pPr marL="342900" indent="-342900">
              <a:spcAft>
                <a:spcPts val="500"/>
              </a:spcAft>
              <a:buSzPct val="100000"/>
              <a:buChar char="•"/>
            </a:pPr>
            <a:r>
              <a:rPr lang="en-US" sz="1400" dirty="0">
                <a:solidFill>
                  <a:schemeClr val="tx1"/>
                </a:solidFill>
              </a:rPr>
              <a:t>Two racing writes overdrawing one wallet</a:t>
            </a:r>
            <a:endParaRPr lang="en-US" sz="1400" dirty="0"/>
          </a:p>
          <a:p>
            <a:pPr marL="342900" indent="-342900">
              <a:spcAft>
                <a:spcPts val="500"/>
              </a:spcAft>
              <a:buSzPct val="100000"/>
              <a:buChar char="•"/>
            </a:pPr>
            <a:r>
              <a:rPr lang="en-US" sz="1400" dirty="0">
                <a:solidFill>
                  <a:schemeClr val="tx1"/>
                </a:solidFill>
              </a:rPr>
              <a:t>A reused key with a different request (422)</a:t>
            </a:r>
            <a:endParaRPr lang="en-US" sz="1400" dirty="0"/>
          </a:p>
        </p:txBody>
      </p:sp>
      <p:sp>
        <p:nvSpPr>
          <p:cNvPr id="8" name="Shape 5"/>
          <p:cNvSpPr/>
          <p:nvPr/>
        </p:nvSpPr>
        <p:spPr>
          <a:xfrm>
            <a:off x="4663440" y="1143000"/>
            <a:ext cx="4023360" cy="2697480"/>
          </a:xfrm>
          <a:prstGeom prst="roundRect">
            <a:avLst>
              <a:gd name="adj" fmla="val 2712"/>
            </a:avLst>
          </a:prstGeom>
          <a:solidFill>
            <a:schemeClr val="bg2"/>
          </a:solidFill>
          <a:ln/>
        </p:spPr>
      </p:sp>
      <p:sp>
        <p:nvSpPr>
          <p:cNvPr id="9" name="Text 6"/>
          <p:cNvSpPr txBox="1"/>
          <p:nvPr/>
        </p:nvSpPr>
        <p:spPr>
          <a:xfrm>
            <a:off x="4846320" y="1280160"/>
            <a:ext cx="3657600" cy="320040"/>
          </a:xfrm>
          <a:prstGeom prst="rect">
            <a:avLst/>
          </a:prstGeom>
          <a:noFill/>
          <a:ln/>
        </p:spPr>
        <p:txBody>
          <a:bodyPr wrap="square" lIns="0" tIns="0" rIns="0" bIns="0" rtlCol="0" anchor="t"/>
          <a:lstStyle/>
          <a:p>
            <a:pPr marL="0" indent="0">
              <a:buNone/>
            </a:pPr>
            <a:r>
              <a:rPr lang="en-US" sz="1600" b="1" dirty="0">
                <a:solidFill>
                  <a:schemeClr val="accent4"/>
                </a:solidFill>
              </a:rPr>
              <a:t>Honest limits</a:t>
            </a:r>
            <a:endParaRPr lang="en-US" sz="1600" dirty="0"/>
          </a:p>
        </p:txBody>
      </p:sp>
      <p:sp>
        <p:nvSpPr>
          <p:cNvPr id="10" name="Text 7"/>
          <p:cNvSpPr txBox="1"/>
          <p:nvPr/>
        </p:nvSpPr>
        <p:spPr>
          <a:xfrm>
            <a:off x="4846320" y="1691640"/>
            <a:ext cx="3657600" cy="20574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No publisher confirms on the relay</a:t>
            </a:r>
            <a:endParaRPr lang="en-US" sz="1400" dirty="0"/>
          </a:p>
          <a:p>
            <a:pPr marL="342900" indent="-342900">
              <a:spcAft>
                <a:spcPts val="500"/>
              </a:spcAft>
              <a:buSzPct val="100000"/>
              <a:buChar char="•"/>
            </a:pPr>
            <a:r>
              <a:rPr lang="en-US" sz="1400" dirty="0">
                <a:solidFill>
                  <a:schemeClr val="tx1"/>
                </a:solidFill>
              </a:rPr>
              <a:t>Keys are not tied to a user (no login)</a:t>
            </a:r>
            <a:endParaRPr lang="en-US" sz="1400" dirty="0"/>
          </a:p>
          <a:p>
            <a:pPr marL="342900" indent="-342900">
              <a:spcAft>
                <a:spcPts val="500"/>
              </a:spcAft>
              <a:buSzPct val="100000"/>
              <a:buChar char="•"/>
            </a:pPr>
            <a:r>
              <a:rPr lang="en-US" sz="1400" dirty="0">
                <a:solidFill>
                  <a:schemeClr val="tx1"/>
                </a:solidFill>
              </a:rPr>
              <a:t>Few isolated component tests</a:t>
            </a:r>
            <a:endParaRPr lang="en-US" sz="1400" dirty="0"/>
          </a:p>
          <a:p>
            <a:pPr marL="342900" indent="-342900">
              <a:spcAft>
                <a:spcPts val="500"/>
              </a:spcAft>
              <a:buSzPct val="100000"/>
              <a:buChar char="•"/>
            </a:pPr>
            <a:r>
              <a:rPr lang="en-US" sz="1400" dirty="0">
                <a:solidFill>
                  <a:schemeClr val="tx1"/>
                </a:solidFill>
              </a:rPr>
              <a:t>Chaos endpoints are for demos only</a:t>
            </a:r>
            <a:endParaRPr lang="en-US" sz="1400" dirty="0"/>
          </a:p>
        </p:txBody>
      </p:sp>
      <p:sp>
        <p:nvSpPr>
          <p:cNvPr id="11" name="Shape 8"/>
          <p:cNvSpPr/>
          <p:nvPr/>
        </p:nvSpPr>
        <p:spPr>
          <a:xfrm>
            <a:off x="457200" y="4023360"/>
            <a:ext cx="8229600" cy="594360"/>
          </a:xfrm>
          <a:prstGeom prst="roundRect">
            <a:avLst>
              <a:gd name="adj" fmla="val 12308"/>
            </a:avLst>
          </a:prstGeom>
          <a:solidFill>
            <a:schemeClr val="tx2"/>
          </a:solidFill>
          <a:ln/>
        </p:spPr>
      </p:sp>
      <p:sp>
        <p:nvSpPr>
          <p:cNvPr id="12" name="Text 9"/>
          <p:cNvSpPr txBox="1"/>
          <p:nvPr/>
        </p:nvSpPr>
        <p:spPr>
          <a:xfrm>
            <a:off x="457200" y="4023360"/>
            <a:ext cx="8229600" cy="594360"/>
          </a:xfrm>
          <a:prstGeom prst="rect">
            <a:avLst/>
          </a:prstGeom>
          <a:noFill/>
          <a:ln/>
        </p:spPr>
        <p:txBody>
          <a:bodyPr wrap="square" lIns="0" tIns="0" rIns="0" bIns="0" rtlCol="0" anchor="ctr"/>
          <a:lstStyle/>
          <a:p>
            <a:pPr marL="0" indent="0" algn="ctr">
              <a:buNone/>
            </a:pPr>
            <a:r>
              <a:rPr lang="en-US" sz="1800" b="1" dirty="0">
                <a:solidFill>
                  <a:schemeClr val="bg1"/>
                </a:solidFill>
              </a:rPr>
              <a:t>Effectively-once: many arrivals, one effect. Thank you. Questions?</a:t>
            </a:r>
            <a:endParaRPr lang="en-US" sz="1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9</a:t>
            </a:fld>
            <a:endParaRPr lang="en-US"/>
          </a:p>
        </p:txBody>
      </p:sp>
    </p:spTree>
  </p:cSld>
  <p:clrMapOvr>
    <a:masterClrMapping/>
  </p:clrMapOvr>
</p:sld>
</file>

<file path=ppt/theme/theme1.xml><?xml version="1.0" encoding="utf-8"?>
<a:theme xmlns:a="http://schemas.openxmlformats.org/drawingml/2006/main" name="IdempotentWallet">
  <a:themeElements>
    <a:clrScheme name="IdempotentWallet">
      <a:dk1>
        <a:srgbClr val="13242B"/>
      </a:dk1>
      <a:lt1>
        <a:srgbClr val="FFFFFF"/>
      </a:lt1>
      <a:dk2>
        <a:srgbClr val="0B3C49"/>
      </a:dk2>
      <a:lt2>
        <a:srgbClr val="E8F1F3"/>
      </a:lt2>
      <a:accent1>
        <a:srgbClr val="0E7C86"/>
      </a:accent1>
      <a:accent2>
        <a:srgbClr val="F4A62A"/>
      </a:accent2>
      <a:accent3>
        <a:srgbClr val="2E9E6B"/>
      </a:accent3>
      <a:accent4>
        <a:srgbClr val="C8434F"/>
      </a:accent4>
      <a:accent5>
        <a:srgbClr val="5B7C8D"/>
      </a:accent5>
      <a:accent6>
        <a:srgbClr val="7A5195"/>
      </a:accent6>
      <a:hlink>
        <a:srgbClr val="0E7C86"/>
      </a:hlink>
      <a:folHlink>
        <a:srgbClr val="5B7C8D"/>
      </a:folHlink>
    </a:clrScheme>
    <a:fontScheme name="IdempotentWalle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1708</Words>
  <Application>Microsoft Office PowerPoint</Application>
  <PresentationFormat>On-screen Show (16:9)</PresentationFormat>
  <Paragraphs>196</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IdempotentWallet</vt:lpstr>
      <vt:lpstr>Idempotency and Exactly-Once(ish)</vt:lpstr>
      <vt:lpstr>The problem: the lost reply</vt:lpstr>
      <vt:lpstr>The pattern in one idea</vt:lpstr>
      <vt:lpstr>How we built it: IdempotentWallet</vt:lpstr>
      <vt:lpstr>Layer 1: the Idempotency-Key</vt:lpstr>
      <vt:lpstr>Key and effect commit together</vt:lpstr>
      <vt:lpstr>Layer 2: outbox and inbox</vt:lpstr>
      <vt:lpstr>Layer 3: safe calls to outsiders</vt:lpstr>
      <vt:lpstr>Transfers as a saga</vt:lpstr>
      <vt:lpstr>Proof: we break it on purpose</vt:lpstr>
      <vt:lpstr>What it solves, and its limits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IdempotentWallet: Idempotency and Exactly-Once(ish)</dc:title>
  <dc:subject>PptxGenJS Presentation</dc:subject>
  <dc:creator>PptxGenJS</dc:creator>
  <cp:lastModifiedBy>Vindi Chamathsara</cp:lastModifiedBy>
  <cp:revision>2</cp:revision>
  <dcterms:created xsi:type="dcterms:W3CDTF">2026-10-16T11:43:54Z</dcterms:created>
  <dcterms:modified xsi:type="dcterms:W3CDTF">2026-10-16T11:46:04Z</dcterms:modified>
</cp:coreProperties>
</file>
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61" r:id="rId6"/>
    <p:sldId id="262" r:id="rId7"/>
    <p:sldId id="263" r:id="rId8"/>
    <p:sldId id="264" r:id="rId9"/>
    <p:sldId id="265"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mpotency" id="{E48DF457-4B77-C84A-E0A2-3754DDA5A9F0}">
          <p14:sldIdLst>
            <p14:sldId id="256"/>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550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Welcome. Our group was assigned the pattern Idempotency and Exactly-Once(ish) from the Distributed Design lecture. We will explain the pattern, how we built it in IdempotentWallet, and what problems it solves.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A customer taps Send LKR 500 and the Wi-Fi drops. The server cannot tell a lost request from a lost reply. Three worlds are possible. In the third one the money moved but the client heard nothing. Retrying is the only safe choice, so duplicates are unavoidable. Our whole project makes a duplicate harmless.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At-least-once delivery means we retry until acknowledged, so nothing is lost but duplicates can happen. An idempotent receiver uses a stable operation ID so a duplicate changes nothing. Together this gives effectively-once. Perfect exactly-once over a network is impossible, so the ish is the honest word. Analogy: pressing a lift button five times still calls one lift.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Two services with separate databases is the smallest design with a real network boundary, so we get real duplicates and real partial failures. The services never call each other and never read each other tables. They only exchange commands and replies through RabbitMQ.</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The client creates one UUID per Send tap and reuses it on every retry. The server inserts the key into a table with a unique index, so only one request wins. The winner does the work and saves the receipt. Everyone else gets the receipt back with the header Idempotent-Replayed true. The class is IdempotentExecutor.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The key row, the ledger event and the outbox row are written in one database transaction, so they all exist or none do. If the effect is saved but not the key, a retry repeats it: double debit. If the key is saved but not the effect, a retry replays a success for money that never moved. The ledger is append-only, enforced by a database trigger. The balance is updated only where last_seq matches, so two racing withdrawals cannot both win; the loser retries and gets insufficient funds.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7. Saving to the database and publishing to the broker are two systems, so one can succeed while the other fails. The outbox writes the message in the same transaction as the data, and a relay publishes it later. The relay runs every second and uses FOR UPDATE SKIP LOCKED. If it crashes after publishing it publishes again, so it is at-least-once. The inbox stores each message ID, and a repeat is skipped. Bad messages retry three times then go to the dead-letter queue.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8. For a card top-up we send our own key, walletId plus the Idempotency-Key, to the payment provider. The provider remembers it and returns the same chargeId, so a retry never charges twice. Retries are only safe on idempotent operations. The four tools are timeout, retry with backoff and jitter, circuit breaker and bulkhead. The mock provider records the charge before it may fail, to copy the worst real case.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9. One database transaction cannot span two services, so a transfer is a chain of local steps stored as a state machine. If the credit fails we refund, a new compensating event, not an erase. We chose a saga over two-phase commit because there are no locks across services and messages wait if a service is down. Commands are idempotent with the key transferId plus step. Replies are guarded updates, so a duplicate changes zero rows. A recovery job resends stuck steps every 10 seconds. Known gap: a replayed command does not send a second reply.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10. We send 50 identical top-ups at the same time. The result is exactly one ledger event, 49 replays and a balance of 1000. Then we use chaos switches: dropResponse loses the reply after commit, duplicatePublish makes the relay publish twice, failConsumer fills the dead-letter queue, and failPercent makes the provider flaky. Tests: unit test, 8 parallel different keys, saga end-to-end tests and a k6 load script. Be honest that isolated component tests are the thin part.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10. Summary. The pattern solves double debits, lost replies, duplicate messages, double provider charges and half-finished transfers. We name our limits first: no publisher confirms on the relay, a replayed saga command sends no second reply, component tests are thin, and the chaos endpoints are for demo only. Close with: effectively-once means many arrivals, one effect. Thank you.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1097280"/>
            <a:ext cx="5212080" cy="1645920"/>
          </a:xfrm>
          <a:prstGeom prst="rect">
            <a:avLst/>
          </a:prstGeom>
          <a:noFill/>
          <a:ln/>
        </p:spPr>
        <p:txBody>
          <a:bodyPr wrap="square" rtlCol="0"/>
          <a:lstStyle>
            <a:lvl1pPr marL="0" indent="0">
              <a:buNone/>
              <a:defRPr lang="en-US" sz="3800" b="1" dirty="0">
                <a:solidFill>
                  <a:schemeClr val="bg1"/>
                </a:solidFill>
              </a:defRPr>
            </a:lvl1pPr>
          </a:lstStyle>
          <a:p>
            <a:pPr marL="0" indent="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097280"/>
            <a:ext cx="5212080" cy="1645920"/>
          </a:xfrm>
          <a:prstGeom prst="rect">
            <a:avLst/>
          </a:prstGeom>
          <a:noFill/>
          <a:ln/>
        </p:spPr>
        <p:txBody>
          <a:bodyPr wrap="square" lIns="0" tIns="0" rIns="0" bIns="0" rtlCol="0" anchor="t"/>
          <a:lstStyle/>
          <a:p>
            <a:pPr marL="0" indent="0">
              <a:buNone/>
            </a:pPr>
            <a:r>
              <a:rPr lang="en-US" sz="3800" b="1" dirty="0">
                <a:solidFill>
                  <a:schemeClr val="bg1"/>
                </a:solidFill>
              </a:rPr>
              <a:t>Idempotency and Exactly-Once(ish)</a:t>
            </a:r>
            <a:endParaRPr lang="en-US" sz="3800" dirty="0"/>
          </a:p>
        </p:txBody>
      </p:sp>
      <p:sp>
        <p:nvSpPr>
          <p:cNvPr id="3" name="Text 1"/>
          <p:cNvSpPr txBox="1"/>
          <p:nvPr/>
        </p:nvSpPr>
        <p:spPr>
          <a:xfrm>
            <a:off x="548640" y="2880360"/>
            <a:ext cx="5120640" cy="320040"/>
          </a:xfrm>
          <a:prstGeom prst="rect">
            <a:avLst/>
          </a:prstGeom>
          <a:noFill/>
          <a:ln/>
        </p:spPr>
        <p:txBody>
          <a:bodyPr wrap="square" lIns="0" tIns="0" rIns="0" bIns="0" rtlCol="0" anchor="t"/>
          <a:lstStyle/>
          <a:p>
            <a:pPr marL="0" indent="0">
              <a:buNone/>
            </a:pPr>
            <a:r>
              <a:rPr lang="en-US" sz="1800" b="1" dirty="0">
                <a:solidFill>
                  <a:schemeClr val="accent2"/>
                </a:solidFill>
              </a:rPr>
              <a:t>The design pattern in our project: IdempotentWallet</a:t>
            </a:r>
            <a:endParaRPr lang="en-US" sz="1800" dirty="0"/>
          </a:p>
        </p:txBody>
      </p:sp>
      <p:sp>
        <p:nvSpPr>
          <p:cNvPr id="4" name="Text 2"/>
          <p:cNvSpPr txBox="1"/>
          <p:nvPr/>
        </p:nvSpPr>
        <p:spPr>
          <a:xfrm>
            <a:off x="548640" y="3291840"/>
            <a:ext cx="5120640" cy="548640"/>
          </a:xfrm>
          <a:prstGeom prst="rect">
            <a:avLst/>
          </a:prstGeom>
          <a:noFill/>
          <a:ln/>
        </p:spPr>
        <p:txBody>
          <a:bodyPr wrap="square" lIns="0" tIns="0" rIns="0" bIns="0" rtlCol="0" anchor="t"/>
          <a:lstStyle/>
          <a:p>
            <a:pPr marL="0" indent="0">
              <a:buNone/>
            </a:pPr>
            <a:r>
              <a:rPr lang="en-US" sz="1400" dirty="0">
                <a:solidFill>
                  <a:schemeClr val="bg1"/>
                </a:solidFill>
              </a:rPr>
              <a:t>IT3133 Programming Distributed Components · Group presentation</a:t>
            </a:r>
            <a:endParaRPr lang="en-US" sz="1400" dirty="0"/>
          </a:p>
        </p:txBody>
      </p:sp>
      <p:sp>
        <p:nvSpPr>
          <p:cNvPr id="5" name="Text 3"/>
          <p:cNvSpPr txBox="1"/>
          <p:nvPr/>
        </p:nvSpPr>
        <p:spPr>
          <a:xfrm>
            <a:off x="548640" y="4023360"/>
            <a:ext cx="5120640" cy="365760"/>
          </a:xfrm>
          <a:prstGeom prst="rect">
            <a:avLst/>
          </a:prstGeom>
          <a:noFill/>
          <a:ln/>
        </p:spPr>
        <p:txBody>
          <a:bodyPr wrap="square" lIns="0" tIns="0" rIns="0" bIns="0" rtlCol="0" anchor="t"/>
          <a:lstStyle/>
          <a:p>
            <a:pPr marL="0" indent="0">
              <a:buNone/>
            </a:pPr>
            <a:r>
              <a:rPr lang="en-US" sz="1600" i="1" dirty="0">
                <a:solidFill>
                  <a:schemeClr val="bg1"/>
                </a:solidFill>
              </a:rPr>
              <a:t>Press Send five times. The money moves once.</a:t>
            </a:r>
            <a:endParaRPr lang="en-US" sz="1600" dirty="0"/>
          </a:p>
        </p:txBody>
      </p:sp>
      <p:sp>
        <p:nvSpPr>
          <p:cNvPr id="6" name="Shape 4"/>
          <p:cNvSpPr/>
          <p:nvPr/>
        </p:nvSpPr>
        <p:spPr>
          <a:xfrm>
            <a:off x="6126480" y="1005840"/>
            <a:ext cx="2560320" cy="2560320"/>
          </a:xfrm>
          <a:prstGeom prst="ellipse">
            <a:avLst/>
          </a:prstGeom>
          <a:solidFill>
            <a:schemeClr val="accent2"/>
          </a:solidFill>
          <a:ln/>
        </p:spPr>
      </p:sp>
      <p:sp>
        <p:nvSpPr>
          <p:cNvPr id="7" name="Text 5"/>
          <p:cNvSpPr txBox="1"/>
          <p:nvPr/>
        </p:nvSpPr>
        <p:spPr>
          <a:xfrm>
            <a:off x="6126480" y="1005840"/>
            <a:ext cx="2560320" cy="2560320"/>
          </a:xfrm>
          <a:prstGeom prst="rect">
            <a:avLst/>
          </a:prstGeom>
          <a:noFill/>
          <a:ln/>
        </p:spPr>
        <p:txBody>
          <a:bodyPr wrap="square" lIns="0" tIns="0" rIns="0" bIns="0" rtlCol="0" anchor="ctr"/>
          <a:lstStyle/>
          <a:p>
            <a:pPr marL="0" indent="0" algn="ctr">
              <a:buNone/>
            </a:pPr>
            <a:r>
              <a:rPr lang="en-US" sz="4800" b="1" dirty="0">
                <a:solidFill>
                  <a:schemeClr val="tx1"/>
                </a:solidFill>
              </a:rPr>
              <a:t>5 → 1</a:t>
            </a:r>
            <a:endParaRPr lang="en-US" sz="4800" dirty="0"/>
          </a:p>
        </p:txBody>
      </p:sp>
      <p:sp>
        <p:nvSpPr>
          <p:cNvPr id="8" name="Text 6"/>
          <p:cNvSpPr txBox="1"/>
          <p:nvPr/>
        </p:nvSpPr>
        <p:spPr>
          <a:xfrm>
            <a:off x="6126480" y="3749040"/>
            <a:ext cx="2560320" cy="365760"/>
          </a:xfrm>
          <a:prstGeom prst="rect">
            <a:avLst/>
          </a:prstGeom>
          <a:noFill/>
          <a:ln/>
        </p:spPr>
        <p:txBody>
          <a:bodyPr wrap="square" lIns="0" tIns="0" rIns="0" bIns="0" rtlCol="0" anchor="t"/>
          <a:lstStyle/>
          <a:p>
            <a:pPr marL="0" indent="0" algn="ctr">
              <a:buNone/>
            </a:pPr>
            <a:r>
              <a:rPr lang="en-US" sz="1400" dirty="0">
                <a:solidFill>
                  <a:schemeClr val="bg1"/>
                </a:solidFill>
              </a:rPr>
              <a:t>five taps, one effect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The problem: the lost reply</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2</a:t>
            </a:r>
            <a:endParaRPr lang="en-US" sz="1000" dirty="0"/>
          </a:p>
        </p:txBody>
      </p:sp>
      <p:sp>
        <p:nvSpPr>
          <p:cNvPr id="5" name="Shape 2"/>
          <p:cNvSpPr/>
          <p:nvPr/>
        </p:nvSpPr>
        <p:spPr>
          <a:xfrm>
            <a:off x="457200" y="1188720"/>
            <a:ext cx="4937760" cy="914400"/>
          </a:xfrm>
          <a:prstGeom prst="roundRect">
            <a:avLst>
              <a:gd name="adj" fmla="val 8000"/>
            </a:avLst>
          </a:prstGeom>
          <a:solidFill>
            <a:schemeClr val="bg2"/>
          </a:solidFill>
          <a:ln/>
        </p:spPr>
      </p:sp>
      <p:sp>
        <p:nvSpPr>
          <p:cNvPr id="6" name="Text 3"/>
          <p:cNvSpPr txBox="1"/>
          <p:nvPr/>
        </p:nvSpPr>
        <p:spPr>
          <a:xfrm>
            <a:off x="621792" y="1316736"/>
            <a:ext cx="4608576" cy="320040"/>
          </a:xfrm>
          <a:prstGeom prst="rect">
            <a:avLst/>
          </a:prstGeom>
          <a:noFill/>
          <a:ln/>
        </p:spPr>
        <p:txBody>
          <a:bodyPr wrap="square" lIns="0" tIns="0" rIns="0" bIns="0" rtlCol="0" anchor="t"/>
          <a:lstStyle/>
          <a:p>
            <a:pPr marL="0" indent="0">
              <a:buNone/>
            </a:pPr>
            <a:r>
              <a:rPr lang="en-US" sz="1500" b="1" dirty="0">
                <a:solidFill>
                  <a:schemeClr val="tx1"/>
                </a:solidFill>
              </a:rPr>
              <a:t>1. The request never arrived</a:t>
            </a:r>
            <a:endParaRPr lang="en-US" sz="1500" dirty="0"/>
          </a:p>
        </p:txBody>
      </p:sp>
      <p:sp>
        <p:nvSpPr>
          <p:cNvPr id="7" name="Text 4"/>
          <p:cNvSpPr txBox="1"/>
          <p:nvPr/>
        </p:nvSpPr>
        <p:spPr>
          <a:xfrm>
            <a:off x="621792" y="1682496"/>
            <a:ext cx="4608576" cy="274320"/>
          </a:xfrm>
          <a:prstGeom prst="rect">
            <a:avLst/>
          </a:prstGeom>
          <a:noFill/>
          <a:ln/>
        </p:spPr>
        <p:txBody>
          <a:bodyPr wrap="square" lIns="0" tIns="0" rIns="0" bIns="0" rtlCol="0" anchor="t"/>
          <a:lstStyle/>
          <a:p>
            <a:pPr marL="0" indent="0">
              <a:buNone/>
            </a:pPr>
            <a:r>
              <a:rPr lang="en-US" sz="1400" dirty="0">
                <a:solidFill>
                  <a:schemeClr val="tx1"/>
                </a:solidFill>
              </a:rPr>
              <a:t>Money did not move.</a:t>
            </a:r>
            <a:endParaRPr lang="en-US" sz="1400" dirty="0"/>
          </a:p>
        </p:txBody>
      </p:sp>
      <p:sp>
        <p:nvSpPr>
          <p:cNvPr id="8" name="Shape 5"/>
          <p:cNvSpPr/>
          <p:nvPr/>
        </p:nvSpPr>
        <p:spPr>
          <a:xfrm>
            <a:off x="457200" y="2240280"/>
            <a:ext cx="4937760" cy="914400"/>
          </a:xfrm>
          <a:prstGeom prst="roundRect">
            <a:avLst>
              <a:gd name="adj" fmla="val 8000"/>
            </a:avLst>
          </a:prstGeom>
          <a:solidFill>
            <a:schemeClr val="bg2"/>
          </a:solidFill>
          <a:ln/>
        </p:spPr>
      </p:sp>
      <p:sp>
        <p:nvSpPr>
          <p:cNvPr id="9" name="Text 6"/>
          <p:cNvSpPr txBox="1"/>
          <p:nvPr/>
        </p:nvSpPr>
        <p:spPr>
          <a:xfrm>
            <a:off x="621792" y="2368296"/>
            <a:ext cx="4608576" cy="320040"/>
          </a:xfrm>
          <a:prstGeom prst="rect">
            <a:avLst/>
          </a:prstGeom>
          <a:noFill/>
          <a:ln/>
        </p:spPr>
        <p:txBody>
          <a:bodyPr wrap="square" lIns="0" tIns="0" rIns="0" bIns="0" rtlCol="0" anchor="t"/>
          <a:lstStyle/>
          <a:p>
            <a:pPr marL="0" indent="0">
              <a:buNone/>
            </a:pPr>
            <a:r>
              <a:rPr lang="en-US" sz="1500" b="1" dirty="0">
                <a:solidFill>
                  <a:schemeClr val="tx1"/>
                </a:solidFill>
              </a:rPr>
              <a:t>2. The server crashed before saving</a:t>
            </a:r>
            <a:endParaRPr lang="en-US" sz="1500" dirty="0"/>
          </a:p>
        </p:txBody>
      </p:sp>
      <p:sp>
        <p:nvSpPr>
          <p:cNvPr id="10" name="Text 7"/>
          <p:cNvSpPr txBox="1"/>
          <p:nvPr/>
        </p:nvSpPr>
        <p:spPr>
          <a:xfrm>
            <a:off x="621792" y="2734056"/>
            <a:ext cx="4608576" cy="274320"/>
          </a:xfrm>
          <a:prstGeom prst="rect">
            <a:avLst/>
          </a:prstGeom>
          <a:noFill/>
          <a:ln/>
        </p:spPr>
        <p:txBody>
          <a:bodyPr wrap="square" lIns="0" tIns="0" rIns="0" bIns="0" rtlCol="0" anchor="t"/>
          <a:lstStyle/>
          <a:p>
            <a:pPr marL="0" indent="0">
              <a:buNone/>
            </a:pPr>
            <a:r>
              <a:rPr lang="en-US" sz="1400" dirty="0">
                <a:solidFill>
                  <a:schemeClr val="tx1"/>
                </a:solidFill>
              </a:rPr>
              <a:t>Money did not move.</a:t>
            </a:r>
            <a:endParaRPr lang="en-US" sz="1400" dirty="0"/>
          </a:p>
        </p:txBody>
      </p:sp>
      <p:sp>
        <p:nvSpPr>
          <p:cNvPr id="11" name="Shape 8"/>
          <p:cNvSpPr/>
          <p:nvPr/>
        </p:nvSpPr>
        <p:spPr>
          <a:xfrm>
            <a:off x="457200" y="3291840"/>
            <a:ext cx="4937760" cy="914400"/>
          </a:xfrm>
          <a:prstGeom prst="roundRect">
            <a:avLst>
              <a:gd name="adj" fmla="val 8000"/>
            </a:avLst>
          </a:prstGeom>
          <a:solidFill>
            <a:schemeClr val="accent2"/>
          </a:solidFill>
          <a:ln/>
        </p:spPr>
      </p:sp>
      <p:sp>
        <p:nvSpPr>
          <p:cNvPr id="12" name="Text 9"/>
          <p:cNvSpPr txBox="1"/>
          <p:nvPr/>
        </p:nvSpPr>
        <p:spPr>
          <a:xfrm>
            <a:off x="621792" y="3419856"/>
            <a:ext cx="4608576" cy="320040"/>
          </a:xfrm>
          <a:prstGeom prst="rect">
            <a:avLst/>
          </a:prstGeom>
          <a:noFill/>
          <a:ln/>
        </p:spPr>
        <p:txBody>
          <a:bodyPr wrap="square" lIns="0" tIns="0" rIns="0" bIns="0" rtlCol="0" anchor="t"/>
          <a:lstStyle/>
          <a:p>
            <a:pPr marL="0" indent="0">
              <a:buNone/>
            </a:pPr>
            <a:r>
              <a:rPr lang="en-US" sz="1500" b="1" dirty="0">
                <a:solidFill>
                  <a:schemeClr val="tx1"/>
                </a:solidFill>
              </a:rPr>
              <a:t>3. Saved, but the reply was lost</a:t>
            </a:r>
            <a:endParaRPr lang="en-US" sz="1500" dirty="0"/>
          </a:p>
        </p:txBody>
      </p:sp>
      <p:sp>
        <p:nvSpPr>
          <p:cNvPr id="13" name="Text 10"/>
          <p:cNvSpPr txBox="1"/>
          <p:nvPr/>
        </p:nvSpPr>
        <p:spPr>
          <a:xfrm>
            <a:off x="621792" y="3785616"/>
            <a:ext cx="4608576" cy="274320"/>
          </a:xfrm>
          <a:prstGeom prst="rect">
            <a:avLst/>
          </a:prstGeom>
          <a:noFill/>
          <a:ln/>
        </p:spPr>
        <p:txBody>
          <a:bodyPr wrap="square" lIns="0" tIns="0" rIns="0" bIns="0" rtlCol="0" anchor="t"/>
          <a:lstStyle/>
          <a:p>
            <a:pPr marL="0" indent="0">
              <a:buNone/>
            </a:pPr>
            <a:r>
              <a:rPr lang="en-US" sz="1400" dirty="0">
                <a:solidFill>
                  <a:schemeClr val="tx1"/>
                </a:solidFill>
              </a:rPr>
              <a:t>Money moved. The client does not know.</a:t>
            </a:r>
            <a:endParaRPr lang="en-US" sz="1400" dirty="0"/>
          </a:p>
        </p:txBody>
      </p:sp>
      <p:sp>
        <p:nvSpPr>
          <p:cNvPr id="14" name="Shape 11"/>
          <p:cNvSpPr/>
          <p:nvPr/>
        </p:nvSpPr>
        <p:spPr>
          <a:xfrm>
            <a:off x="5669280" y="1188720"/>
            <a:ext cx="3017520" cy="3017520"/>
          </a:xfrm>
          <a:prstGeom prst="roundRect">
            <a:avLst>
              <a:gd name="adj" fmla="val 2424"/>
            </a:avLst>
          </a:prstGeom>
          <a:solidFill>
            <a:schemeClr val="tx2"/>
          </a:solidFill>
          <a:ln/>
        </p:spPr>
      </p:sp>
      <p:sp>
        <p:nvSpPr>
          <p:cNvPr id="15" name="Text 12"/>
          <p:cNvSpPr txBox="1"/>
          <p:nvPr/>
        </p:nvSpPr>
        <p:spPr>
          <a:xfrm>
            <a:off x="5852160" y="1371600"/>
            <a:ext cx="2651760" cy="1005840"/>
          </a:xfrm>
          <a:prstGeom prst="rect">
            <a:avLst/>
          </a:prstGeom>
          <a:noFill/>
          <a:ln/>
        </p:spPr>
        <p:txBody>
          <a:bodyPr wrap="square" lIns="0" tIns="0" rIns="0" bIns="0" rtlCol="0" anchor="t"/>
          <a:lstStyle/>
          <a:p>
            <a:pPr marL="0" indent="0">
              <a:buNone/>
            </a:pPr>
            <a:r>
              <a:rPr lang="en-US" sz="2000" b="1" dirty="0">
                <a:solidFill>
                  <a:schemeClr val="bg1"/>
                </a:solidFill>
              </a:rPr>
              <a:t>The client cannot tell which world it is in.</a:t>
            </a:r>
            <a:endParaRPr lang="en-US" sz="2000" dirty="0"/>
          </a:p>
        </p:txBody>
      </p:sp>
      <p:sp>
        <p:nvSpPr>
          <p:cNvPr id="16" name="Text 13"/>
          <p:cNvSpPr txBox="1"/>
          <p:nvPr/>
        </p:nvSpPr>
        <p:spPr>
          <a:xfrm>
            <a:off x="5852160" y="2514600"/>
            <a:ext cx="2651760" cy="914400"/>
          </a:xfrm>
          <a:prstGeom prst="rect">
            <a:avLst/>
          </a:prstGeom>
          <a:noFill/>
          <a:ln/>
        </p:spPr>
        <p:txBody>
          <a:bodyPr wrap="square" lIns="0" tIns="0" rIns="0" bIns="0" rtlCol="0" anchor="t"/>
          <a:lstStyle/>
          <a:p>
            <a:pPr marL="0" indent="0">
              <a:buNone/>
            </a:pPr>
            <a:r>
              <a:rPr lang="en-US" sz="1500" dirty="0">
                <a:solidFill>
                  <a:schemeClr val="bg1"/>
                </a:solidFill>
              </a:rPr>
              <a:t>So retrying is the only safe choice, and duplicates are unavoidable.</a:t>
            </a:r>
            <a:endParaRPr lang="en-US" sz="1500" dirty="0"/>
          </a:p>
        </p:txBody>
      </p:sp>
      <p:sp>
        <p:nvSpPr>
          <p:cNvPr id="17" name="Text 14"/>
          <p:cNvSpPr txBox="1"/>
          <p:nvPr/>
        </p:nvSpPr>
        <p:spPr>
          <a:xfrm>
            <a:off x="5852160" y="3474720"/>
            <a:ext cx="2651760" cy="548640"/>
          </a:xfrm>
          <a:prstGeom prst="rect">
            <a:avLst/>
          </a:prstGeom>
          <a:noFill/>
          <a:ln/>
        </p:spPr>
        <p:txBody>
          <a:bodyPr wrap="square" lIns="0" tIns="0" rIns="0" bIns="0" rtlCol="0" anchor="t"/>
          <a:lstStyle/>
          <a:p>
            <a:pPr marL="0" indent="0">
              <a:buNone/>
            </a:pPr>
            <a:r>
              <a:rPr lang="en-US" sz="1500" b="1" dirty="0">
                <a:solidFill>
                  <a:schemeClr val="accent2"/>
                </a:solidFill>
              </a:rPr>
              <a:t>Our job: make a duplicate harmless.</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The pattern in one idea</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3</a:t>
            </a:r>
            <a:endParaRPr lang="en-US" sz="1000" dirty="0"/>
          </a:p>
        </p:txBody>
      </p:sp>
      <p:sp>
        <p:nvSpPr>
          <p:cNvPr id="5" name="Shape 2"/>
          <p:cNvSpPr/>
          <p:nvPr/>
        </p:nvSpPr>
        <p:spPr>
          <a:xfrm>
            <a:off x="548640" y="1188720"/>
            <a:ext cx="2377440" cy="1737360"/>
          </a:xfrm>
          <a:prstGeom prst="roundRect">
            <a:avLst>
              <a:gd name="adj" fmla="val 4211"/>
            </a:avLst>
          </a:prstGeom>
          <a:solidFill>
            <a:schemeClr val="bg2"/>
          </a:solidFill>
          <a:ln/>
        </p:spPr>
      </p:sp>
      <p:sp>
        <p:nvSpPr>
          <p:cNvPr id="6" name="Text 3"/>
          <p:cNvSpPr txBox="1"/>
          <p:nvPr/>
        </p:nvSpPr>
        <p:spPr>
          <a:xfrm>
            <a:off x="713232" y="1316736"/>
            <a:ext cx="2048256" cy="320040"/>
          </a:xfrm>
          <a:prstGeom prst="rect">
            <a:avLst/>
          </a:prstGeom>
          <a:noFill/>
          <a:ln/>
        </p:spPr>
        <p:txBody>
          <a:bodyPr wrap="square" lIns="0" tIns="0" rIns="0" bIns="0" rtlCol="0" anchor="t"/>
          <a:lstStyle/>
          <a:p>
            <a:pPr marL="0" indent="0">
              <a:buNone/>
            </a:pPr>
            <a:r>
              <a:rPr lang="en-US" sz="1500" b="1" dirty="0">
                <a:solidFill>
                  <a:schemeClr val="tx1"/>
                </a:solidFill>
              </a:rPr>
              <a:t>At-least-once</a:t>
            </a:r>
            <a:endParaRPr lang="en-US" sz="1500" dirty="0"/>
          </a:p>
        </p:txBody>
      </p:sp>
      <p:sp>
        <p:nvSpPr>
          <p:cNvPr id="7" name="Text 4"/>
          <p:cNvSpPr txBox="1"/>
          <p:nvPr/>
        </p:nvSpPr>
        <p:spPr>
          <a:xfrm>
            <a:off x="713232" y="1682496"/>
            <a:ext cx="2048256" cy="1097280"/>
          </a:xfrm>
          <a:prstGeom prst="rect">
            <a:avLst/>
          </a:prstGeom>
          <a:noFill/>
          <a:ln/>
        </p:spPr>
        <p:txBody>
          <a:bodyPr wrap="square" lIns="0" tIns="0" rIns="0" bIns="0" rtlCol="0" anchor="t"/>
          <a:lstStyle/>
          <a:p>
            <a:pPr marL="0" indent="0">
              <a:buNone/>
            </a:pPr>
            <a:r>
              <a:rPr lang="en-US" sz="1400" dirty="0">
                <a:solidFill>
                  <a:schemeClr val="tx1"/>
                </a:solidFill>
              </a:rPr>
              <a:t>Retry until acknowledged. Nothing is lost, but a message may arrive twice.</a:t>
            </a:r>
            <a:endParaRPr lang="en-US" sz="1400" dirty="0"/>
          </a:p>
        </p:txBody>
      </p:sp>
      <p:sp>
        <p:nvSpPr>
          <p:cNvPr id="8" name="Shape 5"/>
          <p:cNvSpPr/>
          <p:nvPr/>
        </p:nvSpPr>
        <p:spPr>
          <a:xfrm>
            <a:off x="3383280" y="1188720"/>
            <a:ext cx="2377440" cy="1737360"/>
          </a:xfrm>
          <a:prstGeom prst="roundRect">
            <a:avLst>
              <a:gd name="adj" fmla="val 4211"/>
            </a:avLst>
          </a:prstGeom>
          <a:solidFill>
            <a:schemeClr val="bg2"/>
          </a:solidFill>
          <a:ln/>
        </p:spPr>
      </p:sp>
      <p:sp>
        <p:nvSpPr>
          <p:cNvPr id="9" name="Text 6"/>
          <p:cNvSpPr txBox="1"/>
          <p:nvPr/>
        </p:nvSpPr>
        <p:spPr>
          <a:xfrm>
            <a:off x="3547872" y="1316736"/>
            <a:ext cx="2048256" cy="320040"/>
          </a:xfrm>
          <a:prstGeom prst="rect">
            <a:avLst/>
          </a:prstGeom>
          <a:noFill/>
          <a:ln/>
        </p:spPr>
        <p:txBody>
          <a:bodyPr wrap="square" lIns="0" tIns="0" rIns="0" bIns="0" rtlCol="0" anchor="t"/>
          <a:lstStyle/>
          <a:p>
            <a:pPr marL="0" indent="0">
              <a:buNone/>
            </a:pPr>
            <a:r>
              <a:rPr lang="en-US" sz="1500" b="1" dirty="0">
                <a:solidFill>
                  <a:schemeClr val="tx1"/>
                </a:solidFill>
              </a:rPr>
              <a:t>Idempotent receiver</a:t>
            </a:r>
            <a:endParaRPr lang="en-US" sz="1500" dirty="0"/>
          </a:p>
        </p:txBody>
      </p:sp>
      <p:sp>
        <p:nvSpPr>
          <p:cNvPr id="10" name="Text 7"/>
          <p:cNvSpPr txBox="1"/>
          <p:nvPr/>
        </p:nvSpPr>
        <p:spPr>
          <a:xfrm>
            <a:off x="3547872" y="1682496"/>
            <a:ext cx="2048256" cy="1097280"/>
          </a:xfrm>
          <a:prstGeom prst="rect">
            <a:avLst/>
          </a:prstGeom>
          <a:noFill/>
          <a:ln/>
        </p:spPr>
        <p:txBody>
          <a:bodyPr wrap="square" lIns="0" tIns="0" rIns="0" bIns="0" rtlCol="0" anchor="t"/>
          <a:lstStyle/>
          <a:p>
            <a:pPr marL="0" indent="0">
              <a:buNone/>
            </a:pPr>
            <a:r>
              <a:rPr lang="en-US" sz="1400" dirty="0">
                <a:solidFill>
                  <a:schemeClr val="tx1"/>
                </a:solidFill>
              </a:rPr>
              <a:t>A stable key names the intention. A repeat gets the saved result.</a:t>
            </a:r>
            <a:endParaRPr lang="en-US" sz="1400" dirty="0"/>
          </a:p>
        </p:txBody>
      </p:sp>
      <p:sp>
        <p:nvSpPr>
          <p:cNvPr id="11" name="Shape 8"/>
          <p:cNvSpPr/>
          <p:nvPr/>
        </p:nvSpPr>
        <p:spPr>
          <a:xfrm>
            <a:off x="6217920" y="1188720"/>
            <a:ext cx="2377440" cy="1737360"/>
          </a:xfrm>
          <a:prstGeom prst="roundRect">
            <a:avLst>
              <a:gd name="adj" fmla="val 4211"/>
            </a:avLst>
          </a:prstGeom>
          <a:solidFill>
            <a:schemeClr val="accent1"/>
          </a:solidFill>
          <a:ln/>
        </p:spPr>
      </p:sp>
      <p:sp>
        <p:nvSpPr>
          <p:cNvPr id="12" name="Text 9"/>
          <p:cNvSpPr txBox="1"/>
          <p:nvPr/>
        </p:nvSpPr>
        <p:spPr>
          <a:xfrm>
            <a:off x="6382512" y="1316736"/>
            <a:ext cx="2048256" cy="320040"/>
          </a:xfrm>
          <a:prstGeom prst="rect">
            <a:avLst/>
          </a:prstGeom>
          <a:noFill/>
          <a:ln/>
        </p:spPr>
        <p:txBody>
          <a:bodyPr wrap="square" lIns="0" tIns="0" rIns="0" bIns="0" rtlCol="0" anchor="t"/>
          <a:lstStyle/>
          <a:p>
            <a:pPr marL="0" indent="0">
              <a:buNone/>
            </a:pPr>
            <a:r>
              <a:rPr lang="en-US" sz="1500" b="1" dirty="0">
                <a:solidFill>
                  <a:schemeClr val="bg1"/>
                </a:solidFill>
              </a:rPr>
              <a:t>Effectively-once</a:t>
            </a:r>
            <a:endParaRPr lang="en-US" sz="1500" dirty="0"/>
          </a:p>
        </p:txBody>
      </p:sp>
      <p:sp>
        <p:nvSpPr>
          <p:cNvPr id="13" name="Text 10"/>
          <p:cNvSpPr txBox="1"/>
          <p:nvPr/>
        </p:nvSpPr>
        <p:spPr>
          <a:xfrm>
            <a:off x="6382512" y="1682496"/>
            <a:ext cx="2048256" cy="1097280"/>
          </a:xfrm>
          <a:prstGeom prst="rect">
            <a:avLst/>
          </a:prstGeom>
          <a:noFill/>
          <a:ln/>
        </p:spPr>
        <p:txBody>
          <a:bodyPr wrap="square" lIns="0" tIns="0" rIns="0" bIns="0" rtlCol="0" anchor="t"/>
          <a:lstStyle/>
          <a:p>
            <a:pPr marL="0" indent="0">
              <a:buNone/>
            </a:pPr>
            <a:r>
              <a:rPr lang="en-US" sz="1400" dirty="0">
                <a:solidFill>
                  <a:schemeClr val="bg1"/>
                </a:solidFill>
              </a:rPr>
              <a:t>Many arrivals, but the effect happens only once.</a:t>
            </a:r>
            <a:endParaRPr lang="en-US" sz="1400" dirty="0"/>
          </a:p>
        </p:txBody>
      </p:sp>
      <p:sp>
        <p:nvSpPr>
          <p:cNvPr id="14" name="Text 11"/>
          <p:cNvSpPr txBox="1"/>
          <p:nvPr/>
        </p:nvSpPr>
        <p:spPr>
          <a:xfrm>
            <a:off x="2926080" y="1737360"/>
            <a:ext cx="457200" cy="640080"/>
          </a:xfrm>
          <a:prstGeom prst="rect">
            <a:avLst/>
          </a:prstGeom>
          <a:noFill/>
          <a:ln/>
        </p:spPr>
        <p:txBody>
          <a:bodyPr wrap="square" lIns="0" tIns="0" rIns="0" bIns="0" rtlCol="0" anchor="t"/>
          <a:lstStyle/>
          <a:p>
            <a:pPr marL="0" indent="0" algn="ctr">
              <a:buNone/>
            </a:pPr>
            <a:r>
              <a:rPr lang="en-US" sz="3200" b="1" dirty="0">
                <a:solidFill>
                  <a:schemeClr val="accent5"/>
                </a:solidFill>
              </a:rPr>
              <a:t>+</a:t>
            </a:r>
            <a:endParaRPr lang="en-US" sz="3200" dirty="0"/>
          </a:p>
        </p:txBody>
      </p:sp>
      <p:sp>
        <p:nvSpPr>
          <p:cNvPr id="15" name="Text 12"/>
          <p:cNvSpPr txBox="1"/>
          <p:nvPr/>
        </p:nvSpPr>
        <p:spPr>
          <a:xfrm>
            <a:off x="5760720" y="1737360"/>
            <a:ext cx="457200" cy="640080"/>
          </a:xfrm>
          <a:prstGeom prst="rect">
            <a:avLst/>
          </a:prstGeom>
          <a:noFill/>
          <a:ln/>
        </p:spPr>
        <p:txBody>
          <a:bodyPr wrap="square" lIns="0" tIns="0" rIns="0" bIns="0" rtlCol="0" anchor="t"/>
          <a:lstStyle/>
          <a:p>
            <a:pPr marL="0" indent="0" algn="ctr">
              <a:buNone/>
            </a:pPr>
            <a:r>
              <a:rPr lang="en-US" sz="3200" b="1" dirty="0">
                <a:solidFill>
                  <a:schemeClr val="accent5"/>
                </a:solidFill>
              </a:rPr>
              <a:t>=</a:t>
            </a:r>
            <a:endParaRPr lang="en-US" sz="3200" dirty="0"/>
          </a:p>
        </p:txBody>
      </p:sp>
      <p:sp>
        <p:nvSpPr>
          <p:cNvPr id="16" name="Shape 13"/>
          <p:cNvSpPr/>
          <p:nvPr/>
        </p:nvSpPr>
        <p:spPr>
          <a:xfrm>
            <a:off x="548640" y="3200400"/>
            <a:ext cx="3931920" cy="1234440"/>
          </a:xfrm>
          <a:prstGeom prst="roundRect">
            <a:avLst>
              <a:gd name="adj" fmla="val 5926"/>
            </a:avLst>
          </a:prstGeom>
          <a:solidFill>
            <a:schemeClr val="bg2"/>
          </a:solidFill>
          <a:ln/>
        </p:spPr>
      </p:sp>
      <p:sp>
        <p:nvSpPr>
          <p:cNvPr id="17" name="Text 14"/>
          <p:cNvSpPr txBox="1"/>
          <p:nvPr/>
        </p:nvSpPr>
        <p:spPr>
          <a:xfrm>
            <a:off x="713232" y="3328416"/>
            <a:ext cx="3602736" cy="320040"/>
          </a:xfrm>
          <a:prstGeom prst="rect">
            <a:avLst/>
          </a:prstGeom>
          <a:noFill/>
          <a:ln/>
        </p:spPr>
        <p:txBody>
          <a:bodyPr wrap="square" lIns="0" tIns="0" rIns="0" bIns="0" rtlCol="0" anchor="t"/>
          <a:lstStyle/>
          <a:p>
            <a:pPr marL="0" indent="0">
              <a:buNone/>
            </a:pPr>
            <a:r>
              <a:rPr lang="en-US" sz="1500" b="1" dirty="0">
                <a:solidFill>
                  <a:schemeClr val="tx1"/>
                </a:solidFill>
              </a:rPr>
              <a:t>Like a lift button</a:t>
            </a:r>
            <a:endParaRPr lang="en-US" sz="1500" dirty="0"/>
          </a:p>
        </p:txBody>
      </p:sp>
      <p:sp>
        <p:nvSpPr>
          <p:cNvPr id="18" name="Text 15"/>
          <p:cNvSpPr txBox="1"/>
          <p:nvPr/>
        </p:nvSpPr>
        <p:spPr>
          <a:xfrm>
            <a:off x="713232" y="3694176"/>
            <a:ext cx="3602736" cy="594360"/>
          </a:xfrm>
          <a:prstGeom prst="rect">
            <a:avLst/>
          </a:prstGeom>
          <a:noFill/>
          <a:ln/>
        </p:spPr>
        <p:txBody>
          <a:bodyPr wrap="square" lIns="0" tIns="0" rIns="0" bIns="0" rtlCol="0" anchor="t"/>
          <a:lstStyle/>
          <a:p>
            <a:pPr marL="0" indent="0">
              <a:buNone/>
            </a:pPr>
            <a:r>
              <a:rPr lang="en-US" sz="1400" dirty="0">
                <a:solidFill>
                  <a:schemeClr val="tx1"/>
                </a:solidFill>
              </a:rPr>
              <a:t>Press it five times and one lift still comes.</a:t>
            </a:r>
            <a:endParaRPr lang="en-US" sz="1400" dirty="0"/>
          </a:p>
        </p:txBody>
      </p:sp>
      <p:sp>
        <p:nvSpPr>
          <p:cNvPr id="19" name="Shape 16"/>
          <p:cNvSpPr/>
          <p:nvPr/>
        </p:nvSpPr>
        <p:spPr>
          <a:xfrm>
            <a:off x="4663440" y="3200400"/>
            <a:ext cx="3931920" cy="1234440"/>
          </a:xfrm>
          <a:prstGeom prst="roundRect">
            <a:avLst>
              <a:gd name="adj" fmla="val 5926"/>
            </a:avLst>
          </a:prstGeom>
          <a:solidFill>
            <a:schemeClr val="accent2"/>
          </a:solidFill>
          <a:ln/>
        </p:spPr>
      </p:sp>
      <p:sp>
        <p:nvSpPr>
          <p:cNvPr id="20" name="Text 17"/>
          <p:cNvSpPr txBox="1"/>
          <p:nvPr/>
        </p:nvSpPr>
        <p:spPr>
          <a:xfrm>
            <a:off x="4828032" y="3328416"/>
            <a:ext cx="3602736" cy="320040"/>
          </a:xfrm>
          <a:prstGeom prst="rect">
            <a:avLst/>
          </a:prstGeom>
          <a:noFill/>
          <a:ln/>
        </p:spPr>
        <p:txBody>
          <a:bodyPr wrap="square" lIns="0" tIns="0" rIns="0" bIns="0" rtlCol="0" anchor="t"/>
          <a:lstStyle/>
          <a:p>
            <a:pPr marL="0" indent="0">
              <a:buNone/>
            </a:pPr>
            <a:r>
              <a:rPr lang="en-US" sz="1500" b="1" dirty="0">
                <a:solidFill>
                  <a:schemeClr val="tx1"/>
                </a:solidFill>
              </a:rPr>
              <a:t>Why "ish"?</a:t>
            </a:r>
            <a:endParaRPr lang="en-US" sz="1500" dirty="0"/>
          </a:p>
        </p:txBody>
      </p:sp>
      <p:sp>
        <p:nvSpPr>
          <p:cNvPr id="21" name="Text 18"/>
          <p:cNvSpPr txBox="1"/>
          <p:nvPr/>
        </p:nvSpPr>
        <p:spPr>
          <a:xfrm>
            <a:off x="4828032" y="3694176"/>
            <a:ext cx="3602736" cy="594360"/>
          </a:xfrm>
          <a:prstGeom prst="rect">
            <a:avLst/>
          </a:prstGeom>
          <a:noFill/>
          <a:ln/>
        </p:spPr>
        <p:txBody>
          <a:bodyPr wrap="square" lIns="0" tIns="0" rIns="0" bIns="0" rtlCol="0" anchor="t"/>
          <a:lstStyle/>
          <a:p>
            <a:pPr marL="0" indent="0">
              <a:buNone/>
            </a:pPr>
            <a:r>
              <a:rPr lang="en-US" sz="1400" dirty="0">
                <a:solidFill>
                  <a:schemeClr val="tx1"/>
                </a:solidFill>
              </a:rPr>
              <a:t>Perfect exactly-once is impossible over a network. We say it honestly.</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How we built it: IdempotentWallet</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4</a:t>
            </a:r>
            <a:endParaRPr lang="en-US" sz="1000" dirty="0"/>
          </a:p>
        </p:txBody>
      </p:sp>
      <p:sp>
        <p:nvSpPr>
          <p:cNvPr id="5" name="Shape 2"/>
          <p:cNvSpPr/>
          <p:nvPr/>
        </p:nvSpPr>
        <p:spPr>
          <a:xfrm>
            <a:off x="502920" y="1097280"/>
            <a:ext cx="1508760" cy="1005840"/>
          </a:xfrm>
          <a:prstGeom prst="roundRect">
            <a:avLst>
              <a:gd name="adj" fmla="val 7273"/>
            </a:avLst>
          </a:prstGeom>
          <a:solidFill>
            <a:schemeClr val="bg2"/>
          </a:solidFill>
          <a:ln/>
        </p:spPr>
      </p:sp>
      <p:sp>
        <p:nvSpPr>
          <p:cNvPr id="6" name="Text 3"/>
          <p:cNvSpPr txBox="1"/>
          <p:nvPr/>
        </p:nvSpPr>
        <p:spPr>
          <a:xfrm>
            <a:off x="50292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2</a:t>
            </a:r>
            <a:endParaRPr lang="en-US" sz="3200" dirty="0"/>
          </a:p>
        </p:txBody>
      </p:sp>
      <p:sp>
        <p:nvSpPr>
          <p:cNvPr id="7" name="Text 4"/>
          <p:cNvSpPr txBox="1"/>
          <p:nvPr/>
        </p:nvSpPr>
        <p:spPr>
          <a:xfrm>
            <a:off x="50292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services</a:t>
            </a:r>
            <a:endParaRPr lang="en-US" sz="1200" dirty="0"/>
          </a:p>
        </p:txBody>
      </p:sp>
      <p:sp>
        <p:nvSpPr>
          <p:cNvPr id="8" name="Shape 5"/>
          <p:cNvSpPr/>
          <p:nvPr/>
        </p:nvSpPr>
        <p:spPr>
          <a:xfrm>
            <a:off x="2148840" y="1097280"/>
            <a:ext cx="1508760" cy="1005840"/>
          </a:xfrm>
          <a:prstGeom prst="roundRect">
            <a:avLst>
              <a:gd name="adj" fmla="val 7273"/>
            </a:avLst>
          </a:prstGeom>
          <a:solidFill>
            <a:schemeClr val="bg2"/>
          </a:solidFill>
          <a:ln/>
        </p:spPr>
      </p:sp>
      <p:sp>
        <p:nvSpPr>
          <p:cNvPr id="9" name="Text 6"/>
          <p:cNvSpPr txBox="1"/>
          <p:nvPr/>
        </p:nvSpPr>
        <p:spPr>
          <a:xfrm>
            <a:off x="214884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2</a:t>
            </a:r>
            <a:endParaRPr lang="en-US" sz="3200" dirty="0"/>
          </a:p>
        </p:txBody>
      </p:sp>
      <p:sp>
        <p:nvSpPr>
          <p:cNvPr id="10" name="Text 7"/>
          <p:cNvSpPr txBox="1"/>
          <p:nvPr/>
        </p:nvSpPr>
        <p:spPr>
          <a:xfrm>
            <a:off x="214884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databases</a:t>
            </a:r>
            <a:endParaRPr lang="en-US" sz="1200" dirty="0"/>
          </a:p>
        </p:txBody>
      </p:sp>
      <p:sp>
        <p:nvSpPr>
          <p:cNvPr id="11" name="Shape 8"/>
          <p:cNvSpPr/>
          <p:nvPr/>
        </p:nvSpPr>
        <p:spPr>
          <a:xfrm>
            <a:off x="3794760" y="1097280"/>
            <a:ext cx="1508760" cy="1005840"/>
          </a:xfrm>
          <a:prstGeom prst="roundRect">
            <a:avLst>
              <a:gd name="adj" fmla="val 7273"/>
            </a:avLst>
          </a:prstGeom>
          <a:solidFill>
            <a:schemeClr val="bg2"/>
          </a:solidFill>
          <a:ln/>
        </p:spPr>
      </p:sp>
      <p:sp>
        <p:nvSpPr>
          <p:cNvPr id="12" name="Text 9"/>
          <p:cNvSpPr txBox="1"/>
          <p:nvPr/>
        </p:nvSpPr>
        <p:spPr>
          <a:xfrm>
            <a:off x="379476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1</a:t>
            </a:r>
            <a:endParaRPr lang="en-US" sz="3200" dirty="0"/>
          </a:p>
        </p:txBody>
      </p:sp>
      <p:sp>
        <p:nvSpPr>
          <p:cNvPr id="13" name="Text 10"/>
          <p:cNvSpPr txBox="1"/>
          <p:nvPr/>
        </p:nvSpPr>
        <p:spPr>
          <a:xfrm>
            <a:off x="379476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broker</a:t>
            </a:r>
            <a:endParaRPr lang="en-US" sz="1200" dirty="0"/>
          </a:p>
        </p:txBody>
      </p:sp>
      <p:sp>
        <p:nvSpPr>
          <p:cNvPr id="14" name="Shape 11"/>
          <p:cNvSpPr/>
          <p:nvPr/>
        </p:nvSpPr>
        <p:spPr>
          <a:xfrm>
            <a:off x="5440680" y="1097280"/>
            <a:ext cx="1508760" cy="1005840"/>
          </a:xfrm>
          <a:prstGeom prst="roundRect">
            <a:avLst>
              <a:gd name="adj" fmla="val 7273"/>
            </a:avLst>
          </a:prstGeom>
          <a:solidFill>
            <a:schemeClr val="bg2"/>
          </a:solidFill>
          <a:ln/>
        </p:spPr>
      </p:sp>
      <p:sp>
        <p:nvSpPr>
          <p:cNvPr id="15" name="Text 12"/>
          <p:cNvSpPr txBox="1"/>
          <p:nvPr/>
        </p:nvSpPr>
        <p:spPr>
          <a:xfrm>
            <a:off x="544068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3</a:t>
            </a:r>
            <a:endParaRPr lang="en-US" sz="3200" dirty="0"/>
          </a:p>
        </p:txBody>
      </p:sp>
      <p:sp>
        <p:nvSpPr>
          <p:cNvPr id="16" name="Text 13"/>
          <p:cNvSpPr txBox="1"/>
          <p:nvPr/>
        </p:nvSpPr>
        <p:spPr>
          <a:xfrm>
            <a:off x="544068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idempotency layers</a:t>
            </a:r>
            <a:endParaRPr lang="en-US" sz="1200" dirty="0"/>
          </a:p>
        </p:txBody>
      </p:sp>
      <p:sp>
        <p:nvSpPr>
          <p:cNvPr id="17" name="Shape 14"/>
          <p:cNvSpPr/>
          <p:nvPr/>
        </p:nvSpPr>
        <p:spPr>
          <a:xfrm>
            <a:off x="7086600" y="1097280"/>
            <a:ext cx="1508760" cy="1005840"/>
          </a:xfrm>
          <a:prstGeom prst="roundRect">
            <a:avLst>
              <a:gd name="adj" fmla="val 7273"/>
            </a:avLst>
          </a:prstGeom>
          <a:solidFill>
            <a:schemeClr val="bg2"/>
          </a:solidFill>
          <a:ln/>
        </p:spPr>
      </p:sp>
      <p:sp>
        <p:nvSpPr>
          <p:cNvPr id="18" name="Text 15"/>
          <p:cNvSpPr txBox="1"/>
          <p:nvPr/>
        </p:nvSpPr>
        <p:spPr>
          <a:xfrm>
            <a:off x="7086600" y="1170432"/>
            <a:ext cx="1508760" cy="502920"/>
          </a:xfrm>
          <a:prstGeom prst="rect">
            <a:avLst/>
          </a:prstGeom>
          <a:noFill/>
          <a:ln/>
        </p:spPr>
        <p:txBody>
          <a:bodyPr wrap="square" lIns="0" tIns="0" rIns="0" bIns="0" rtlCol="0" anchor="t"/>
          <a:lstStyle/>
          <a:p>
            <a:pPr marL="0" indent="0" algn="ctr">
              <a:buNone/>
            </a:pPr>
            <a:r>
              <a:rPr lang="en-US" sz="3200" b="1" dirty="0">
                <a:solidFill>
                  <a:schemeClr val="accent1"/>
                </a:solidFill>
              </a:rPr>
              <a:t>11</a:t>
            </a:r>
            <a:endParaRPr lang="en-US" sz="3200" dirty="0"/>
          </a:p>
        </p:txBody>
      </p:sp>
      <p:sp>
        <p:nvSpPr>
          <p:cNvPr id="19" name="Text 16"/>
          <p:cNvSpPr txBox="1"/>
          <p:nvPr/>
        </p:nvSpPr>
        <p:spPr>
          <a:xfrm>
            <a:off x="7086600" y="1691640"/>
            <a:ext cx="1508760" cy="320040"/>
          </a:xfrm>
          <a:prstGeom prst="rect">
            <a:avLst/>
          </a:prstGeom>
          <a:noFill/>
          <a:ln/>
        </p:spPr>
        <p:txBody>
          <a:bodyPr wrap="square" lIns="0" tIns="0" rIns="0" bIns="0" rtlCol="0" anchor="t"/>
          <a:lstStyle/>
          <a:p>
            <a:pPr marL="0" indent="0" algn="ctr">
              <a:buNone/>
            </a:pPr>
            <a:r>
              <a:rPr lang="en-US" sz="1200" dirty="0">
                <a:solidFill>
                  <a:schemeClr val="tx1"/>
                </a:solidFill>
              </a:rPr>
              <a:t>demo scenarios</a:t>
            </a:r>
            <a:endParaRPr lang="en-US" sz="1200" dirty="0"/>
          </a:p>
        </p:txBody>
      </p:sp>
      <p:sp>
        <p:nvSpPr>
          <p:cNvPr id="20" name="Shape 17"/>
          <p:cNvSpPr/>
          <p:nvPr/>
        </p:nvSpPr>
        <p:spPr>
          <a:xfrm>
            <a:off x="548640" y="2423160"/>
            <a:ext cx="1280160" cy="914400"/>
          </a:xfrm>
          <a:prstGeom prst="roundRect">
            <a:avLst>
              <a:gd name="adj" fmla="val 8000"/>
            </a:avLst>
          </a:prstGeom>
          <a:solidFill>
            <a:schemeClr val="tx2"/>
          </a:solidFill>
          <a:ln/>
        </p:spPr>
      </p:sp>
      <p:sp>
        <p:nvSpPr>
          <p:cNvPr id="21" name="Text 18"/>
          <p:cNvSpPr txBox="1"/>
          <p:nvPr/>
        </p:nvSpPr>
        <p:spPr>
          <a:xfrm>
            <a:off x="548640" y="2560320"/>
            <a:ext cx="1280160" cy="320040"/>
          </a:xfrm>
          <a:prstGeom prst="rect">
            <a:avLst/>
          </a:prstGeom>
          <a:noFill/>
          <a:ln/>
        </p:spPr>
        <p:txBody>
          <a:bodyPr wrap="square" lIns="0" tIns="0" rIns="0" bIns="0" rtlCol="0" anchor="t"/>
          <a:lstStyle/>
          <a:p>
            <a:pPr marL="0" indent="0" algn="ctr">
              <a:buNone/>
            </a:pPr>
            <a:r>
              <a:rPr lang="en-US" sz="1500" b="1" dirty="0">
                <a:solidFill>
                  <a:schemeClr val="bg1"/>
                </a:solidFill>
              </a:rPr>
              <a:t>Client</a:t>
            </a:r>
            <a:endParaRPr lang="en-US" sz="1500" dirty="0"/>
          </a:p>
        </p:txBody>
      </p:sp>
      <p:sp>
        <p:nvSpPr>
          <p:cNvPr id="22" name="Text 19"/>
          <p:cNvSpPr txBox="1"/>
          <p:nvPr/>
        </p:nvSpPr>
        <p:spPr>
          <a:xfrm>
            <a:off x="548640" y="2898648"/>
            <a:ext cx="1280160" cy="365760"/>
          </a:xfrm>
          <a:prstGeom prst="rect">
            <a:avLst/>
          </a:prstGeom>
          <a:noFill/>
          <a:ln/>
        </p:spPr>
        <p:txBody>
          <a:bodyPr wrap="square" lIns="0" tIns="0" rIns="0" bIns="0" rtlCol="0" anchor="t"/>
          <a:lstStyle/>
          <a:p>
            <a:pPr marL="0" indent="0" algn="ctr">
              <a:buNone/>
            </a:pPr>
            <a:r>
              <a:rPr lang="en-US" sz="1200" dirty="0">
                <a:solidFill>
                  <a:schemeClr val="bg1"/>
                </a:solidFill>
              </a:rPr>
              <a:t>REST calls</a:t>
            </a:r>
            <a:endParaRPr lang="en-US" sz="1200" dirty="0"/>
          </a:p>
        </p:txBody>
      </p:sp>
      <p:sp>
        <p:nvSpPr>
          <p:cNvPr id="23" name="Shape 20"/>
          <p:cNvSpPr/>
          <p:nvPr/>
        </p:nvSpPr>
        <p:spPr>
          <a:xfrm>
            <a:off x="2194560" y="2423160"/>
            <a:ext cx="2011680" cy="914400"/>
          </a:xfrm>
          <a:prstGeom prst="roundRect">
            <a:avLst>
              <a:gd name="adj" fmla="val 8000"/>
            </a:avLst>
          </a:prstGeom>
          <a:solidFill>
            <a:schemeClr val="accent1"/>
          </a:solidFill>
          <a:ln/>
        </p:spPr>
      </p:sp>
      <p:sp>
        <p:nvSpPr>
          <p:cNvPr id="24" name="Text 21"/>
          <p:cNvSpPr txBox="1"/>
          <p:nvPr/>
        </p:nvSpPr>
        <p:spPr>
          <a:xfrm>
            <a:off x="2194560" y="2560320"/>
            <a:ext cx="2011680" cy="320040"/>
          </a:xfrm>
          <a:prstGeom prst="rect">
            <a:avLst/>
          </a:prstGeom>
          <a:noFill/>
          <a:ln/>
        </p:spPr>
        <p:txBody>
          <a:bodyPr wrap="square" lIns="0" tIns="0" rIns="0" bIns="0" rtlCol="0" anchor="t"/>
          <a:lstStyle/>
          <a:p>
            <a:pPr marL="0" indent="0" algn="ctr">
              <a:buNone/>
            </a:pPr>
            <a:r>
              <a:rPr lang="en-US" sz="1500" b="1" dirty="0">
                <a:solidFill>
                  <a:schemeClr val="bg1"/>
                </a:solidFill>
              </a:rPr>
              <a:t>wallet-service</a:t>
            </a:r>
            <a:endParaRPr lang="en-US" sz="1500" dirty="0"/>
          </a:p>
        </p:txBody>
      </p:sp>
      <p:sp>
        <p:nvSpPr>
          <p:cNvPr id="25" name="Text 22"/>
          <p:cNvSpPr txBox="1"/>
          <p:nvPr/>
        </p:nvSpPr>
        <p:spPr>
          <a:xfrm>
            <a:off x="2194560" y="2898648"/>
            <a:ext cx="2011680" cy="365760"/>
          </a:xfrm>
          <a:prstGeom prst="rect">
            <a:avLst/>
          </a:prstGeom>
          <a:noFill/>
          <a:ln/>
        </p:spPr>
        <p:txBody>
          <a:bodyPr wrap="square" lIns="0" tIns="0" rIns="0" bIns="0" rtlCol="0" anchor="t"/>
          <a:lstStyle/>
          <a:p>
            <a:pPr marL="0" indent="0" algn="ctr">
              <a:buNone/>
            </a:pPr>
            <a:r>
              <a:rPr lang="en-US" sz="1200" dirty="0">
                <a:solidFill>
                  <a:schemeClr val="bg1"/>
                </a:solidFill>
              </a:rPr>
              <a:t>port 8080</a:t>
            </a:r>
            <a:endParaRPr lang="en-US" sz="1200" dirty="0"/>
          </a:p>
        </p:txBody>
      </p:sp>
      <p:sp>
        <p:nvSpPr>
          <p:cNvPr id="26" name="Shape 23"/>
          <p:cNvSpPr/>
          <p:nvPr/>
        </p:nvSpPr>
        <p:spPr>
          <a:xfrm>
            <a:off x="4572000" y="2423160"/>
            <a:ext cx="1280160" cy="914400"/>
          </a:xfrm>
          <a:prstGeom prst="roundRect">
            <a:avLst>
              <a:gd name="adj" fmla="val 8000"/>
            </a:avLst>
          </a:prstGeom>
          <a:solidFill>
            <a:schemeClr val="accent2"/>
          </a:solidFill>
          <a:ln/>
        </p:spPr>
      </p:sp>
      <p:sp>
        <p:nvSpPr>
          <p:cNvPr id="27" name="Text 24"/>
          <p:cNvSpPr txBox="1"/>
          <p:nvPr/>
        </p:nvSpPr>
        <p:spPr>
          <a:xfrm>
            <a:off x="4572000" y="2560320"/>
            <a:ext cx="1280160" cy="320040"/>
          </a:xfrm>
          <a:prstGeom prst="rect">
            <a:avLst/>
          </a:prstGeom>
          <a:noFill/>
          <a:ln/>
        </p:spPr>
        <p:txBody>
          <a:bodyPr wrap="square" lIns="0" tIns="0" rIns="0" bIns="0" rtlCol="0" anchor="t"/>
          <a:lstStyle/>
          <a:p>
            <a:pPr marL="0" indent="0" algn="ctr">
              <a:buNone/>
            </a:pPr>
            <a:r>
              <a:rPr lang="en-US" sz="1500" b="1" dirty="0">
                <a:solidFill>
                  <a:schemeClr val="tx1"/>
                </a:solidFill>
              </a:rPr>
              <a:t>RabbitMQ</a:t>
            </a:r>
            <a:endParaRPr lang="en-US" sz="1500" dirty="0"/>
          </a:p>
        </p:txBody>
      </p:sp>
      <p:sp>
        <p:nvSpPr>
          <p:cNvPr id="28" name="Text 25"/>
          <p:cNvSpPr txBox="1"/>
          <p:nvPr/>
        </p:nvSpPr>
        <p:spPr>
          <a:xfrm>
            <a:off x="4572000" y="2898648"/>
            <a:ext cx="1280160" cy="365760"/>
          </a:xfrm>
          <a:prstGeom prst="rect">
            <a:avLst/>
          </a:prstGeom>
          <a:noFill/>
          <a:ln/>
        </p:spPr>
        <p:txBody>
          <a:bodyPr wrap="square" lIns="0" tIns="0" rIns="0" bIns="0" rtlCol="0" anchor="t"/>
          <a:lstStyle/>
          <a:p>
            <a:pPr marL="0" indent="0" algn="ctr">
              <a:buNone/>
            </a:pPr>
            <a:r>
              <a:rPr lang="en-US" sz="1200" dirty="0">
                <a:solidFill>
                  <a:schemeClr val="tx1"/>
                </a:solidFill>
              </a:rPr>
              <a:t>messages</a:t>
            </a:r>
            <a:endParaRPr lang="en-US" sz="1200" dirty="0"/>
          </a:p>
        </p:txBody>
      </p:sp>
      <p:sp>
        <p:nvSpPr>
          <p:cNvPr id="29" name="Shape 26"/>
          <p:cNvSpPr/>
          <p:nvPr/>
        </p:nvSpPr>
        <p:spPr>
          <a:xfrm>
            <a:off x="6217920" y="2423160"/>
            <a:ext cx="2011680" cy="914400"/>
          </a:xfrm>
          <a:prstGeom prst="roundRect">
            <a:avLst>
              <a:gd name="adj" fmla="val 8000"/>
            </a:avLst>
          </a:prstGeom>
          <a:solidFill>
            <a:schemeClr val="accent1"/>
          </a:solidFill>
          <a:ln/>
        </p:spPr>
      </p:sp>
      <p:sp>
        <p:nvSpPr>
          <p:cNvPr id="30" name="Text 27"/>
          <p:cNvSpPr txBox="1"/>
          <p:nvPr/>
        </p:nvSpPr>
        <p:spPr>
          <a:xfrm>
            <a:off x="6217920" y="2560320"/>
            <a:ext cx="2011680" cy="320040"/>
          </a:xfrm>
          <a:prstGeom prst="rect">
            <a:avLst/>
          </a:prstGeom>
          <a:noFill/>
          <a:ln/>
        </p:spPr>
        <p:txBody>
          <a:bodyPr wrap="square" lIns="0" tIns="0" rIns="0" bIns="0" rtlCol="0" anchor="t"/>
          <a:lstStyle/>
          <a:p>
            <a:pPr marL="0" indent="0" algn="ctr">
              <a:buNone/>
            </a:pPr>
            <a:r>
              <a:rPr lang="en-US" sz="1500" b="1" dirty="0">
                <a:solidFill>
                  <a:schemeClr val="bg1"/>
                </a:solidFill>
              </a:rPr>
              <a:t>transfer-service</a:t>
            </a:r>
            <a:endParaRPr lang="en-US" sz="1500" dirty="0"/>
          </a:p>
        </p:txBody>
      </p:sp>
      <p:sp>
        <p:nvSpPr>
          <p:cNvPr id="31" name="Text 28"/>
          <p:cNvSpPr txBox="1"/>
          <p:nvPr/>
        </p:nvSpPr>
        <p:spPr>
          <a:xfrm>
            <a:off x="6217920" y="2898648"/>
            <a:ext cx="2011680" cy="365760"/>
          </a:xfrm>
          <a:prstGeom prst="rect">
            <a:avLst/>
          </a:prstGeom>
          <a:noFill/>
          <a:ln/>
        </p:spPr>
        <p:txBody>
          <a:bodyPr wrap="square" lIns="0" tIns="0" rIns="0" bIns="0" rtlCol="0" anchor="t"/>
          <a:lstStyle/>
          <a:p>
            <a:pPr marL="0" indent="0" algn="ctr">
              <a:buNone/>
            </a:pPr>
            <a:r>
              <a:rPr lang="en-US" sz="1200" dirty="0">
                <a:solidFill>
                  <a:schemeClr val="bg1"/>
                </a:solidFill>
              </a:rPr>
              <a:t>port 8081</a:t>
            </a:r>
            <a:endParaRPr lang="en-US" sz="1200" dirty="0"/>
          </a:p>
        </p:txBody>
      </p:sp>
      <p:sp>
        <p:nvSpPr>
          <p:cNvPr id="32" name="Shape 29"/>
          <p:cNvSpPr/>
          <p:nvPr/>
        </p:nvSpPr>
        <p:spPr>
          <a:xfrm>
            <a:off x="1828800" y="2880360"/>
            <a:ext cx="365760" cy="0"/>
          </a:xfrm>
          <a:prstGeom prst="line">
            <a:avLst/>
          </a:prstGeom>
          <a:noFill/>
          <a:ln w="25400">
            <a:solidFill>
              <a:schemeClr val="accent5"/>
            </a:solidFill>
            <a:prstDash val="solid"/>
            <a:tailEnd type="triangle"/>
          </a:ln>
        </p:spPr>
      </p:sp>
      <p:sp>
        <p:nvSpPr>
          <p:cNvPr id="33" name="Shape 30"/>
          <p:cNvSpPr/>
          <p:nvPr/>
        </p:nvSpPr>
        <p:spPr>
          <a:xfrm>
            <a:off x="4206240" y="2880360"/>
            <a:ext cx="365760" cy="0"/>
          </a:xfrm>
          <a:prstGeom prst="line">
            <a:avLst/>
          </a:prstGeom>
          <a:noFill/>
          <a:ln w="25400">
            <a:solidFill>
              <a:schemeClr val="accent5"/>
            </a:solidFill>
            <a:prstDash val="solid"/>
            <a:headEnd type="triangle"/>
            <a:tailEnd type="triangle"/>
          </a:ln>
        </p:spPr>
      </p:sp>
      <p:sp>
        <p:nvSpPr>
          <p:cNvPr id="34" name="Shape 31"/>
          <p:cNvSpPr/>
          <p:nvPr/>
        </p:nvSpPr>
        <p:spPr>
          <a:xfrm>
            <a:off x="5852160" y="2880360"/>
            <a:ext cx="365760" cy="0"/>
          </a:xfrm>
          <a:prstGeom prst="line">
            <a:avLst/>
          </a:prstGeom>
          <a:noFill/>
          <a:ln w="25400">
            <a:solidFill>
              <a:schemeClr val="accent5"/>
            </a:solidFill>
            <a:prstDash val="solid"/>
            <a:headEnd type="triangle"/>
            <a:tailEnd type="triangle"/>
          </a:ln>
        </p:spPr>
      </p:sp>
      <p:sp>
        <p:nvSpPr>
          <p:cNvPr id="35" name="Shape 32"/>
          <p:cNvSpPr/>
          <p:nvPr/>
        </p:nvSpPr>
        <p:spPr>
          <a:xfrm>
            <a:off x="2194560" y="3520440"/>
            <a:ext cx="2011680" cy="457200"/>
          </a:xfrm>
          <a:prstGeom prst="roundRect">
            <a:avLst>
              <a:gd name="adj" fmla="val 16000"/>
            </a:avLst>
          </a:prstGeom>
          <a:solidFill>
            <a:schemeClr val="bg2"/>
          </a:solidFill>
          <a:ln/>
        </p:spPr>
      </p:sp>
      <p:sp>
        <p:nvSpPr>
          <p:cNvPr id="36" name="Text 33"/>
          <p:cNvSpPr txBox="1"/>
          <p:nvPr/>
        </p:nvSpPr>
        <p:spPr>
          <a:xfrm>
            <a:off x="2194560" y="3657600"/>
            <a:ext cx="2011680" cy="320040"/>
          </a:xfrm>
          <a:prstGeom prst="rect">
            <a:avLst/>
          </a:prstGeom>
          <a:noFill/>
          <a:ln/>
        </p:spPr>
        <p:txBody>
          <a:bodyPr wrap="square" lIns="0" tIns="0" rIns="0" bIns="0" rtlCol="0" anchor="t"/>
          <a:lstStyle/>
          <a:p>
            <a:pPr marL="0" indent="0" algn="ctr">
              <a:buNone/>
            </a:pPr>
            <a:endParaRPr lang="en-US" sz="1500" dirty="0"/>
          </a:p>
        </p:txBody>
      </p:sp>
      <p:sp>
        <p:nvSpPr>
          <p:cNvPr id="37" name="Text 34"/>
          <p:cNvSpPr txBox="1"/>
          <p:nvPr/>
        </p:nvSpPr>
        <p:spPr>
          <a:xfrm>
            <a:off x="2194560" y="3995928"/>
            <a:ext cx="2011680" cy="365760"/>
          </a:xfrm>
          <a:prstGeom prst="rect">
            <a:avLst/>
          </a:prstGeom>
          <a:noFill/>
          <a:ln/>
        </p:spPr>
        <p:txBody>
          <a:bodyPr wrap="square" lIns="0" tIns="0" rIns="0" bIns="0" rtlCol="0" anchor="t"/>
          <a:lstStyle/>
          <a:p>
            <a:pPr marL="0" indent="0" algn="ctr">
              <a:buNone/>
            </a:pPr>
            <a:endParaRPr lang="en-US" sz="1200" dirty="0"/>
          </a:p>
        </p:txBody>
      </p:sp>
      <p:sp>
        <p:nvSpPr>
          <p:cNvPr id="38" name="Text 35"/>
          <p:cNvSpPr txBox="1"/>
          <p:nvPr/>
        </p:nvSpPr>
        <p:spPr>
          <a:xfrm>
            <a:off x="2194560" y="3630168"/>
            <a:ext cx="2011680" cy="274320"/>
          </a:xfrm>
          <a:prstGeom prst="rect">
            <a:avLst/>
          </a:prstGeom>
          <a:noFill/>
          <a:ln/>
        </p:spPr>
        <p:txBody>
          <a:bodyPr wrap="square" lIns="0" tIns="0" rIns="0" bIns="0" rtlCol="0" anchor="t"/>
          <a:lstStyle/>
          <a:p>
            <a:pPr marL="0" indent="0" algn="ctr">
              <a:buNone/>
            </a:pPr>
            <a:r>
              <a:rPr lang="en-US" sz="1200" dirty="0">
                <a:solidFill>
                  <a:schemeClr val="tx1"/>
                </a:solidFill>
              </a:rPr>
              <a:t>PostgreSQL: wallet</a:t>
            </a:r>
            <a:endParaRPr lang="en-US" sz="1200" dirty="0"/>
          </a:p>
        </p:txBody>
      </p:sp>
      <p:sp>
        <p:nvSpPr>
          <p:cNvPr id="39" name="Shape 36"/>
          <p:cNvSpPr/>
          <p:nvPr/>
        </p:nvSpPr>
        <p:spPr>
          <a:xfrm>
            <a:off x="6217920" y="3520440"/>
            <a:ext cx="2011680" cy="457200"/>
          </a:xfrm>
          <a:prstGeom prst="roundRect">
            <a:avLst>
              <a:gd name="adj" fmla="val 16000"/>
            </a:avLst>
          </a:prstGeom>
          <a:solidFill>
            <a:schemeClr val="bg2"/>
          </a:solidFill>
          <a:ln/>
        </p:spPr>
      </p:sp>
      <p:sp>
        <p:nvSpPr>
          <p:cNvPr id="40" name="Text 37"/>
          <p:cNvSpPr txBox="1"/>
          <p:nvPr/>
        </p:nvSpPr>
        <p:spPr>
          <a:xfrm>
            <a:off x="6217920" y="3630168"/>
            <a:ext cx="2011680" cy="274320"/>
          </a:xfrm>
          <a:prstGeom prst="rect">
            <a:avLst/>
          </a:prstGeom>
          <a:noFill/>
          <a:ln/>
        </p:spPr>
        <p:txBody>
          <a:bodyPr wrap="square" lIns="0" tIns="0" rIns="0" bIns="0" rtlCol="0" anchor="t"/>
          <a:lstStyle/>
          <a:p>
            <a:pPr marL="0" indent="0" algn="ctr">
              <a:buNone/>
            </a:pPr>
            <a:r>
              <a:rPr lang="en-US" sz="1200" dirty="0">
                <a:solidFill>
                  <a:schemeClr val="tx1"/>
                </a:solidFill>
              </a:rPr>
              <a:t>PostgreSQL: transfers</a:t>
            </a:r>
            <a:endParaRPr lang="en-US" sz="1200" dirty="0"/>
          </a:p>
        </p:txBody>
      </p:sp>
      <p:sp>
        <p:nvSpPr>
          <p:cNvPr id="41" name="Text 38"/>
          <p:cNvSpPr txBox="1"/>
          <p:nvPr/>
        </p:nvSpPr>
        <p:spPr>
          <a:xfrm>
            <a:off x="548640" y="4160520"/>
            <a:ext cx="8046720" cy="320040"/>
          </a:xfrm>
          <a:prstGeom prst="rect">
            <a:avLst/>
          </a:prstGeom>
          <a:noFill/>
          <a:ln/>
        </p:spPr>
        <p:txBody>
          <a:bodyPr wrap="square" lIns="0" tIns="0" rIns="0" bIns="0" rtlCol="0" anchor="t"/>
          <a:lstStyle/>
          <a:p>
            <a:pPr marL="0" indent="0">
              <a:buNone/>
            </a:pPr>
            <a:r>
              <a:rPr lang="en-US" sz="1400" b="1" dirty="0">
                <a:solidFill>
                  <a:schemeClr val="tx2"/>
                </a:solidFill>
              </a:rPr>
              <a:t>No shared tables. The services talk only through RabbitMQ.</a:t>
            </a:r>
            <a:endParaRPr lang="en-US" sz="1400" dirty="0"/>
          </a:p>
        </p:txBody>
      </p:sp>
      <p:sp>
        <p:nvSpPr>
          <p:cNvPr id="4"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Layer 1: the Idempotency-Key</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5</a:t>
            </a:r>
            <a:endParaRPr lang="en-US" sz="1000" dirty="0"/>
          </a:p>
        </p:txBody>
      </p:sp>
      <p:sp>
        <p:nvSpPr>
          <p:cNvPr id="5" name="Shape 2"/>
          <p:cNvSpPr/>
          <p:nvPr/>
        </p:nvSpPr>
        <p:spPr>
          <a:xfrm>
            <a:off x="457200" y="1143000"/>
            <a:ext cx="4846320" cy="749808"/>
          </a:xfrm>
          <a:prstGeom prst="roundRect">
            <a:avLst>
              <a:gd name="adj" fmla="val 9756"/>
            </a:avLst>
          </a:prstGeom>
          <a:solidFill>
            <a:schemeClr val="bg2"/>
          </a:solidFill>
          <a:ln/>
        </p:spPr>
      </p:sp>
      <p:sp>
        <p:nvSpPr>
          <p:cNvPr id="6" name="Shape 3"/>
          <p:cNvSpPr/>
          <p:nvPr/>
        </p:nvSpPr>
        <p:spPr>
          <a:xfrm>
            <a:off x="594360" y="1316736"/>
            <a:ext cx="402336" cy="402336"/>
          </a:xfrm>
          <a:prstGeom prst="ellipse">
            <a:avLst/>
          </a:prstGeom>
          <a:solidFill>
            <a:schemeClr val="accent1"/>
          </a:solidFill>
          <a:ln/>
        </p:spPr>
      </p:sp>
      <p:sp>
        <p:nvSpPr>
          <p:cNvPr id="7" name="Text 4"/>
          <p:cNvSpPr txBox="1"/>
          <p:nvPr/>
        </p:nvSpPr>
        <p:spPr>
          <a:xfrm>
            <a:off x="594360" y="131673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8" name="Text 5"/>
          <p:cNvSpPr txBox="1"/>
          <p:nvPr/>
        </p:nvSpPr>
        <p:spPr>
          <a:xfrm>
            <a:off x="1188720" y="1252728"/>
            <a:ext cx="4023360" cy="548640"/>
          </a:xfrm>
          <a:prstGeom prst="rect">
            <a:avLst/>
          </a:prstGeom>
          <a:noFill/>
          <a:ln/>
        </p:spPr>
        <p:txBody>
          <a:bodyPr wrap="square" lIns="0" tIns="0" rIns="0" bIns="0" rtlCol="0" anchor="t"/>
          <a:lstStyle/>
          <a:p>
            <a:pPr marL="0" indent="0">
              <a:buNone/>
            </a:pPr>
            <a:r>
              <a:rPr lang="en-US" sz="1500" b="1" dirty="0">
                <a:solidFill>
                  <a:schemeClr val="tx1"/>
                </a:solidFill>
              </a:rPr>
              <a:t>Client sends the key</a:t>
            </a:r>
            <a:endParaRPr lang="en-US" sz="1400" dirty="0"/>
          </a:p>
          <a:p>
            <a:pPr marL="0" indent="0">
              <a:buNone/>
            </a:pPr>
            <a:r>
              <a:rPr lang="en-US" sz="1300" dirty="0">
                <a:solidFill>
                  <a:schemeClr val="tx1"/>
                </a:solidFill>
              </a:rPr>
              <a:t>One UUID per Send tap, reused on retries</a:t>
            </a:r>
            <a:endParaRPr lang="en-US" sz="1400" dirty="0"/>
          </a:p>
        </p:txBody>
      </p:sp>
      <p:sp>
        <p:nvSpPr>
          <p:cNvPr id="9" name="Shape 6"/>
          <p:cNvSpPr/>
          <p:nvPr/>
        </p:nvSpPr>
        <p:spPr>
          <a:xfrm>
            <a:off x="457200" y="2011680"/>
            <a:ext cx="4846320" cy="749808"/>
          </a:xfrm>
          <a:prstGeom prst="roundRect">
            <a:avLst>
              <a:gd name="adj" fmla="val 9756"/>
            </a:avLst>
          </a:prstGeom>
          <a:solidFill>
            <a:schemeClr val="bg2"/>
          </a:solidFill>
          <a:ln/>
        </p:spPr>
      </p:sp>
      <p:sp>
        <p:nvSpPr>
          <p:cNvPr id="10" name="Shape 7"/>
          <p:cNvSpPr/>
          <p:nvPr/>
        </p:nvSpPr>
        <p:spPr>
          <a:xfrm>
            <a:off x="594360" y="2185416"/>
            <a:ext cx="402336" cy="402336"/>
          </a:xfrm>
          <a:prstGeom prst="ellipse">
            <a:avLst/>
          </a:prstGeom>
          <a:solidFill>
            <a:schemeClr val="accent1"/>
          </a:solidFill>
          <a:ln/>
        </p:spPr>
      </p:sp>
      <p:sp>
        <p:nvSpPr>
          <p:cNvPr id="11" name="Text 8"/>
          <p:cNvSpPr txBox="1"/>
          <p:nvPr/>
        </p:nvSpPr>
        <p:spPr>
          <a:xfrm>
            <a:off x="594360" y="218541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9"/>
          <p:cNvSpPr txBox="1"/>
          <p:nvPr/>
        </p:nvSpPr>
        <p:spPr>
          <a:xfrm>
            <a:off x="1188720" y="2121408"/>
            <a:ext cx="4023360" cy="548640"/>
          </a:xfrm>
          <a:prstGeom prst="rect">
            <a:avLst/>
          </a:prstGeom>
          <a:noFill/>
          <a:ln/>
        </p:spPr>
        <p:txBody>
          <a:bodyPr wrap="square" lIns="0" tIns="0" rIns="0" bIns="0" rtlCol="0" anchor="t"/>
          <a:lstStyle/>
          <a:p>
            <a:pPr marL="0" indent="0">
              <a:buNone/>
            </a:pPr>
            <a:r>
              <a:rPr lang="en-US" sz="1500" b="1" dirty="0">
                <a:solidFill>
                  <a:schemeClr val="tx1"/>
                </a:solidFill>
              </a:rPr>
              <a:t>Server claims the key</a:t>
            </a:r>
            <a:endParaRPr lang="en-US" sz="1400" dirty="0"/>
          </a:p>
          <a:p>
            <a:pPr marL="0" indent="0">
              <a:buNone/>
            </a:pPr>
            <a:r>
              <a:rPr lang="en-US" sz="1300" dirty="0">
                <a:solidFill>
                  <a:schemeClr val="tx1"/>
                </a:solidFill>
              </a:rPr>
              <a:t>Unique index lets only one request win</a:t>
            </a:r>
            <a:endParaRPr lang="en-US" sz="1400" dirty="0"/>
          </a:p>
        </p:txBody>
      </p:sp>
      <p:sp>
        <p:nvSpPr>
          <p:cNvPr id="13" name="Shape 10"/>
          <p:cNvSpPr/>
          <p:nvPr/>
        </p:nvSpPr>
        <p:spPr>
          <a:xfrm>
            <a:off x="457200" y="2880360"/>
            <a:ext cx="4846320" cy="749808"/>
          </a:xfrm>
          <a:prstGeom prst="roundRect">
            <a:avLst>
              <a:gd name="adj" fmla="val 9756"/>
            </a:avLst>
          </a:prstGeom>
          <a:solidFill>
            <a:schemeClr val="bg2"/>
          </a:solidFill>
          <a:ln/>
        </p:spPr>
      </p:sp>
      <p:sp>
        <p:nvSpPr>
          <p:cNvPr id="14" name="Shape 11"/>
          <p:cNvSpPr/>
          <p:nvPr/>
        </p:nvSpPr>
        <p:spPr>
          <a:xfrm>
            <a:off x="594360" y="3054096"/>
            <a:ext cx="402336" cy="402336"/>
          </a:xfrm>
          <a:prstGeom prst="ellipse">
            <a:avLst/>
          </a:prstGeom>
          <a:solidFill>
            <a:schemeClr val="accent1"/>
          </a:solidFill>
          <a:ln/>
        </p:spPr>
      </p:sp>
      <p:sp>
        <p:nvSpPr>
          <p:cNvPr id="15" name="Text 12"/>
          <p:cNvSpPr txBox="1"/>
          <p:nvPr/>
        </p:nvSpPr>
        <p:spPr>
          <a:xfrm>
            <a:off x="594360" y="305409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 13"/>
          <p:cNvSpPr txBox="1"/>
          <p:nvPr/>
        </p:nvSpPr>
        <p:spPr>
          <a:xfrm>
            <a:off x="1188720" y="2990088"/>
            <a:ext cx="4023360" cy="548640"/>
          </a:xfrm>
          <a:prstGeom prst="rect">
            <a:avLst/>
          </a:prstGeom>
          <a:noFill/>
          <a:ln/>
        </p:spPr>
        <p:txBody>
          <a:bodyPr wrap="square" lIns="0" tIns="0" rIns="0" bIns="0" rtlCol="0" anchor="t"/>
          <a:lstStyle/>
          <a:p>
            <a:pPr marL="0" indent="0">
              <a:buNone/>
            </a:pPr>
            <a:r>
              <a:rPr lang="en-US" sz="1500" b="1" dirty="0">
                <a:solidFill>
                  <a:schemeClr val="tx1"/>
                </a:solidFill>
              </a:rPr>
              <a:t>Winner does the work</a:t>
            </a:r>
            <a:endParaRPr lang="en-US" sz="1400" dirty="0"/>
          </a:p>
          <a:p>
            <a:pPr marL="0" indent="0">
              <a:buNone/>
            </a:pPr>
            <a:r>
              <a:rPr lang="en-US" sz="1300" dirty="0">
                <a:solidFill>
                  <a:schemeClr val="tx1"/>
                </a:solidFill>
              </a:rPr>
              <a:t>Saves the receipt against the key</a:t>
            </a:r>
            <a:endParaRPr lang="en-US" sz="1400" dirty="0"/>
          </a:p>
        </p:txBody>
      </p:sp>
      <p:sp>
        <p:nvSpPr>
          <p:cNvPr id="17" name="Shape 14"/>
          <p:cNvSpPr/>
          <p:nvPr/>
        </p:nvSpPr>
        <p:spPr>
          <a:xfrm>
            <a:off x="457200" y="3749040"/>
            <a:ext cx="4846320" cy="749808"/>
          </a:xfrm>
          <a:prstGeom prst="roundRect">
            <a:avLst>
              <a:gd name="adj" fmla="val 9756"/>
            </a:avLst>
          </a:prstGeom>
          <a:solidFill>
            <a:schemeClr val="bg2"/>
          </a:solidFill>
          <a:ln/>
        </p:spPr>
      </p:sp>
      <p:sp>
        <p:nvSpPr>
          <p:cNvPr id="18" name="Shape 15"/>
          <p:cNvSpPr/>
          <p:nvPr/>
        </p:nvSpPr>
        <p:spPr>
          <a:xfrm>
            <a:off x="594360" y="3922776"/>
            <a:ext cx="402336" cy="402336"/>
          </a:xfrm>
          <a:prstGeom prst="ellipse">
            <a:avLst/>
          </a:prstGeom>
          <a:solidFill>
            <a:schemeClr val="accent1"/>
          </a:solidFill>
          <a:ln/>
        </p:spPr>
      </p:sp>
      <p:sp>
        <p:nvSpPr>
          <p:cNvPr id="19" name="Text 16"/>
          <p:cNvSpPr txBox="1"/>
          <p:nvPr/>
        </p:nvSpPr>
        <p:spPr>
          <a:xfrm>
            <a:off x="594360" y="392277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0" name="Text 17"/>
          <p:cNvSpPr txBox="1"/>
          <p:nvPr/>
        </p:nvSpPr>
        <p:spPr>
          <a:xfrm>
            <a:off x="1188720" y="3858768"/>
            <a:ext cx="4023360" cy="548640"/>
          </a:xfrm>
          <a:prstGeom prst="rect">
            <a:avLst/>
          </a:prstGeom>
          <a:noFill/>
          <a:ln/>
        </p:spPr>
        <p:txBody>
          <a:bodyPr wrap="square" lIns="0" tIns="0" rIns="0" bIns="0" rtlCol="0" anchor="t"/>
          <a:lstStyle/>
          <a:p>
            <a:pPr marL="0" indent="0">
              <a:buNone/>
            </a:pPr>
            <a:r>
              <a:rPr lang="en-US" sz="1500" b="1" dirty="0">
                <a:solidFill>
                  <a:schemeClr val="tx1"/>
                </a:solidFill>
              </a:rPr>
              <a:t>Repeats get the receipt</a:t>
            </a:r>
            <a:endParaRPr lang="en-US" sz="1400" dirty="0"/>
          </a:p>
          <a:p>
            <a:pPr marL="0" indent="0">
              <a:buNone/>
            </a:pPr>
            <a:r>
              <a:rPr lang="en-US" sz="1300" dirty="0">
                <a:solidFill>
                  <a:schemeClr val="tx1"/>
                </a:solidFill>
              </a:rPr>
              <a:t>Header: Idempotent-Replayed: true</a:t>
            </a:r>
            <a:endParaRPr lang="en-US" sz="1400" dirty="0"/>
          </a:p>
        </p:txBody>
      </p:sp>
      <p:sp>
        <p:nvSpPr>
          <p:cNvPr id="21" name="Shape 18"/>
          <p:cNvSpPr/>
          <p:nvPr/>
        </p:nvSpPr>
        <p:spPr>
          <a:xfrm>
            <a:off x="5577840" y="1143000"/>
            <a:ext cx="3108960" cy="3337560"/>
          </a:xfrm>
          <a:prstGeom prst="roundRect">
            <a:avLst>
              <a:gd name="adj" fmla="val 2353"/>
            </a:avLst>
          </a:prstGeom>
          <a:solidFill>
            <a:schemeClr val="tx2"/>
          </a:solidFill>
          <a:ln/>
        </p:spPr>
      </p:sp>
      <p:sp>
        <p:nvSpPr>
          <p:cNvPr id="22" name="Text 19"/>
          <p:cNvSpPr txBox="1"/>
          <p:nvPr/>
        </p:nvSpPr>
        <p:spPr>
          <a:xfrm>
            <a:off x="5760720" y="1280160"/>
            <a:ext cx="2743200" cy="320040"/>
          </a:xfrm>
          <a:prstGeom prst="rect">
            <a:avLst/>
          </a:prstGeom>
          <a:noFill/>
          <a:ln/>
        </p:spPr>
        <p:txBody>
          <a:bodyPr wrap="square" lIns="0" tIns="0" rIns="0" bIns="0" rtlCol="0" anchor="t"/>
          <a:lstStyle/>
          <a:p>
            <a:pPr marL="0" indent="0">
              <a:buNone/>
            </a:pPr>
            <a:r>
              <a:rPr lang="en-US" sz="1600" b="1" dirty="0">
                <a:solidFill>
                  <a:schemeClr val="accent2"/>
                </a:solidFill>
              </a:rPr>
              <a:t>Edge cases handled</a:t>
            </a:r>
            <a:endParaRPr lang="en-US" sz="1600" dirty="0"/>
          </a:p>
        </p:txBody>
      </p:sp>
      <p:sp>
        <p:nvSpPr>
          <p:cNvPr id="23" name="Text 20"/>
          <p:cNvSpPr txBox="1"/>
          <p:nvPr/>
        </p:nvSpPr>
        <p:spPr>
          <a:xfrm>
            <a:off x="5760720" y="1737360"/>
            <a:ext cx="274320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Same key, different body: 422</a:t>
            </a:r>
            <a:endParaRPr lang="en-US" sz="1400" dirty="0"/>
          </a:p>
          <a:p>
            <a:pPr marL="342900" indent="-342900">
              <a:spcAft>
                <a:spcPts val="600"/>
              </a:spcAft>
              <a:buSzPct val="100000"/>
              <a:buChar char="•"/>
            </a:pPr>
            <a:r>
              <a:rPr lang="en-US" sz="1400" dirty="0">
                <a:solidFill>
                  <a:schemeClr val="bg1"/>
                </a:solidFill>
              </a:rPr>
              <a:t>No key at all: 400</a:t>
            </a:r>
            <a:endParaRPr lang="en-US" sz="1400" dirty="0"/>
          </a:p>
          <a:p>
            <a:pPr marL="342900" indent="-342900">
              <a:spcAft>
                <a:spcPts val="600"/>
              </a:spcAft>
              <a:buSzPct val="100000"/>
              <a:buChar char="•"/>
            </a:pPr>
            <a:r>
              <a:rPr lang="en-US" sz="1400" dirty="0">
                <a:solidFill>
                  <a:schemeClr val="bg1"/>
                </a:solidFill>
              </a:rPr>
              <a:t>Key older than 24 hours: new request</a:t>
            </a:r>
            <a:endParaRPr lang="en-US" sz="1400" dirty="0"/>
          </a:p>
          <a:p>
            <a:pPr marL="342900" indent="-342900">
              <a:spcAft>
                <a:spcPts val="600"/>
              </a:spcAft>
              <a:buSzPct val="100000"/>
              <a:buChar char="•"/>
            </a:pPr>
            <a:r>
              <a:rPr lang="en-US" sz="1400" dirty="0">
                <a:solidFill>
                  <a:schemeClr val="bg1"/>
                </a:solidFill>
              </a:rPr>
              <a:t>Key scoped to endpoint and wallet</a:t>
            </a:r>
            <a:endParaRPr lang="en-US" sz="1400" dirty="0"/>
          </a:p>
          <a:p>
            <a:pPr marL="342900" indent="-342900">
              <a:spcAft>
                <a:spcPts val="600"/>
              </a:spcAft>
              <a:buSzPct val="100000"/>
              <a:buChar char="•"/>
            </a:pPr>
            <a:r>
              <a:rPr lang="en-US" sz="1400" dirty="0">
                <a:solidFill>
                  <a:schemeClr val="bg1"/>
                </a:solidFill>
              </a:rPr>
              <a:t>Body checked with a SHA-256 hash</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Key and effect commit together</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6</a:t>
            </a:r>
            <a:endParaRPr lang="en-US" sz="1000" dirty="0"/>
          </a:p>
        </p:txBody>
      </p:sp>
      <p:sp>
        <p:nvSpPr>
          <p:cNvPr id="5" name="Shape 2"/>
          <p:cNvSpPr/>
          <p:nvPr/>
        </p:nvSpPr>
        <p:spPr>
          <a:xfrm>
            <a:off x="457200" y="1143000"/>
            <a:ext cx="8229600" cy="1417320"/>
          </a:xfrm>
          <a:prstGeom prst="roundRect">
            <a:avLst>
              <a:gd name="adj" fmla="val 5161"/>
            </a:avLst>
          </a:prstGeom>
          <a:solidFill>
            <a:schemeClr val="tx2"/>
          </a:solidFill>
          <a:ln/>
        </p:spPr>
      </p:sp>
      <p:sp>
        <p:nvSpPr>
          <p:cNvPr id="6" name="Text 3"/>
          <p:cNvSpPr txBox="1"/>
          <p:nvPr/>
        </p:nvSpPr>
        <p:spPr>
          <a:xfrm>
            <a:off x="731520" y="1280160"/>
            <a:ext cx="4572000" cy="274320"/>
          </a:xfrm>
          <a:prstGeom prst="rect">
            <a:avLst/>
          </a:prstGeom>
          <a:noFill/>
          <a:ln/>
        </p:spPr>
        <p:txBody>
          <a:bodyPr wrap="square" lIns="0" tIns="0" rIns="0" bIns="0" rtlCol="0" anchor="t"/>
          <a:lstStyle/>
          <a:p>
            <a:pPr marL="0" indent="0">
              <a:buNone/>
            </a:pPr>
            <a:r>
              <a:rPr lang="en-US" sz="1400" b="1" dirty="0">
                <a:solidFill>
                  <a:schemeClr val="accent2"/>
                </a:solidFill>
              </a:rPr>
              <a:t>ONE database transaction</a:t>
            </a:r>
            <a:endParaRPr lang="en-US" sz="1400" dirty="0"/>
          </a:p>
        </p:txBody>
      </p:sp>
      <p:sp>
        <p:nvSpPr>
          <p:cNvPr id="7" name="Shape 4"/>
          <p:cNvSpPr/>
          <p:nvPr/>
        </p:nvSpPr>
        <p:spPr>
          <a:xfrm>
            <a:off x="731520" y="1783080"/>
            <a:ext cx="2377440" cy="594360"/>
          </a:xfrm>
          <a:prstGeom prst="roundRect">
            <a:avLst>
              <a:gd name="adj" fmla="val 12308"/>
            </a:avLst>
          </a:prstGeom>
          <a:solidFill>
            <a:schemeClr val="bg1"/>
          </a:solidFill>
          <a:ln/>
        </p:spPr>
      </p:sp>
      <p:sp>
        <p:nvSpPr>
          <p:cNvPr id="8" name="Text 5"/>
          <p:cNvSpPr txBox="1"/>
          <p:nvPr/>
        </p:nvSpPr>
        <p:spPr>
          <a:xfrm>
            <a:off x="731520" y="1783080"/>
            <a:ext cx="2377440" cy="594360"/>
          </a:xfrm>
          <a:prstGeom prst="rect">
            <a:avLst/>
          </a:prstGeom>
          <a:noFill/>
          <a:ln/>
        </p:spPr>
        <p:txBody>
          <a:bodyPr wrap="square" lIns="0" tIns="0" rIns="0" bIns="0" rtlCol="0" anchor="ctr"/>
          <a:lstStyle/>
          <a:p>
            <a:pPr marL="0" indent="0" algn="ctr">
              <a:buNone/>
            </a:pPr>
            <a:r>
              <a:rPr lang="en-US" sz="1500" b="1" dirty="0">
                <a:solidFill>
                  <a:schemeClr val="tx2"/>
                </a:solidFill>
              </a:rPr>
              <a:t>Idempotency key row</a:t>
            </a:r>
            <a:endParaRPr lang="en-US" sz="1500" dirty="0"/>
          </a:p>
        </p:txBody>
      </p:sp>
      <p:sp>
        <p:nvSpPr>
          <p:cNvPr id="9" name="Shape 6"/>
          <p:cNvSpPr/>
          <p:nvPr/>
        </p:nvSpPr>
        <p:spPr>
          <a:xfrm>
            <a:off x="3337560" y="1783080"/>
            <a:ext cx="2377440" cy="594360"/>
          </a:xfrm>
          <a:prstGeom prst="roundRect">
            <a:avLst>
              <a:gd name="adj" fmla="val 12308"/>
            </a:avLst>
          </a:prstGeom>
          <a:solidFill>
            <a:schemeClr val="bg1"/>
          </a:solidFill>
          <a:ln/>
        </p:spPr>
      </p:sp>
      <p:sp>
        <p:nvSpPr>
          <p:cNvPr id="10" name="Text 7"/>
          <p:cNvSpPr txBox="1"/>
          <p:nvPr/>
        </p:nvSpPr>
        <p:spPr>
          <a:xfrm>
            <a:off x="3337560" y="1783080"/>
            <a:ext cx="2377440" cy="594360"/>
          </a:xfrm>
          <a:prstGeom prst="rect">
            <a:avLst/>
          </a:prstGeom>
          <a:noFill/>
          <a:ln/>
        </p:spPr>
        <p:txBody>
          <a:bodyPr wrap="square" lIns="0" tIns="0" rIns="0" bIns="0" rtlCol="0" anchor="ctr"/>
          <a:lstStyle/>
          <a:p>
            <a:pPr marL="0" indent="0" algn="ctr">
              <a:buNone/>
            </a:pPr>
            <a:r>
              <a:rPr lang="en-US" sz="1500" b="1" dirty="0">
                <a:solidFill>
                  <a:schemeClr val="tx2"/>
                </a:solidFill>
              </a:rPr>
              <a:t>Ledger event</a:t>
            </a:r>
            <a:endParaRPr lang="en-US" sz="1500" dirty="0"/>
          </a:p>
        </p:txBody>
      </p:sp>
      <p:sp>
        <p:nvSpPr>
          <p:cNvPr id="11" name="Shape 8"/>
          <p:cNvSpPr/>
          <p:nvPr/>
        </p:nvSpPr>
        <p:spPr>
          <a:xfrm>
            <a:off x="5943600" y="1783080"/>
            <a:ext cx="2377440" cy="594360"/>
          </a:xfrm>
          <a:prstGeom prst="roundRect">
            <a:avLst>
              <a:gd name="adj" fmla="val 12308"/>
            </a:avLst>
          </a:prstGeom>
          <a:solidFill>
            <a:schemeClr val="bg1"/>
          </a:solidFill>
          <a:ln/>
        </p:spPr>
      </p:sp>
      <p:sp>
        <p:nvSpPr>
          <p:cNvPr id="12" name="Text 9"/>
          <p:cNvSpPr txBox="1"/>
          <p:nvPr/>
        </p:nvSpPr>
        <p:spPr>
          <a:xfrm>
            <a:off x="5943600" y="1783080"/>
            <a:ext cx="2377440" cy="594360"/>
          </a:xfrm>
          <a:prstGeom prst="rect">
            <a:avLst/>
          </a:prstGeom>
          <a:noFill/>
          <a:ln/>
        </p:spPr>
        <p:txBody>
          <a:bodyPr wrap="square" lIns="0" tIns="0" rIns="0" bIns="0" rtlCol="0" anchor="ctr"/>
          <a:lstStyle/>
          <a:p>
            <a:pPr marL="0" indent="0" algn="ctr">
              <a:buNone/>
            </a:pPr>
            <a:r>
              <a:rPr lang="en-US" sz="1500" b="1" dirty="0">
                <a:solidFill>
                  <a:schemeClr val="tx2"/>
                </a:solidFill>
              </a:rPr>
              <a:t>Outbox row</a:t>
            </a:r>
            <a:endParaRPr lang="en-US" sz="1500" dirty="0"/>
          </a:p>
        </p:txBody>
      </p:sp>
      <p:sp>
        <p:nvSpPr>
          <p:cNvPr id="13" name="Shape 10"/>
          <p:cNvSpPr/>
          <p:nvPr/>
        </p:nvSpPr>
        <p:spPr>
          <a:xfrm>
            <a:off x="457200" y="2788920"/>
            <a:ext cx="4023360" cy="1371600"/>
          </a:xfrm>
          <a:prstGeom prst="roundRect">
            <a:avLst>
              <a:gd name="adj" fmla="val 5333"/>
            </a:avLst>
          </a:prstGeom>
          <a:solidFill>
            <a:schemeClr val="accent4"/>
          </a:solidFill>
          <a:ln/>
        </p:spPr>
      </p:sp>
      <p:sp>
        <p:nvSpPr>
          <p:cNvPr id="14" name="Text 11"/>
          <p:cNvSpPr txBox="1"/>
          <p:nvPr/>
        </p:nvSpPr>
        <p:spPr>
          <a:xfrm>
            <a:off x="621792" y="2916936"/>
            <a:ext cx="3694176" cy="320040"/>
          </a:xfrm>
          <a:prstGeom prst="rect">
            <a:avLst/>
          </a:prstGeom>
          <a:noFill/>
          <a:ln/>
        </p:spPr>
        <p:txBody>
          <a:bodyPr wrap="square" lIns="0" tIns="0" rIns="0" bIns="0" rtlCol="0" anchor="t"/>
          <a:lstStyle/>
          <a:p>
            <a:pPr marL="0" indent="0">
              <a:buNone/>
            </a:pPr>
            <a:r>
              <a:rPr lang="en-US" sz="1500" b="1" dirty="0">
                <a:solidFill>
                  <a:schemeClr val="bg1"/>
                </a:solidFill>
              </a:rPr>
              <a:t>Effect saved, key not saved</a:t>
            </a:r>
            <a:endParaRPr lang="en-US" sz="1500" dirty="0"/>
          </a:p>
        </p:txBody>
      </p:sp>
      <p:sp>
        <p:nvSpPr>
          <p:cNvPr id="15" name="Text 12"/>
          <p:cNvSpPr txBox="1"/>
          <p:nvPr/>
        </p:nvSpPr>
        <p:spPr>
          <a:xfrm>
            <a:off x="621792" y="3282696"/>
            <a:ext cx="3694176" cy="731520"/>
          </a:xfrm>
          <a:prstGeom prst="rect">
            <a:avLst/>
          </a:prstGeom>
          <a:noFill/>
          <a:ln/>
        </p:spPr>
        <p:txBody>
          <a:bodyPr wrap="square" lIns="0" tIns="0" rIns="0" bIns="0" rtlCol="0" anchor="t"/>
          <a:lstStyle/>
          <a:p>
            <a:pPr marL="0" indent="0">
              <a:buNone/>
            </a:pPr>
            <a:r>
              <a:rPr lang="en-US" sz="1400" dirty="0">
                <a:solidFill>
                  <a:schemeClr val="bg1"/>
                </a:solidFill>
              </a:rPr>
              <a:t>A retry repeats the effect. Result: a double debit.</a:t>
            </a:r>
            <a:endParaRPr lang="en-US" sz="1400" dirty="0"/>
          </a:p>
        </p:txBody>
      </p:sp>
      <p:sp>
        <p:nvSpPr>
          <p:cNvPr id="16" name="Shape 13"/>
          <p:cNvSpPr/>
          <p:nvPr/>
        </p:nvSpPr>
        <p:spPr>
          <a:xfrm>
            <a:off x="4663440" y="2788920"/>
            <a:ext cx="4023360" cy="1371600"/>
          </a:xfrm>
          <a:prstGeom prst="roundRect">
            <a:avLst>
              <a:gd name="adj" fmla="val 5333"/>
            </a:avLst>
          </a:prstGeom>
          <a:solidFill>
            <a:schemeClr val="accent4"/>
          </a:solidFill>
          <a:ln/>
        </p:spPr>
      </p:sp>
      <p:sp>
        <p:nvSpPr>
          <p:cNvPr id="17" name="Text 14"/>
          <p:cNvSpPr txBox="1"/>
          <p:nvPr/>
        </p:nvSpPr>
        <p:spPr>
          <a:xfrm>
            <a:off x="4828032" y="2916936"/>
            <a:ext cx="3694176" cy="320040"/>
          </a:xfrm>
          <a:prstGeom prst="rect">
            <a:avLst/>
          </a:prstGeom>
          <a:noFill/>
          <a:ln/>
        </p:spPr>
        <p:txBody>
          <a:bodyPr wrap="square" lIns="0" tIns="0" rIns="0" bIns="0" rtlCol="0" anchor="t"/>
          <a:lstStyle/>
          <a:p>
            <a:pPr marL="0" indent="0">
              <a:buNone/>
            </a:pPr>
            <a:r>
              <a:rPr lang="en-US" sz="1500" b="1" dirty="0">
                <a:solidFill>
                  <a:schemeClr val="bg1"/>
                </a:solidFill>
              </a:rPr>
              <a:t>Key saved, effect not saved</a:t>
            </a:r>
            <a:endParaRPr lang="en-US" sz="1500" dirty="0"/>
          </a:p>
        </p:txBody>
      </p:sp>
      <p:sp>
        <p:nvSpPr>
          <p:cNvPr id="18" name="Text 15"/>
          <p:cNvSpPr txBox="1"/>
          <p:nvPr/>
        </p:nvSpPr>
        <p:spPr>
          <a:xfrm>
            <a:off x="4828032" y="3282696"/>
            <a:ext cx="3694176" cy="731520"/>
          </a:xfrm>
          <a:prstGeom prst="rect">
            <a:avLst/>
          </a:prstGeom>
          <a:noFill/>
          <a:ln/>
        </p:spPr>
        <p:txBody>
          <a:bodyPr wrap="square" lIns="0" tIns="0" rIns="0" bIns="0" rtlCol="0" anchor="t"/>
          <a:lstStyle/>
          <a:p>
            <a:pPr marL="0" indent="0">
              <a:buNone/>
            </a:pPr>
            <a:r>
              <a:rPr lang="en-US" sz="1400" dirty="0">
                <a:solidFill>
                  <a:schemeClr val="bg1"/>
                </a:solidFill>
              </a:rPr>
              <a:t>A retry replays a "success" for money that never moved.</a:t>
            </a:r>
            <a:endParaRPr lang="en-US" sz="1400" dirty="0"/>
          </a:p>
        </p:txBody>
      </p:sp>
      <p:sp>
        <p:nvSpPr>
          <p:cNvPr id="19" name="Text 16"/>
          <p:cNvSpPr txBox="1"/>
          <p:nvPr/>
        </p:nvSpPr>
        <p:spPr>
          <a:xfrm>
            <a:off x="457200" y="4251960"/>
            <a:ext cx="8229600" cy="411480"/>
          </a:xfrm>
          <a:prstGeom prst="rect">
            <a:avLst/>
          </a:prstGeom>
          <a:noFill/>
          <a:ln/>
        </p:spPr>
        <p:txBody>
          <a:bodyPr wrap="square" lIns="0" tIns="0" rIns="0" bIns="0" rtlCol="0" anchor="t"/>
          <a:lstStyle/>
          <a:p>
            <a:pPr marL="0" indent="0">
              <a:buNone/>
            </a:pPr>
            <a:r>
              <a:rPr lang="en-US" sz="1200" dirty="0">
                <a:solidFill>
                  <a:schemeClr val="tx1"/>
                </a:solidFill>
              </a:rPr>
              <a:t>The ledger is append-only (a database trigger blocks edits). Balance updates use WHERE last_seq = ?, so racing writes cannot both win.</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Layer 2: outbox and inbox</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7</a:t>
            </a:r>
            <a:endParaRPr lang="en-US" sz="1000" dirty="0"/>
          </a:p>
        </p:txBody>
      </p:sp>
      <p:sp>
        <p:nvSpPr>
          <p:cNvPr id="5" name="Shape 2"/>
          <p:cNvSpPr/>
          <p:nvPr/>
        </p:nvSpPr>
        <p:spPr>
          <a:xfrm>
            <a:off x="457200" y="1188720"/>
            <a:ext cx="1783080" cy="1051560"/>
          </a:xfrm>
          <a:prstGeom prst="roundRect">
            <a:avLst>
              <a:gd name="adj" fmla="val 6957"/>
            </a:avLst>
          </a:prstGeom>
          <a:solidFill>
            <a:schemeClr val="accent1"/>
          </a:solidFill>
          <a:ln/>
        </p:spPr>
      </p:sp>
      <p:sp>
        <p:nvSpPr>
          <p:cNvPr id="6" name="Text 3"/>
          <p:cNvSpPr txBox="1"/>
          <p:nvPr/>
        </p:nvSpPr>
        <p:spPr>
          <a:xfrm>
            <a:off x="457200" y="1298448"/>
            <a:ext cx="1783080" cy="320040"/>
          </a:xfrm>
          <a:prstGeom prst="rect">
            <a:avLst/>
          </a:prstGeom>
          <a:noFill/>
          <a:ln/>
        </p:spPr>
        <p:txBody>
          <a:bodyPr wrap="square" lIns="0" tIns="0" rIns="0" bIns="0" rtlCol="0" anchor="t"/>
          <a:lstStyle/>
          <a:p>
            <a:pPr marL="0" indent="0" algn="ctr">
              <a:buNone/>
            </a:pPr>
            <a:r>
              <a:rPr lang="en-US" sz="1500" b="1" dirty="0">
                <a:solidFill>
                  <a:schemeClr val="bg1"/>
                </a:solidFill>
              </a:rPr>
              <a:t>Transaction</a:t>
            </a:r>
            <a:endParaRPr lang="en-US" sz="1500" dirty="0"/>
          </a:p>
        </p:txBody>
      </p:sp>
      <p:sp>
        <p:nvSpPr>
          <p:cNvPr id="7" name="Text 4"/>
          <p:cNvSpPr txBox="1"/>
          <p:nvPr/>
        </p:nvSpPr>
        <p:spPr>
          <a:xfrm>
            <a:off x="548640" y="1691640"/>
            <a:ext cx="1600200" cy="457200"/>
          </a:xfrm>
          <a:prstGeom prst="rect">
            <a:avLst/>
          </a:prstGeom>
          <a:noFill/>
          <a:ln/>
        </p:spPr>
        <p:txBody>
          <a:bodyPr wrap="square" lIns="0" tIns="0" rIns="0" bIns="0" rtlCol="0" anchor="t"/>
          <a:lstStyle/>
          <a:p>
            <a:pPr marL="0" indent="0" algn="ctr">
              <a:buNone/>
            </a:pPr>
            <a:r>
              <a:rPr lang="en-US" sz="1200" dirty="0">
                <a:solidFill>
                  <a:schemeClr val="bg1"/>
                </a:solidFill>
              </a:rPr>
              <a:t>data + outbox row</a:t>
            </a:r>
            <a:endParaRPr lang="en-US" sz="1200" dirty="0"/>
          </a:p>
        </p:txBody>
      </p:sp>
      <p:sp>
        <p:nvSpPr>
          <p:cNvPr id="8" name="Shape 5"/>
          <p:cNvSpPr/>
          <p:nvPr/>
        </p:nvSpPr>
        <p:spPr>
          <a:xfrm>
            <a:off x="2240280" y="1714500"/>
            <a:ext cx="365760" cy="0"/>
          </a:xfrm>
          <a:prstGeom prst="line">
            <a:avLst/>
          </a:prstGeom>
          <a:noFill/>
          <a:ln w="25400">
            <a:solidFill>
              <a:schemeClr val="accent5"/>
            </a:solidFill>
            <a:prstDash val="solid"/>
            <a:tailEnd type="triangle"/>
          </a:ln>
        </p:spPr>
      </p:sp>
      <p:sp>
        <p:nvSpPr>
          <p:cNvPr id="9" name="Shape 6"/>
          <p:cNvSpPr/>
          <p:nvPr/>
        </p:nvSpPr>
        <p:spPr>
          <a:xfrm>
            <a:off x="2606040" y="1188720"/>
            <a:ext cx="1783080" cy="1051560"/>
          </a:xfrm>
          <a:prstGeom prst="roundRect">
            <a:avLst>
              <a:gd name="adj" fmla="val 6957"/>
            </a:avLst>
          </a:prstGeom>
          <a:solidFill>
            <a:schemeClr val="accent1"/>
          </a:solidFill>
          <a:ln/>
        </p:spPr>
      </p:sp>
      <p:sp>
        <p:nvSpPr>
          <p:cNvPr id="10" name="Text 7"/>
          <p:cNvSpPr txBox="1"/>
          <p:nvPr/>
        </p:nvSpPr>
        <p:spPr>
          <a:xfrm>
            <a:off x="2606040" y="1298448"/>
            <a:ext cx="1783080" cy="320040"/>
          </a:xfrm>
          <a:prstGeom prst="rect">
            <a:avLst/>
          </a:prstGeom>
          <a:noFill/>
          <a:ln/>
        </p:spPr>
        <p:txBody>
          <a:bodyPr wrap="square" lIns="0" tIns="0" rIns="0" bIns="0" rtlCol="0" anchor="t"/>
          <a:lstStyle/>
          <a:p>
            <a:pPr marL="0" indent="0" algn="ctr">
              <a:buNone/>
            </a:pPr>
            <a:r>
              <a:rPr lang="en-US" sz="1500" b="1" dirty="0">
                <a:solidFill>
                  <a:schemeClr val="bg1"/>
                </a:solidFill>
              </a:rPr>
              <a:t>Relay</a:t>
            </a:r>
            <a:endParaRPr lang="en-US" sz="1500" dirty="0"/>
          </a:p>
        </p:txBody>
      </p:sp>
      <p:sp>
        <p:nvSpPr>
          <p:cNvPr id="11" name="Text 8"/>
          <p:cNvSpPr txBox="1"/>
          <p:nvPr/>
        </p:nvSpPr>
        <p:spPr>
          <a:xfrm>
            <a:off x="2697480" y="1691640"/>
            <a:ext cx="1600200" cy="457200"/>
          </a:xfrm>
          <a:prstGeom prst="rect">
            <a:avLst/>
          </a:prstGeom>
          <a:noFill/>
          <a:ln/>
        </p:spPr>
        <p:txBody>
          <a:bodyPr wrap="square" lIns="0" tIns="0" rIns="0" bIns="0" rtlCol="0" anchor="t"/>
          <a:lstStyle/>
          <a:p>
            <a:pPr marL="0" indent="0" algn="ctr">
              <a:buNone/>
            </a:pPr>
            <a:r>
              <a:rPr lang="en-US" sz="1200" dirty="0">
                <a:solidFill>
                  <a:schemeClr val="bg1"/>
                </a:solidFill>
              </a:rPr>
              <a:t>every 1 s, SKIP LOCKED</a:t>
            </a:r>
            <a:endParaRPr lang="en-US" sz="1200" dirty="0"/>
          </a:p>
        </p:txBody>
      </p:sp>
      <p:sp>
        <p:nvSpPr>
          <p:cNvPr id="12" name="Shape 9"/>
          <p:cNvSpPr/>
          <p:nvPr/>
        </p:nvSpPr>
        <p:spPr>
          <a:xfrm>
            <a:off x="4389120" y="1714500"/>
            <a:ext cx="365760" cy="0"/>
          </a:xfrm>
          <a:prstGeom prst="line">
            <a:avLst/>
          </a:prstGeom>
          <a:noFill/>
          <a:ln w="25400">
            <a:solidFill>
              <a:schemeClr val="accent5"/>
            </a:solidFill>
            <a:prstDash val="solid"/>
            <a:tailEnd type="triangle"/>
          </a:ln>
        </p:spPr>
      </p:sp>
      <p:sp>
        <p:nvSpPr>
          <p:cNvPr id="13" name="Shape 10"/>
          <p:cNvSpPr/>
          <p:nvPr/>
        </p:nvSpPr>
        <p:spPr>
          <a:xfrm>
            <a:off x="4754880" y="1188720"/>
            <a:ext cx="1783080" cy="1051560"/>
          </a:xfrm>
          <a:prstGeom prst="roundRect">
            <a:avLst>
              <a:gd name="adj" fmla="val 6957"/>
            </a:avLst>
          </a:prstGeom>
          <a:solidFill>
            <a:schemeClr val="accent1"/>
          </a:solidFill>
          <a:ln/>
        </p:spPr>
      </p:sp>
      <p:sp>
        <p:nvSpPr>
          <p:cNvPr id="14" name="Text 11"/>
          <p:cNvSpPr txBox="1"/>
          <p:nvPr/>
        </p:nvSpPr>
        <p:spPr>
          <a:xfrm>
            <a:off x="4754880" y="1298448"/>
            <a:ext cx="1783080" cy="320040"/>
          </a:xfrm>
          <a:prstGeom prst="rect">
            <a:avLst/>
          </a:prstGeom>
          <a:noFill/>
          <a:ln/>
        </p:spPr>
        <p:txBody>
          <a:bodyPr wrap="square" lIns="0" tIns="0" rIns="0" bIns="0" rtlCol="0" anchor="t"/>
          <a:lstStyle/>
          <a:p>
            <a:pPr marL="0" indent="0" algn="ctr">
              <a:buNone/>
            </a:pPr>
            <a:r>
              <a:rPr lang="en-US" sz="1500" b="1" dirty="0">
                <a:solidFill>
                  <a:schemeClr val="bg1"/>
                </a:solidFill>
              </a:rPr>
              <a:t>RabbitMQ</a:t>
            </a:r>
            <a:endParaRPr lang="en-US" sz="1500" dirty="0"/>
          </a:p>
        </p:txBody>
      </p:sp>
      <p:sp>
        <p:nvSpPr>
          <p:cNvPr id="15" name="Text 12"/>
          <p:cNvSpPr txBox="1"/>
          <p:nvPr/>
        </p:nvSpPr>
        <p:spPr>
          <a:xfrm>
            <a:off x="4846320" y="1691640"/>
            <a:ext cx="1600200" cy="457200"/>
          </a:xfrm>
          <a:prstGeom prst="rect">
            <a:avLst/>
          </a:prstGeom>
          <a:noFill/>
          <a:ln/>
        </p:spPr>
        <p:txBody>
          <a:bodyPr wrap="square" lIns="0" tIns="0" rIns="0" bIns="0" rtlCol="0" anchor="t"/>
          <a:lstStyle/>
          <a:p>
            <a:pPr marL="0" indent="0" algn="ctr">
              <a:buNone/>
            </a:pPr>
            <a:r>
              <a:rPr lang="en-US" sz="1200" dirty="0">
                <a:solidFill>
                  <a:schemeClr val="bg1"/>
                </a:solidFill>
              </a:rPr>
              <a:t>at-least-once, durable</a:t>
            </a:r>
            <a:endParaRPr lang="en-US" sz="1200" dirty="0"/>
          </a:p>
        </p:txBody>
      </p:sp>
      <p:sp>
        <p:nvSpPr>
          <p:cNvPr id="16" name="Shape 13"/>
          <p:cNvSpPr/>
          <p:nvPr/>
        </p:nvSpPr>
        <p:spPr>
          <a:xfrm>
            <a:off x="6537960" y="1714500"/>
            <a:ext cx="365760" cy="0"/>
          </a:xfrm>
          <a:prstGeom prst="line">
            <a:avLst/>
          </a:prstGeom>
          <a:noFill/>
          <a:ln w="25400">
            <a:solidFill>
              <a:schemeClr val="accent5"/>
            </a:solidFill>
            <a:prstDash val="solid"/>
            <a:tailEnd type="triangle"/>
          </a:ln>
        </p:spPr>
      </p:sp>
      <p:sp>
        <p:nvSpPr>
          <p:cNvPr id="17" name="Shape 14"/>
          <p:cNvSpPr/>
          <p:nvPr/>
        </p:nvSpPr>
        <p:spPr>
          <a:xfrm>
            <a:off x="6903720" y="1188720"/>
            <a:ext cx="1783080" cy="1051560"/>
          </a:xfrm>
          <a:prstGeom prst="roundRect">
            <a:avLst>
              <a:gd name="adj" fmla="val 6957"/>
            </a:avLst>
          </a:prstGeom>
          <a:solidFill>
            <a:schemeClr val="accent2"/>
          </a:solidFill>
          <a:ln/>
        </p:spPr>
      </p:sp>
      <p:sp>
        <p:nvSpPr>
          <p:cNvPr id="18" name="Text 15"/>
          <p:cNvSpPr txBox="1"/>
          <p:nvPr/>
        </p:nvSpPr>
        <p:spPr>
          <a:xfrm>
            <a:off x="6903720" y="1298448"/>
            <a:ext cx="1783080" cy="320040"/>
          </a:xfrm>
          <a:prstGeom prst="rect">
            <a:avLst/>
          </a:prstGeom>
          <a:noFill/>
          <a:ln/>
        </p:spPr>
        <p:txBody>
          <a:bodyPr wrap="square" lIns="0" tIns="0" rIns="0" bIns="0" rtlCol="0" anchor="t"/>
          <a:lstStyle/>
          <a:p>
            <a:pPr marL="0" indent="0" algn="ctr">
              <a:buNone/>
            </a:pPr>
            <a:r>
              <a:rPr lang="en-US" sz="1500" b="1" dirty="0">
                <a:solidFill>
                  <a:schemeClr val="tx1"/>
                </a:solidFill>
              </a:rPr>
              <a:t>Inbox</a:t>
            </a:r>
            <a:endParaRPr lang="en-US" sz="1500" dirty="0"/>
          </a:p>
        </p:txBody>
      </p:sp>
      <p:sp>
        <p:nvSpPr>
          <p:cNvPr id="19" name="Text 16"/>
          <p:cNvSpPr txBox="1"/>
          <p:nvPr/>
        </p:nvSpPr>
        <p:spPr>
          <a:xfrm>
            <a:off x="6995160" y="1691640"/>
            <a:ext cx="1600200" cy="457200"/>
          </a:xfrm>
          <a:prstGeom prst="rect">
            <a:avLst/>
          </a:prstGeom>
          <a:noFill/>
          <a:ln/>
        </p:spPr>
        <p:txBody>
          <a:bodyPr wrap="square" lIns="0" tIns="0" rIns="0" bIns="0" rtlCol="0" anchor="t"/>
          <a:lstStyle/>
          <a:p>
            <a:pPr marL="0" indent="0" algn="ctr">
              <a:buNone/>
            </a:pPr>
            <a:r>
              <a:rPr lang="en-US" sz="1200" dirty="0">
                <a:solidFill>
                  <a:schemeClr val="tx1"/>
                </a:solidFill>
              </a:rPr>
              <a:t>new ID: act. Seen ID: skip</a:t>
            </a:r>
            <a:endParaRPr lang="en-US" sz="1200" dirty="0"/>
          </a:p>
        </p:txBody>
      </p:sp>
      <p:sp>
        <p:nvSpPr>
          <p:cNvPr id="20" name="Shape 17"/>
          <p:cNvSpPr/>
          <p:nvPr/>
        </p:nvSpPr>
        <p:spPr>
          <a:xfrm>
            <a:off x="457200" y="2560320"/>
            <a:ext cx="4023360" cy="1417320"/>
          </a:xfrm>
          <a:prstGeom prst="roundRect">
            <a:avLst>
              <a:gd name="adj" fmla="val 5161"/>
            </a:avLst>
          </a:prstGeom>
          <a:solidFill>
            <a:schemeClr val="bg2"/>
          </a:solidFill>
          <a:ln/>
        </p:spPr>
      </p:sp>
      <p:sp>
        <p:nvSpPr>
          <p:cNvPr id="21" name="Text 18"/>
          <p:cNvSpPr txBox="1"/>
          <p:nvPr/>
        </p:nvSpPr>
        <p:spPr>
          <a:xfrm>
            <a:off x="621792" y="2688336"/>
            <a:ext cx="3694176" cy="320040"/>
          </a:xfrm>
          <a:prstGeom prst="rect">
            <a:avLst/>
          </a:prstGeom>
          <a:noFill/>
          <a:ln/>
        </p:spPr>
        <p:txBody>
          <a:bodyPr wrap="square" lIns="0" tIns="0" rIns="0" bIns="0" rtlCol="0" anchor="t"/>
          <a:lstStyle/>
          <a:p>
            <a:pPr marL="0" indent="0">
              <a:buNone/>
            </a:pPr>
            <a:r>
              <a:rPr lang="en-US" sz="1500" b="1" dirty="0">
                <a:solidFill>
                  <a:schemeClr val="tx1"/>
                </a:solidFill>
              </a:rPr>
              <a:t>Outbox: no lost message</a:t>
            </a:r>
            <a:endParaRPr lang="en-US" sz="1500" dirty="0"/>
          </a:p>
        </p:txBody>
      </p:sp>
      <p:sp>
        <p:nvSpPr>
          <p:cNvPr id="22" name="Text 19"/>
          <p:cNvSpPr txBox="1"/>
          <p:nvPr/>
        </p:nvSpPr>
        <p:spPr>
          <a:xfrm>
            <a:off x="621792" y="3054096"/>
            <a:ext cx="3694176" cy="777240"/>
          </a:xfrm>
          <a:prstGeom prst="rect">
            <a:avLst/>
          </a:prstGeom>
          <a:noFill/>
          <a:ln/>
        </p:spPr>
        <p:txBody>
          <a:bodyPr wrap="square" lIns="0" tIns="0" rIns="0" bIns="0" rtlCol="0" anchor="t"/>
          <a:lstStyle/>
          <a:p>
            <a:pPr marL="0" indent="0">
              <a:buNone/>
            </a:pPr>
            <a:r>
              <a:rPr lang="en-US" sz="1400" dirty="0">
                <a:solidFill>
                  <a:schemeClr val="tx1"/>
                </a:solidFill>
              </a:rPr>
              <a:t>Save then publish can lose the message. Writing it in the same transaction means it is never lost.</a:t>
            </a:r>
            <a:endParaRPr lang="en-US" sz="1400" dirty="0"/>
          </a:p>
        </p:txBody>
      </p:sp>
      <p:sp>
        <p:nvSpPr>
          <p:cNvPr id="23" name="Shape 20"/>
          <p:cNvSpPr/>
          <p:nvPr/>
        </p:nvSpPr>
        <p:spPr>
          <a:xfrm>
            <a:off x="4663440" y="2560320"/>
            <a:ext cx="4023360" cy="1417320"/>
          </a:xfrm>
          <a:prstGeom prst="roundRect">
            <a:avLst>
              <a:gd name="adj" fmla="val 5161"/>
            </a:avLst>
          </a:prstGeom>
          <a:solidFill>
            <a:schemeClr val="bg2"/>
          </a:solidFill>
          <a:ln/>
        </p:spPr>
      </p:sp>
      <p:sp>
        <p:nvSpPr>
          <p:cNvPr id="24" name="Text 21"/>
          <p:cNvSpPr txBox="1"/>
          <p:nvPr/>
        </p:nvSpPr>
        <p:spPr>
          <a:xfrm>
            <a:off x="4828032" y="2688336"/>
            <a:ext cx="3694176" cy="320040"/>
          </a:xfrm>
          <a:prstGeom prst="rect">
            <a:avLst/>
          </a:prstGeom>
          <a:noFill/>
          <a:ln/>
        </p:spPr>
        <p:txBody>
          <a:bodyPr wrap="square" lIns="0" tIns="0" rIns="0" bIns="0" rtlCol="0" anchor="t"/>
          <a:lstStyle/>
          <a:p>
            <a:pPr marL="0" indent="0">
              <a:buNone/>
            </a:pPr>
            <a:r>
              <a:rPr lang="en-US" sz="1500" b="1" dirty="0">
                <a:solidFill>
                  <a:schemeClr val="tx1"/>
                </a:solidFill>
              </a:rPr>
              <a:t>Inbox: no double effect</a:t>
            </a:r>
            <a:endParaRPr lang="en-US" sz="1500" dirty="0"/>
          </a:p>
        </p:txBody>
      </p:sp>
      <p:sp>
        <p:nvSpPr>
          <p:cNvPr id="25" name="Text 22"/>
          <p:cNvSpPr txBox="1"/>
          <p:nvPr/>
        </p:nvSpPr>
        <p:spPr>
          <a:xfrm>
            <a:off x="4828032" y="3054096"/>
            <a:ext cx="3694176" cy="777240"/>
          </a:xfrm>
          <a:prstGeom prst="rect">
            <a:avLst/>
          </a:prstGeom>
          <a:noFill/>
          <a:ln/>
        </p:spPr>
        <p:txBody>
          <a:bodyPr wrap="square" lIns="0" tIns="0" rIns="0" bIns="0" rtlCol="0" anchor="t"/>
          <a:lstStyle/>
          <a:p>
            <a:pPr marL="0" indent="0">
              <a:buNone/>
            </a:pPr>
            <a:r>
              <a:rPr lang="en-US" sz="1400" dirty="0">
                <a:solidFill>
                  <a:schemeClr val="tx1"/>
                </a:solidFill>
              </a:rPr>
              <a:t>The relay may publish twice. A repeated message ID is skipped, so the effect happens once.</a:t>
            </a:r>
            <a:endParaRPr lang="en-US" sz="1400" dirty="0"/>
          </a:p>
        </p:txBody>
      </p:sp>
      <p:sp>
        <p:nvSpPr>
          <p:cNvPr id="26" name="Text 23"/>
          <p:cNvSpPr txBox="1"/>
          <p:nvPr/>
        </p:nvSpPr>
        <p:spPr>
          <a:xfrm>
            <a:off x="457200" y="4160520"/>
            <a:ext cx="8229600" cy="320040"/>
          </a:xfrm>
          <a:prstGeom prst="rect">
            <a:avLst/>
          </a:prstGeom>
          <a:noFill/>
          <a:ln/>
        </p:spPr>
        <p:txBody>
          <a:bodyPr wrap="square" lIns="0" tIns="0" rIns="0" bIns="0" rtlCol="0" anchor="t"/>
          <a:lstStyle/>
          <a:p>
            <a:pPr marL="0" indent="0">
              <a:buNone/>
            </a:pPr>
            <a:r>
              <a:rPr lang="en-US" sz="1400" b="1" dirty="0">
                <a:solidFill>
                  <a:schemeClr val="tx2"/>
                </a:solidFill>
              </a:rPr>
              <a:t>Bad messages retry 3 times, then go to the dead-letter queue.</a:t>
            </a:r>
            <a:endParaRPr lang="en-US" sz="1400" dirty="0"/>
          </a:p>
        </p:txBody>
      </p:sp>
      <p:sp>
        <p:nvSpPr>
          <p:cNvPr id="4"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Layer 3: safe calls to outsiders</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8</a:t>
            </a:r>
            <a:endParaRPr lang="en-US" sz="1000" dirty="0"/>
          </a:p>
        </p:txBody>
      </p:sp>
      <p:sp>
        <p:nvSpPr>
          <p:cNvPr id="5" name="Shape 2"/>
          <p:cNvSpPr/>
          <p:nvPr/>
        </p:nvSpPr>
        <p:spPr>
          <a:xfrm>
            <a:off x="457200" y="1143000"/>
            <a:ext cx="4023360" cy="3337560"/>
          </a:xfrm>
          <a:prstGeom prst="roundRect">
            <a:avLst>
              <a:gd name="adj" fmla="val 2192"/>
            </a:avLst>
          </a:prstGeom>
          <a:solidFill>
            <a:schemeClr val="accent1"/>
          </a:solidFill>
          <a:ln/>
        </p:spPr>
      </p:sp>
      <p:sp>
        <p:nvSpPr>
          <p:cNvPr id="6" name="Text 3"/>
          <p:cNvSpPr txBox="1"/>
          <p:nvPr/>
        </p:nvSpPr>
        <p:spPr>
          <a:xfrm>
            <a:off x="640080" y="1280160"/>
            <a:ext cx="3657600" cy="320040"/>
          </a:xfrm>
          <a:prstGeom prst="rect">
            <a:avLst/>
          </a:prstGeom>
          <a:noFill/>
          <a:ln/>
        </p:spPr>
        <p:txBody>
          <a:bodyPr wrap="square" lIns="0" tIns="0" rIns="0" bIns="0" rtlCol="0" anchor="t"/>
          <a:lstStyle/>
          <a:p>
            <a:pPr marL="0" indent="0">
              <a:buNone/>
            </a:pPr>
            <a:r>
              <a:rPr lang="en-US" sz="1800" b="1" dirty="0">
                <a:solidFill>
                  <a:schemeClr val="bg1"/>
                </a:solidFill>
              </a:rPr>
              <a:t>Card top-up</a:t>
            </a:r>
            <a:endParaRPr lang="en-US" sz="1800" dirty="0"/>
          </a:p>
        </p:txBody>
      </p:sp>
      <p:sp>
        <p:nvSpPr>
          <p:cNvPr id="7" name="Text 4"/>
          <p:cNvSpPr txBox="1"/>
          <p:nvPr/>
        </p:nvSpPr>
        <p:spPr>
          <a:xfrm>
            <a:off x="640080" y="1783080"/>
            <a:ext cx="3657600" cy="822960"/>
          </a:xfrm>
          <a:prstGeom prst="rect">
            <a:avLst/>
          </a:prstGeom>
          <a:noFill/>
          <a:ln/>
        </p:spPr>
        <p:txBody>
          <a:bodyPr wrap="square" lIns="0" tIns="0" rIns="0" bIns="0" rtlCol="0" anchor="t"/>
          <a:lstStyle/>
          <a:p>
            <a:pPr marL="0" indent="0">
              <a:buNone/>
            </a:pPr>
            <a:r>
              <a:rPr lang="en-US" sz="1500" dirty="0">
                <a:solidFill>
                  <a:schemeClr val="bg1"/>
                </a:solidFill>
              </a:rPr>
              <a:t>We send our own key (walletId + Idempotency-Key) to the payment provider.</a:t>
            </a:r>
            <a:endParaRPr lang="en-US" sz="1500" dirty="0"/>
          </a:p>
        </p:txBody>
      </p:sp>
      <p:sp>
        <p:nvSpPr>
          <p:cNvPr id="8" name="Text 5"/>
          <p:cNvSpPr txBox="1"/>
          <p:nvPr/>
        </p:nvSpPr>
        <p:spPr>
          <a:xfrm>
            <a:off x="640080" y="2697480"/>
            <a:ext cx="3657600" cy="822960"/>
          </a:xfrm>
          <a:prstGeom prst="rect">
            <a:avLst/>
          </a:prstGeom>
          <a:noFill/>
          <a:ln/>
        </p:spPr>
        <p:txBody>
          <a:bodyPr wrap="square" lIns="0" tIns="0" rIns="0" bIns="0" rtlCol="0" anchor="t"/>
          <a:lstStyle/>
          <a:p>
            <a:pPr marL="0" indent="0">
              <a:buNone/>
            </a:pPr>
            <a:r>
              <a:rPr lang="en-US" sz="1500" dirty="0">
                <a:solidFill>
                  <a:schemeClr val="bg1"/>
                </a:solidFill>
              </a:rPr>
              <a:t>The provider remembers it and returns the same chargeId. A retry never charges twice.</a:t>
            </a:r>
            <a:endParaRPr lang="en-US" sz="1500" dirty="0"/>
          </a:p>
        </p:txBody>
      </p:sp>
      <p:sp>
        <p:nvSpPr>
          <p:cNvPr id="9" name="Text 6"/>
          <p:cNvSpPr txBox="1"/>
          <p:nvPr/>
        </p:nvSpPr>
        <p:spPr>
          <a:xfrm>
            <a:off x="640080" y="3657600"/>
            <a:ext cx="3657600" cy="548640"/>
          </a:xfrm>
          <a:prstGeom prst="rect">
            <a:avLst/>
          </a:prstGeom>
          <a:noFill/>
          <a:ln/>
        </p:spPr>
        <p:txBody>
          <a:bodyPr wrap="square" lIns="0" tIns="0" rIns="0" bIns="0" rtlCol="0" anchor="t"/>
          <a:lstStyle/>
          <a:p>
            <a:pPr marL="0" indent="0">
              <a:buNone/>
            </a:pPr>
            <a:r>
              <a:rPr lang="en-US" sz="1500" b="1" dirty="0">
                <a:solidFill>
                  <a:schemeClr val="accent2"/>
                </a:solidFill>
              </a:rPr>
              <a:t>Retries are safe only on idempotent calls.</a:t>
            </a:r>
            <a:endParaRPr lang="en-US" sz="1500" dirty="0"/>
          </a:p>
        </p:txBody>
      </p:sp>
      <p:sp>
        <p:nvSpPr>
          <p:cNvPr id="10" name="Shape 7"/>
          <p:cNvSpPr/>
          <p:nvPr/>
        </p:nvSpPr>
        <p:spPr>
          <a:xfrm>
            <a:off x="4754880" y="1143000"/>
            <a:ext cx="1874520" cy="1600200"/>
          </a:xfrm>
          <a:prstGeom prst="roundRect">
            <a:avLst>
              <a:gd name="adj" fmla="val 4571"/>
            </a:avLst>
          </a:prstGeom>
          <a:solidFill>
            <a:schemeClr val="bg2"/>
          </a:solidFill>
          <a:ln/>
        </p:spPr>
      </p:sp>
      <p:sp>
        <p:nvSpPr>
          <p:cNvPr id="11" name="Text 8"/>
          <p:cNvSpPr txBox="1"/>
          <p:nvPr/>
        </p:nvSpPr>
        <p:spPr>
          <a:xfrm>
            <a:off x="4919472" y="1271016"/>
            <a:ext cx="1545336" cy="320040"/>
          </a:xfrm>
          <a:prstGeom prst="rect">
            <a:avLst/>
          </a:prstGeom>
          <a:noFill/>
          <a:ln/>
        </p:spPr>
        <p:txBody>
          <a:bodyPr wrap="square" lIns="0" tIns="0" rIns="0" bIns="0" rtlCol="0" anchor="t"/>
          <a:lstStyle/>
          <a:p>
            <a:pPr marL="0" indent="0">
              <a:buNone/>
            </a:pPr>
            <a:r>
              <a:rPr lang="en-US" sz="1500" b="1" dirty="0">
                <a:solidFill>
                  <a:schemeClr val="tx1"/>
                </a:solidFill>
              </a:rPr>
              <a:t>Timeout</a:t>
            </a:r>
            <a:endParaRPr lang="en-US" sz="1500" dirty="0"/>
          </a:p>
        </p:txBody>
      </p:sp>
      <p:sp>
        <p:nvSpPr>
          <p:cNvPr id="12" name="Text 9"/>
          <p:cNvSpPr txBox="1"/>
          <p:nvPr/>
        </p:nvSpPr>
        <p:spPr>
          <a:xfrm>
            <a:off x="4919472" y="1636776"/>
            <a:ext cx="1545336" cy="960120"/>
          </a:xfrm>
          <a:prstGeom prst="rect">
            <a:avLst/>
          </a:prstGeom>
          <a:noFill/>
          <a:ln/>
        </p:spPr>
        <p:txBody>
          <a:bodyPr wrap="square" lIns="0" tIns="0" rIns="0" bIns="0" rtlCol="0" anchor="t"/>
          <a:lstStyle/>
          <a:p>
            <a:pPr marL="0" indent="0">
              <a:buNone/>
            </a:pPr>
            <a:r>
              <a:rPr lang="en-US" sz="1400" dirty="0">
                <a:solidFill>
                  <a:schemeClr val="tx1"/>
                </a:solidFill>
              </a:rPr>
              <a:t>2 seconds per call</a:t>
            </a:r>
            <a:endParaRPr lang="en-US" sz="1400" dirty="0"/>
          </a:p>
        </p:txBody>
      </p:sp>
      <p:sp>
        <p:nvSpPr>
          <p:cNvPr id="13" name="Shape 10"/>
          <p:cNvSpPr/>
          <p:nvPr/>
        </p:nvSpPr>
        <p:spPr>
          <a:xfrm>
            <a:off x="6812280" y="1143000"/>
            <a:ext cx="1874520" cy="1600200"/>
          </a:xfrm>
          <a:prstGeom prst="roundRect">
            <a:avLst>
              <a:gd name="adj" fmla="val 4571"/>
            </a:avLst>
          </a:prstGeom>
          <a:solidFill>
            <a:schemeClr val="bg2"/>
          </a:solidFill>
          <a:ln/>
        </p:spPr>
      </p:sp>
      <p:sp>
        <p:nvSpPr>
          <p:cNvPr id="14" name="Text 11"/>
          <p:cNvSpPr txBox="1"/>
          <p:nvPr/>
        </p:nvSpPr>
        <p:spPr>
          <a:xfrm>
            <a:off x="6976872" y="1271016"/>
            <a:ext cx="1545336" cy="320040"/>
          </a:xfrm>
          <a:prstGeom prst="rect">
            <a:avLst/>
          </a:prstGeom>
          <a:noFill/>
          <a:ln/>
        </p:spPr>
        <p:txBody>
          <a:bodyPr wrap="square" lIns="0" tIns="0" rIns="0" bIns="0" rtlCol="0" anchor="t"/>
          <a:lstStyle/>
          <a:p>
            <a:pPr marL="0" indent="0">
              <a:buNone/>
            </a:pPr>
            <a:r>
              <a:rPr lang="en-US" sz="1500" b="1" dirty="0">
                <a:solidFill>
                  <a:schemeClr val="tx1"/>
                </a:solidFill>
              </a:rPr>
              <a:t>Retry and jitter</a:t>
            </a:r>
            <a:endParaRPr lang="en-US" sz="1500" dirty="0"/>
          </a:p>
        </p:txBody>
      </p:sp>
      <p:sp>
        <p:nvSpPr>
          <p:cNvPr id="15" name="Text 12"/>
          <p:cNvSpPr txBox="1"/>
          <p:nvPr/>
        </p:nvSpPr>
        <p:spPr>
          <a:xfrm>
            <a:off x="6976872" y="1636776"/>
            <a:ext cx="1545336" cy="960120"/>
          </a:xfrm>
          <a:prstGeom prst="rect">
            <a:avLst/>
          </a:prstGeom>
          <a:noFill/>
          <a:ln/>
        </p:spPr>
        <p:txBody>
          <a:bodyPr wrap="square" lIns="0" tIns="0" rIns="0" bIns="0" rtlCol="0" anchor="t"/>
          <a:lstStyle/>
          <a:p>
            <a:pPr marL="0" indent="0">
              <a:buNone/>
            </a:pPr>
            <a:r>
              <a:rPr lang="en-US" sz="1400" dirty="0">
                <a:solidFill>
                  <a:schemeClr val="tx1"/>
                </a:solidFill>
              </a:rPr>
              <a:t>4 attempts, doubling wait</a:t>
            </a:r>
            <a:endParaRPr lang="en-US" sz="1400" dirty="0"/>
          </a:p>
        </p:txBody>
      </p:sp>
      <p:sp>
        <p:nvSpPr>
          <p:cNvPr id="16" name="Shape 13"/>
          <p:cNvSpPr/>
          <p:nvPr/>
        </p:nvSpPr>
        <p:spPr>
          <a:xfrm>
            <a:off x="4754880" y="2880360"/>
            <a:ext cx="1874520" cy="1600200"/>
          </a:xfrm>
          <a:prstGeom prst="roundRect">
            <a:avLst>
              <a:gd name="adj" fmla="val 4571"/>
            </a:avLst>
          </a:prstGeom>
          <a:solidFill>
            <a:schemeClr val="bg2"/>
          </a:solidFill>
          <a:ln/>
        </p:spPr>
      </p:sp>
      <p:sp>
        <p:nvSpPr>
          <p:cNvPr id="17" name="Text 14"/>
          <p:cNvSpPr txBox="1"/>
          <p:nvPr/>
        </p:nvSpPr>
        <p:spPr>
          <a:xfrm>
            <a:off x="4919472" y="3008376"/>
            <a:ext cx="1545336" cy="320040"/>
          </a:xfrm>
          <a:prstGeom prst="rect">
            <a:avLst/>
          </a:prstGeom>
          <a:noFill/>
          <a:ln/>
        </p:spPr>
        <p:txBody>
          <a:bodyPr wrap="square" lIns="0" tIns="0" rIns="0" bIns="0" rtlCol="0" anchor="t"/>
          <a:lstStyle/>
          <a:p>
            <a:pPr marL="0" indent="0">
              <a:buNone/>
            </a:pPr>
            <a:r>
              <a:rPr lang="en-US" sz="1500" b="1" dirty="0">
                <a:solidFill>
                  <a:schemeClr val="tx1"/>
                </a:solidFill>
              </a:rPr>
              <a:t>Circuit breaker</a:t>
            </a:r>
            <a:endParaRPr lang="en-US" sz="1500" dirty="0"/>
          </a:p>
        </p:txBody>
      </p:sp>
      <p:sp>
        <p:nvSpPr>
          <p:cNvPr id="18" name="Text 15"/>
          <p:cNvSpPr txBox="1"/>
          <p:nvPr/>
        </p:nvSpPr>
        <p:spPr>
          <a:xfrm>
            <a:off x="4919472" y="3374136"/>
            <a:ext cx="1545336" cy="960120"/>
          </a:xfrm>
          <a:prstGeom prst="rect">
            <a:avLst/>
          </a:prstGeom>
          <a:noFill/>
          <a:ln/>
        </p:spPr>
        <p:txBody>
          <a:bodyPr wrap="square" lIns="0" tIns="0" rIns="0" bIns="0" rtlCol="0" anchor="t"/>
          <a:lstStyle/>
          <a:p>
            <a:pPr marL="0" indent="0">
              <a:buNone/>
            </a:pPr>
            <a:r>
              <a:rPr lang="en-US" sz="1400" dirty="0">
                <a:solidFill>
                  <a:schemeClr val="tx1"/>
                </a:solidFill>
              </a:rPr>
              <a:t>Opens at 50% failures</a:t>
            </a:r>
            <a:endParaRPr lang="en-US" sz="1400" dirty="0"/>
          </a:p>
        </p:txBody>
      </p:sp>
      <p:sp>
        <p:nvSpPr>
          <p:cNvPr id="19" name="Shape 16"/>
          <p:cNvSpPr/>
          <p:nvPr/>
        </p:nvSpPr>
        <p:spPr>
          <a:xfrm>
            <a:off x="6812280" y="2880360"/>
            <a:ext cx="1874520" cy="1600200"/>
          </a:xfrm>
          <a:prstGeom prst="roundRect">
            <a:avLst>
              <a:gd name="adj" fmla="val 4571"/>
            </a:avLst>
          </a:prstGeom>
          <a:solidFill>
            <a:schemeClr val="bg2"/>
          </a:solidFill>
          <a:ln/>
        </p:spPr>
      </p:sp>
      <p:sp>
        <p:nvSpPr>
          <p:cNvPr id="20" name="Text 17"/>
          <p:cNvSpPr txBox="1"/>
          <p:nvPr/>
        </p:nvSpPr>
        <p:spPr>
          <a:xfrm>
            <a:off x="6976872" y="3008376"/>
            <a:ext cx="1545336" cy="320040"/>
          </a:xfrm>
          <a:prstGeom prst="rect">
            <a:avLst/>
          </a:prstGeom>
          <a:noFill/>
          <a:ln/>
        </p:spPr>
        <p:txBody>
          <a:bodyPr wrap="square" lIns="0" tIns="0" rIns="0" bIns="0" rtlCol="0" anchor="t"/>
          <a:lstStyle/>
          <a:p>
            <a:pPr marL="0" indent="0">
              <a:buNone/>
            </a:pPr>
            <a:r>
              <a:rPr lang="en-US" sz="1500" b="1" dirty="0">
                <a:solidFill>
                  <a:schemeClr val="tx1"/>
                </a:solidFill>
              </a:rPr>
              <a:t>Bulkhead</a:t>
            </a:r>
            <a:endParaRPr lang="en-US" sz="1500" dirty="0"/>
          </a:p>
        </p:txBody>
      </p:sp>
      <p:sp>
        <p:nvSpPr>
          <p:cNvPr id="21" name="Text 18"/>
          <p:cNvSpPr txBox="1"/>
          <p:nvPr/>
        </p:nvSpPr>
        <p:spPr>
          <a:xfrm>
            <a:off x="6976872" y="3374136"/>
            <a:ext cx="1545336" cy="960120"/>
          </a:xfrm>
          <a:prstGeom prst="rect">
            <a:avLst/>
          </a:prstGeom>
          <a:noFill/>
          <a:ln/>
        </p:spPr>
        <p:txBody>
          <a:bodyPr wrap="square" lIns="0" tIns="0" rIns="0" bIns="0" rtlCol="0" anchor="t"/>
          <a:lstStyle/>
          <a:p>
            <a:pPr marL="0" indent="0">
              <a:buNone/>
            </a:pPr>
            <a:r>
              <a:rPr lang="en-US" sz="1400" dirty="0">
                <a:solidFill>
                  <a:schemeClr val="tx1"/>
                </a:solidFill>
              </a:rPr>
              <a:t>Max 10 provider calls</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Transfers as a saga</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9</a:t>
            </a:r>
            <a:endParaRPr lang="en-US" sz="1000" dirty="0"/>
          </a:p>
        </p:txBody>
      </p:sp>
      <p:sp>
        <p:nvSpPr>
          <p:cNvPr id="5" name="Shape 2"/>
          <p:cNvSpPr/>
          <p:nvPr/>
        </p:nvSpPr>
        <p:spPr>
          <a:xfrm>
            <a:off x="457200" y="1188720"/>
            <a:ext cx="1554480" cy="548640"/>
          </a:xfrm>
          <a:prstGeom prst="roundRect">
            <a:avLst>
              <a:gd name="adj" fmla="val 13333"/>
            </a:avLst>
          </a:prstGeom>
          <a:solidFill>
            <a:schemeClr val="accent1"/>
          </a:solidFill>
          <a:ln/>
        </p:spPr>
      </p:sp>
      <p:sp>
        <p:nvSpPr>
          <p:cNvPr id="6" name="Text 3"/>
          <p:cNvSpPr txBox="1"/>
          <p:nvPr/>
        </p:nvSpPr>
        <p:spPr>
          <a:xfrm>
            <a:off x="457200" y="1188720"/>
            <a:ext cx="1554480" cy="548640"/>
          </a:xfrm>
          <a:prstGeom prst="rect">
            <a:avLst/>
          </a:prstGeom>
          <a:noFill/>
          <a:ln/>
        </p:spPr>
        <p:txBody>
          <a:bodyPr wrap="square" lIns="0" tIns="0" rIns="0" bIns="0" rtlCol="0" anchor="ctr"/>
          <a:lstStyle/>
          <a:p>
            <a:pPr marL="0" indent="0" algn="ctr">
              <a:buNone/>
            </a:pPr>
            <a:r>
              <a:rPr lang="en-US" sz="1300" b="1" dirty="0">
                <a:solidFill>
                  <a:schemeClr val="bg1"/>
                </a:solidFill>
              </a:rPr>
              <a:t>PENDING</a:t>
            </a:r>
            <a:endParaRPr lang="en-US" sz="1300" dirty="0"/>
          </a:p>
        </p:txBody>
      </p:sp>
      <p:sp>
        <p:nvSpPr>
          <p:cNvPr id="7" name="Shape 4"/>
          <p:cNvSpPr/>
          <p:nvPr/>
        </p:nvSpPr>
        <p:spPr>
          <a:xfrm>
            <a:off x="2468880" y="1188720"/>
            <a:ext cx="1554480" cy="548640"/>
          </a:xfrm>
          <a:prstGeom prst="roundRect">
            <a:avLst>
              <a:gd name="adj" fmla="val 13333"/>
            </a:avLst>
          </a:prstGeom>
          <a:solidFill>
            <a:schemeClr val="accent1"/>
          </a:solidFill>
          <a:ln/>
        </p:spPr>
      </p:sp>
      <p:sp>
        <p:nvSpPr>
          <p:cNvPr id="8" name="Text 5"/>
          <p:cNvSpPr txBox="1"/>
          <p:nvPr/>
        </p:nvSpPr>
        <p:spPr>
          <a:xfrm>
            <a:off x="2468880" y="1188720"/>
            <a:ext cx="1554480" cy="548640"/>
          </a:xfrm>
          <a:prstGeom prst="rect">
            <a:avLst/>
          </a:prstGeom>
          <a:noFill/>
          <a:ln/>
        </p:spPr>
        <p:txBody>
          <a:bodyPr wrap="square" lIns="0" tIns="0" rIns="0" bIns="0" rtlCol="0" anchor="ctr"/>
          <a:lstStyle/>
          <a:p>
            <a:pPr marL="0" indent="0" algn="ctr">
              <a:buNone/>
            </a:pPr>
            <a:r>
              <a:rPr lang="en-US" sz="1300" b="1" dirty="0">
                <a:solidFill>
                  <a:schemeClr val="bg1"/>
                </a:solidFill>
              </a:rPr>
              <a:t>DEBITED</a:t>
            </a:r>
            <a:endParaRPr lang="en-US" sz="1300" dirty="0"/>
          </a:p>
        </p:txBody>
      </p:sp>
      <p:sp>
        <p:nvSpPr>
          <p:cNvPr id="9" name="Shape 6"/>
          <p:cNvSpPr/>
          <p:nvPr/>
        </p:nvSpPr>
        <p:spPr>
          <a:xfrm>
            <a:off x="4480560" y="1188720"/>
            <a:ext cx="1554480" cy="548640"/>
          </a:xfrm>
          <a:prstGeom prst="roundRect">
            <a:avLst>
              <a:gd name="adj" fmla="val 13333"/>
            </a:avLst>
          </a:prstGeom>
          <a:solidFill>
            <a:schemeClr val="accent3"/>
          </a:solidFill>
          <a:ln/>
        </p:spPr>
      </p:sp>
      <p:sp>
        <p:nvSpPr>
          <p:cNvPr id="10" name="Text 7"/>
          <p:cNvSpPr txBox="1"/>
          <p:nvPr/>
        </p:nvSpPr>
        <p:spPr>
          <a:xfrm>
            <a:off x="4480560" y="1188720"/>
            <a:ext cx="1554480" cy="548640"/>
          </a:xfrm>
          <a:prstGeom prst="rect">
            <a:avLst/>
          </a:prstGeom>
          <a:noFill/>
          <a:ln/>
        </p:spPr>
        <p:txBody>
          <a:bodyPr wrap="square" lIns="0" tIns="0" rIns="0" bIns="0" rtlCol="0" anchor="ctr"/>
          <a:lstStyle/>
          <a:p>
            <a:pPr marL="0" indent="0" algn="ctr">
              <a:buNone/>
            </a:pPr>
            <a:r>
              <a:rPr lang="en-US" sz="1300" b="1" dirty="0">
                <a:solidFill>
                  <a:schemeClr val="bg1"/>
                </a:solidFill>
              </a:rPr>
              <a:t>COMPLETED</a:t>
            </a:r>
            <a:endParaRPr lang="en-US" sz="1300" dirty="0"/>
          </a:p>
        </p:txBody>
      </p:sp>
      <p:sp>
        <p:nvSpPr>
          <p:cNvPr id="11" name="Shape 8"/>
          <p:cNvSpPr/>
          <p:nvPr/>
        </p:nvSpPr>
        <p:spPr>
          <a:xfrm>
            <a:off x="457200" y="2331720"/>
            <a:ext cx="1554480" cy="548640"/>
          </a:xfrm>
          <a:prstGeom prst="roundRect">
            <a:avLst>
              <a:gd name="adj" fmla="val 13333"/>
            </a:avLst>
          </a:prstGeom>
          <a:solidFill>
            <a:schemeClr val="accent4"/>
          </a:solidFill>
          <a:ln/>
        </p:spPr>
      </p:sp>
      <p:sp>
        <p:nvSpPr>
          <p:cNvPr id="12" name="Text 9"/>
          <p:cNvSpPr txBox="1"/>
          <p:nvPr/>
        </p:nvSpPr>
        <p:spPr>
          <a:xfrm>
            <a:off x="457200" y="2331720"/>
            <a:ext cx="1554480" cy="548640"/>
          </a:xfrm>
          <a:prstGeom prst="rect">
            <a:avLst/>
          </a:prstGeom>
          <a:noFill/>
          <a:ln/>
        </p:spPr>
        <p:txBody>
          <a:bodyPr wrap="square" lIns="0" tIns="0" rIns="0" bIns="0" rtlCol="0" anchor="ctr"/>
          <a:lstStyle/>
          <a:p>
            <a:pPr marL="0" indent="0" algn="ctr">
              <a:buNone/>
            </a:pPr>
            <a:r>
              <a:rPr lang="en-US" sz="1300" b="1" dirty="0">
                <a:solidFill>
                  <a:schemeClr val="bg1"/>
                </a:solidFill>
              </a:rPr>
              <a:t>FAILED</a:t>
            </a:r>
            <a:endParaRPr lang="en-US" sz="1300" dirty="0"/>
          </a:p>
        </p:txBody>
      </p:sp>
      <p:sp>
        <p:nvSpPr>
          <p:cNvPr id="13" name="Shape 10"/>
          <p:cNvSpPr/>
          <p:nvPr/>
        </p:nvSpPr>
        <p:spPr>
          <a:xfrm>
            <a:off x="2468880" y="2331720"/>
            <a:ext cx="1554480" cy="548640"/>
          </a:xfrm>
          <a:prstGeom prst="roundRect">
            <a:avLst>
              <a:gd name="adj" fmla="val 13333"/>
            </a:avLst>
          </a:prstGeom>
          <a:solidFill>
            <a:schemeClr val="accent2"/>
          </a:solidFill>
          <a:ln/>
        </p:spPr>
      </p:sp>
      <p:sp>
        <p:nvSpPr>
          <p:cNvPr id="14" name="Text 11"/>
          <p:cNvSpPr txBox="1"/>
          <p:nvPr/>
        </p:nvSpPr>
        <p:spPr>
          <a:xfrm>
            <a:off x="2468880" y="2331720"/>
            <a:ext cx="1554480" cy="548640"/>
          </a:xfrm>
          <a:prstGeom prst="rect">
            <a:avLst/>
          </a:prstGeom>
          <a:noFill/>
          <a:ln/>
        </p:spPr>
        <p:txBody>
          <a:bodyPr wrap="square" lIns="0" tIns="0" rIns="0" bIns="0" rtlCol="0" anchor="ctr"/>
          <a:lstStyle/>
          <a:p>
            <a:pPr marL="0" indent="0" algn="ctr">
              <a:buNone/>
            </a:pPr>
            <a:r>
              <a:rPr lang="en-US" sz="1300" b="1" dirty="0">
                <a:solidFill>
                  <a:schemeClr val="tx1"/>
                </a:solidFill>
              </a:rPr>
              <a:t>COMPENSATING</a:t>
            </a:r>
            <a:endParaRPr lang="en-US" sz="1300" dirty="0"/>
          </a:p>
        </p:txBody>
      </p:sp>
      <p:sp>
        <p:nvSpPr>
          <p:cNvPr id="15" name="Shape 12"/>
          <p:cNvSpPr/>
          <p:nvPr/>
        </p:nvSpPr>
        <p:spPr>
          <a:xfrm>
            <a:off x="4480560" y="2331720"/>
            <a:ext cx="1554480" cy="548640"/>
          </a:xfrm>
          <a:prstGeom prst="roundRect">
            <a:avLst>
              <a:gd name="adj" fmla="val 13333"/>
            </a:avLst>
          </a:prstGeom>
          <a:solidFill>
            <a:schemeClr val="accent5"/>
          </a:solidFill>
          <a:ln/>
        </p:spPr>
      </p:sp>
      <p:sp>
        <p:nvSpPr>
          <p:cNvPr id="16" name="Text 13"/>
          <p:cNvSpPr txBox="1"/>
          <p:nvPr/>
        </p:nvSpPr>
        <p:spPr>
          <a:xfrm>
            <a:off x="4480560" y="2331720"/>
            <a:ext cx="1554480" cy="548640"/>
          </a:xfrm>
          <a:prstGeom prst="rect">
            <a:avLst/>
          </a:prstGeom>
          <a:noFill/>
          <a:ln/>
        </p:spPr>
        <p:txBody>
          <a:bodyPr wrap="square" lIns="0" tIns="0" rIns="0" bIns="0" rtlCol="0" anchor="ctr"/>
          <a:lstStyle/>
          <a:p>
            <a:pPr marL="0" indent="0" algn="ctr">
              <a:buNone/>
            </a:pPr>
            <a:r>
              <a:rPr lang="en-US" sz="1300" b="1" dirty="0">
                <a:solidFill>
                  <a:schemeClr val="bg1"/>
                </a:solidFill>
              </a:rPr>
              <a:t>COMPENSATED</a:t>
            </a:r>
            <a:endParaRPr lang="en-US" sz="1300" dirty="0"/>
          </a:p>
        </p:txBody>
      </p:sp>
      <p:sp>
        <p:nvSpPr>
          <p:cNvPr id="17" name="Shape 14"/>
          <p:cNvSpPr/>
          <p:nvPr/>
        </p:nvSpPr>
        <p:spPr>
          <a:xfrm>
            <a:off x="2011680" y="1463040"/>
            <a:ext cx="457200" cy="0"/>
          </a:xfrm>
          <a:prstGeom prst="line">
            <a:avLst/>
          </a:prstGeom>
          <a:noFill/>
          <a:ln w="25400">
            <a:solidFill>
              <a:schemeClr val="accent5"/>
            </a:solidFill>
            <a:prstDash val="solid"/>
            <a:tailEnd type="triangle"/>
          </a:ln>
        </p:spPr>
      </p:sp>
      <p:sp>
        <p:nvSpPr>
          <p:cNvPr id="18" name="Shape 15"/>
          <p:cNvSpPr/>
          <p:nvPr/>
        </p:nvSpPr>
        <p:spPr>
          <a:xfrm>
            <a:off x="4023360" y="1463040"/>
            <a:ext cx="457200" cy="0"/>
          </a:xfrm>
          <a:prstGeom prst="line">
            <a:avLst/>
          </a:prstGeom>
          <a:noFill/>
          <a:ln w="25400">
            <a:solidFill>
              <a:schemeClr val="accent5"/>
            </a:solidFill>
            <a:prstDash val="solid"/>
            <a:tailEnd type="triangle"/>
          </a:ln>
        </p:spPr>
      </p:sp>
      <p:sp>
        <p:nvSpPr>
          <p:cNvPr id="19" name="Shape 16"/>
          <p:cNvSpPr/>
          <p:nvPr/>
        </p:nvSpPr>
        <p:spPr>
          <a:xfrm>
            <a:off x="4023360" y="2606040"/>
            <a:ext cx="457200" cy="0"/>
          </a:xfrm>
          <a:prstGeom prst="line">
            <a:avLst/>
          </a:prstGeom>
          <a:noFill/>
          <a:ln w="25400">
            <a:solidFill>
              <a:schemeClr val="accent5"/>
            </a:solidFill>
            <a:prstDash val="solid"/>
            <a:tailEnd type="triangle"/>
          </a:ln>
        </p:spPr>
      </p:sp>
      <p:sp>
        <p:nvSpPr>
          <p:cNvPr id="20" name="Shape 17"/>
          <p:cNvSpPr/>
          <p:nvPr/>
        </p:nvSpPr>
        <p:spPr>
          <a:xfrm>
            <a:off x="1234440" y="1737360"/>
            <a:ext cx="0" cy="594360"/>
          </a:xfrm>
          <a:prstGeom prst="line">
            <a:avLst/>
          </a:prstGeom>
          <a:noFill/>
          <a:ln w="25400">
            <a:solidFill>
              <a:schemeClr val="accent5"/>
            </a:solidFill>
            <a:prstDash val="solid"/>
            <a:tailEnd type="triangle"/>
          </a:ln>
        </p:spPr>
      </p:sp>
      <p:sp>
        <p:nvSpPr>
          <p:cNvPr id="21" name="Shape 18"/>
          <p:cNvSpPr/>
          <p:nvPr/>
        </p:nvSpPr>
        <p:spPr>
          <a:xfrm>
            <a:off x="3246120" y="1737360"/>
            <a:ext cx="0" cy="594360"/>
          </a:xfrm>
          <a:prstGeom prst="line">
            <a:avLst/>
          </a:prstGeom>
          <a:noFill/>
          <a:ln w="25400">
            <a:solidFill>
              <a:schemeClr val="accent5"/>
            </a:solidFill>
            <a:prstDash val="solid"/>
            <a:tailEnd type="triangle"/>
          </a:ln>
        </p:spPr>
      </p:sp>
      <p:sp>
        <p:nvSpPr>
          <p:cNvPr id="22" name="Text 19"/>
          <p:cNvSpPr txBox="1"/>
          <p:nvPr/>
        </p:nvSpPr>
        <p:spPr>
          <a:xfrm>
            <a:off x="1325880" y="1920240"/>
            <a:ext cx="1097280" cy="274320"/>
          </a:xfrm>
          <a:prstGeom prst="rect">
            <a:avLst/>
          </a:prstGeom>
          <a:noFill/>
          <a:ln/>
        </p:spPr>
        <p:txBody>
          <a:bodyPr wrap="square" lIns="0" tIns="0" rIns="0" bIns="0" rtlCol="0" anchor="t"/>
          <a:lstStyle/>
          <a:p>
            <a:pPr marL="0" indent="0">
              <a:buNone/>
            </a:pPr>
            <a:r>
              <a:rPr lang="en-US" sz="1200" dirty="0">
                <a:solidFill>
                  <a:schemeClr val="tx1"/>
                </a:solidFill>
              </a:rPr>
              <a:t>debit failed</a:t>
            </a:r>
            <a:endParaRPr lang="en-US" sz="1200" dirty="0"/>
          </a:p>
        </p:txBody>
      </p:sp>
      <p:sp>
        <p:nvSpPr>
          <p:cNvPr id="23" name="Text 20"/>
          <p:cNvSpPr txBox="1"/>
          <p:nvPr/>
        </p:nvSpPr>
        <p:spPr>
          <a:xfrm>
            <a:off x="3337560" y="1920240"/>
            <a:ext cx="1097280" cy="274320"/>
          </a:xfrm>
          <a:prstGeom prst="rect">
            <a:avLst/>
          </a:prstGeom>
          <a:noFill/>
          <a:ln/>
        </p:spPr>
        <p:txBody>
          <a:bodyPr wrap="square" lIns="0" tIns="0" rIns="0" bIns="0" rtlCol="0" anchor="t"/>
          <a:lstStyle/>
          <a:p>
            <a:pPr marL="0" indent="0">
              <a:buNone/>
            </a:pPr>
            <a:r>
              <a:rPr lang="en-US" sz="1200" dirty="0">
                <a:solidFill>
                  <a:schemeClr val="tx1"/>
                </a:solidFill>
              </a:rPr>
              <a:t>credit failed</a:t>
            </a:r>
            <a:endParaRPr lang="en-US" sz="1200" dirty="0"/>
          </a:p>
        </p:txBody>
      </p:sp>
      <p:sp>
        <p:nvSpPr>
          <p:cNvPr id="24" name="Shape 21"/>
          <p:cNvSpPr/>
          <p:nvPr/>
        </p:nvSpPr>
        <p:spPr>
          <a:xfrm>
            <a:off x="6309360" y="1188720"/>
            <a:ext cx="2377440" cy="1691640"/>
          </a:xfrm>
          <a:prstGeom prst="roundRect">
            <a:avLst>
              <a:gd name="adj" fmla="val 4324"/>
            </a:avLst>
          </a:prstGeom>
          <a:solidFill>
            <a:schemeClr val="tx2"/>
          </a:solidFill>
          <a:ln/>
        </p:spPr>
      </p:sp>
      <p:sp>
        <p:nvSpPr>
          <p:cNvPr id="25" name="Text 22"/>
          <p:cNvSpPr txBox="1"/>
          <p:nvPr/>
        </p:nvSpPr>
        <p:spPr>
          <a:xfrm>
            <a:off x="6446520" y="1298448"/>
            <a:ext cx="2103120" cy="274320"/>
          </a:xfrm>
          <a:prstGeom prst="rect">
            <a:avLst/>
          </a:prstGeom>
          <a:noFill/>
          <a:ln/>
        </p:spPr>
        <p:txBody>
          <a:bodyPr wrap="square" lIns="0" tIns="0" rIns="0" bIns="0" rtlCol="0" anchor="t"/>
          <a:lstStyle/>
          <a:p>
            <a:pPr marL="0" indent="0">
              <a:buNone/>
            </a:pPr>
            <a:r>
              <a:rPr lang="en-US" sz="1400" b="1" dirty="0">
                <a:solidFill>
                  <a:schemeClr val="accent2"/>
                </a:solidFill>
              </a:rPr>
              <a:t>Why a saga, not 2PC?</a:t>
            </a:r>
            <a:endParaRPr lang="en-US" sz="1400" dirty="0"/>
          </a:p>
        </p:txBody>
      </p:sp>
      <p:sp>
        <p:nvSpPr>
          <p:cNvPr id="26" name="Text 23"/>
          <p:cNvSpPr txBox="1"/>
          <p:nvPr/>
        </p:nvSpPr>
        <p:spPr>
          <a:xfrm>
            <a:off x="6446520" y="1645920"/>
            <a:ext cx="2103120" cy="1097280"/>
          </a:xfrm>
          <a:prstGeom prst="rect">
            <a:avLst/>
          </a:prstGeom>
          <a:noFill/>
          <a:ln/>
        </p:spPr>
        <p:txBody>
          <a:bodyPr wrap="square" lIns="0" tIns="0" rIns="0" bIns="0" rtlCol="0" anchor="t"/>
          <a:lstStyle/>
          <a:p>
            <a:pPr marL="0" indent="0">
              <a:buNone/>
            </a:pPr>
            <a:r>
              <a:rPr lang="en-US" sz="1300" dirty="0">
                <a:solidFill>
                  <a:schemeClr val="bg1"/>
                </a:solidFill>
              </a:rPr>
              <a:t>No locks across services. If one is down, messages wait in the queue.</a:t>
            </a:r>
            <a:endParaRPr lang="en-US" sz="1300" dirty="0"/>
          </a:p>
        </p:txBody>
      </p:sp>
      <p:sp>
        <p:nvSpPr>
          <p:cNvPr id="27" name="Shape 24"/>
          <p:cNvSpPr/>
          <p:nvPr/>
        </p:nvSpPr>
        <p:spPr>
          <a:xfrm>
            <a:off x="457200" y="3200400"/>
            <a:ext cx="2651760" cy="1325880"/>
          </a:xfrm>
          <a:prstGeom prst="roundRect">
            <a:avLst>
              <a:gd name="adj" fmla="val 5517"/>
            </a:avLst>
          </a:prstGeom>
          <a:solidFill>
            <a:schemeClr val="bg2"/>
          </a:solidFill>
          <a:ln/>
        </p:spPr>
      </p:sp>
      <p:sp>
        <p:nvSpPr>
          <p:cNvPr id="28" name="Text 25"/>
          <p:cNvSpPr txBox="1"/>
          <p:nvPr/>
        </p:nvSpPr>
        <p:spPr>
          <a:xfrm>
            <a:off x="621792" y="3328416"/>
            <a:ext cx="2322576" cy="320040"/>
          </a:xfrm>
          <a:prstGeom prst="rect">
            <a:avLst/>
          </a:prstGeom>
          <a:noFill/>
          <a:ln/>
        </p:spPr>
        <p:txBody>
          <a:bodyPr wrap="square" lIns="0" tIns="0" rIns="0" bIns="0" rtlCol="0" anchor="t"/>
          <a:lstStyle/>
          <a:p>
            <a:pPr marL="0" indent="0">
              <a:buNone/>
            </a:pPr>
            <a:r>
              <a:rPr lang="en-US" sz="1400" b="1" dirty="0">
                <a:solidFill>
                  <a:schemeClr val="tx1"/>
                </a:solidFill>
              </a:rPr>
              <a:t>Idempotent commands</a:t>
            </a:r>
            <a:endParaRPr lang="en-US" sz="1400" dirty="0"/>
          </a:p>
        </p:txBody>
      </p:sp>
      <p:sp>
        <p:nvSpPr>
          <p:cNvPr id="29" name="Text 26"/>
          <p:cNvSpPr txBox="1"/>
          <p:nvPr/>
        </p:nvSpPr>
        <p:spPr>
          <a:xfrm>
            <a:off x="621792" y="3694176"/>
            <a:ext cx="2322576" cy="685800"/>
          </a:xfrm>
          <a:prstGeom prst="rect">
            <a:avLst/>
          </a:prstGeom>
          <a:noFill/>
          <a:ln/>
        </p:spPr>
        <p:txBody>
          <a:bodyPr wrap="square" lIns="0" tIns="0" rIns="0" bIns="0" rtlCol="0" anchor="t"/>
          <a:lstStyle/>
          <a:p>
            <a:pPr marL="0" indent="0">
              <a:buNone/>
            </a:pPr>
            <a:r>
              <a:rPr lang="en-US" sz="1300" dirty="0">
                <a:solidFill>
                  <a:schemeClr val="tx1"/>
                </a:solidFill>
              </a:rPr>
              <a:t>Key transferId:step, so a repeat is never applied twice</a:t>
            </a:r>
            <a:endParaRPr lang="en-US" sz="1300" dirty="0"/>
          </a:p>
        </p:txBody>
      </p:sp>
      <p:sp>
        <p:nvSpPr>
          <p:cNvPr id="30" name="Shape 27"/>
          <p:cNvSpPr/>
          <p:nvPr/>
        </p:nvSpPr>
        <p:spPr>
          <a:xfrm>
            <a:off x="3246120" y="3200400"/>
            <a:ext cx="2651760" cy="1325880"/>
          </a:xfrm>
          <a:prstGeom prst="roundRect">
            <a:avLst>
              <a:gd name="adj" fmla="val 5517"/>
            </a:avLst>
          </a:prstGeom>
          <a:solidFill>
            <a:schemeClr val="bg2"/>
          </a:solidFill>
          <a:ln/>
        </p:spPr>
      </p:sp>
      <p:sp>
        <p:nvSpPr>
          <p:cNvPr id="31" name="Text 28"/>
          <p:cNvSpPr txBox="1"/>
          <p:nvPr/>
        </p:nvSpPr>
        <p:spPr>
          <a:xfrm>
            <a:off x="3410712" y="3328416"/>
            <a:ext cx="2322576" cy="320040"/>
          </a:xfrm>
          <a:prstGeom prst="rect">
            <a:avLst/>
          </a:prstGeom>
          <a:noFill/>
          <a:ln/>
        </p:spPr>
        <p:txBody>
          <a:bodyPr wrap="square" lIns="0" tIns="0" rIns="0" bIns="0" rtlCol="0" anchor="t"/>
          <a:lstStyle/>
          <a:p>
            <a:pPr marL="0" indent="0">
              <a:buNone/>
            </a:pPr>
            <a:r>
              <a:rPr lang="en-US" sz="1400" b="1" dirty="0">
                <a:solidFill>
                  <a:schemeClr val="tx1"/>
                </a:solidFill>
              </a:rPr>
              <a:t>Guarded replies</a:t>
            </a:r>
            <a:endParaRPr lang="en-US" sz="1400" dirty="0"/>
          </a:p>
        </p:txBody>
      </p:sp>
      <p:sp>
        <p:nvSpPr>
          <p:cNvPr id="32" name="Text 29"/>
          <p:cNvSpPr txBox="1"/>
          <p:nvPr/>
        </p:nvSpPr>
        <p:spPr>
          <a:xfrm>
            <a:off x="3410712" y="3694176"/>
            <a:ext cx="2322576" cy="685800"/>
          </a:xfrm>
          <a:prstGeom prst="rect">
            <a:avLst/>
          </a:prstGeom>
          <a:noFill/>
          <a:ln/>
        </p:spPr>
        <p:txBody>
          <a:bodyPr wrap="square" lIns="0" tIns="0" rIns="0" bIns="0" rtlCol="0" anchor="t"/>
          <a:lstStyle/>
          <a:p>
            <a:pPr marL="0" indent="0">
              <a:buNone/>
            </a:pPr>
            <a:r>
              <a:rPr lang="en-US" sz="1300" dirty="0">
                <a:solidFill>
                  <a:schemeClr val="tx1"/>
                </a:solidFill>
              </a:rPr>
              <a:t>UPDATE … WHERE state = expected. A duplicate changes 0 rows</a:t>
            </a:r>
            <a:endParaRPr lang="en-US" sz="1300" dirty="0"/>
          </a:p>
        </p:txBody>
      </p:sp>
      <p:sp>
        <p:nvSpPr>
          <p:cNvPr id="33" name="Shape 30"/>
          <p:cNvSpPr/>
          <p:nvPr/>
        </p:nvSpPr>
        <p:spPr>
          <a:xfrm>
            <a:off x="6035040" y="3200400"/>
            <a:ext cx="2651760" cy="1325880"/>
          </a:xfrm>
          <a:prstGeom prst="roundRect">
            <a:avLst>
              <a:gd name="adj" fmla="val 5517"/>
            </a:avLst>
          </a:prstGeom>
          <a:solidFill>
            <a:schemeClr val="bg2"/>
          </a:solidFill>
          <a:ln/>
        </p:spPr>
      </p:sp>
      <p:sp>
        <p:nvSpPr>
          <p:cNvPr id="34" name="Text 31"/>
          <p:cNvSpPr txBox="1"/>
          <p:nvPr/>
        </p:nvSpPr>
        <p:spPr>
          <a:xfrm>
            <a:off x="6199632" y="3328416"/>
            <a:ext cx="2322576" cy="320040"/>
          </a:xfrm>
          <a:prstGeom prst="rect">
            <a:avLst/>
          </a:prstGeom>
          <a:noFill/>
          <a:ln/>
        </p:spPr>
        <p:txBody>
          <a:bodyPr wrap="square" lIns="0" tIns="0" rIns="0" bIns="0" rtlCol="0" anchor="t"/>
          <a:lstStyle/>
          <a:p>
            <a:pPr marL="0" indent="0">
              <a:buNone/>
            </a:pPr>
            <a:r>
              <a:rPr lang="en-US" sz="1400" b="1" dirty="0">
                <a:solidFill>
                  <a:schemeClr val="tx1"/>
                </a:solidFill>
              </a:rPr>
              <a:t>Crash recovery</a:t>
            </a:r>
            <a:endParaRPr lang="en-US" sz="1400" dirty="0"/>
          </a:p>
        </p:txBody>
      </p:sp>
      <p:sp>
        <p:nvSpPr>
          <p:cNvPr id="35" name="Text 32"/>
          <p:cNvSpPr txBox="1"/>
          <p:nvPr/>
        </p:nvSpPr>
        <p:spPr>
          <a:xfrm>
            <a:off x="6199632" y="3694176"/>
            <a:ext cx="2322576" cy="685800"/>
          </a:xfrm>
          <a:prstGeom prst="rect">
            <a:avLst/>
          </a:prstGeom>
          <a:noFill/>
          <a:ln/>
        </p:spPr>
        <p:txBody>
          <a:bodyPr wrap="square" lIns="0" tIns="0" rIns="0" bIns="0" rtlCol="0" anchor="t"/>
          <a:lstStyle/>
          <a:p>
            <a:pPr marL="0" indent="0">
              <a:buNone/>
            </a:pPr>
            <a:r>
              <a:rPr lang="en-US" sz="1300" dirty="0">
                <a:solidFill>
                  <a:schemeClr val="tx1"/>
                </a:solidFill>
              </a:rPr>
              <a:t>A job re-sends stuck steps every 10 seconds</a:t>
            </a:r>
            <a:endParaRPr lang="en-US" sz="1300" dirty="0"/>
          </a:p>
        </p:txBody>
      </p:sp>
      <p:sp>
        <p:nvSpPr>
          <p:cNvPr id="4"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Proof: we break it on purpose</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10</a:t>
            </a:r>
            <a:endParaRPr lang="en-US" sz="1000" dirty="0"/>
          </a:p>
        </p:txBody>
      </p:sp>
      <p:sp>
        <p:nvSpPr>
          <p:cNvPr id="5" name="Text 2"/>
          <p:cNvSpPr txBox="1"/>
          <p:nvPr/>
        </p:nvSpPr>
        <p:spPr>
          <a:xfrm>
            <a:off x="457200" y="1143000"/>
            <a:ext cx="3474720" cy="320040"/>
          </a:xfrm>
          <a:prstGeom prst="rect">
            <a:avLst/>
          </a:prstGeom>
          <a:noFill/>
          <a:ln/>
        </p:spPr>
        <p:txBody>
          <a:bodyPr wrap="square" lIns="0" tIns="0" rIns="0" bIns="0" rtlCol="0" anchor="t"/>
          <a:lstStyle/>
          <a:p>
            <a:pPr marL="0" indent="0">
              <a:buNone/>
            </a:pPr>
            <a:r>
              <a:rPr lang="en-US" sz="1600" b="1" dirty="0">
                <a:solidFill>
                  <a:schemeClr val="tx2"/>
                </a:solidFill>
              </a:rPr>
              <a:t>50 identical requests at once</a:t>
            </a:r>
            <a:endParaRPr lang="en-US" sz="1600" dirty="0"/>
          </a:p>
        </p:txBody>
      </p:sp>
      <p:sp>
        <p:nvSpPr>
          <p:cNvPr id="6" name="Shape 3"/>
          <p:cNvSpPr/>
          <p:nvPr/>
        </p:nvSpPr>
        <p:spPr>
          <a:xfrm>
            <a:off x="457200" y="1600200"/>
            <a:ext cx="3474720" cy="841248"/>
          </a:xfrm>
          <a:prstGeom prst="roundRect">
            <a:avLst>
              <a:gd name="adj" fmla="val 8696"/>
            </a:avLst>
          </a:prstGeom>
          <a:solidFill>
            <a:schemeClr val="bg2"/>
          </a:solidFill>
          <a:ln/>
        </p:spPr>
      </p:sp>
      <p:sp>
        <p:nvSpPr>
          <p:cNvPr id="7" name="Text 4"/>
          <p:cNvSpPr txBox="1"/>
          <p:nvPr/>
        </p:nvSpPr>
        <p:spPr>
          <a:xfrm>
            <a:off x="594360" y="1600200"/>
            <a:ext cx="1188720" cy="841248"/>
          </a:xfrm>
          <a:prstGeom prst="rect">
            <a:avLst/>
          </a:prstGeom>
          <a:noFill/>
          <a:ln/>
        </p:spPr>
        <p:txBody>
          <a:bodyPr wrap="square" lIns="0" tIns="0" rIns="0" bIns="0" rtlCol="0" anchor="ctr"/>
          <a:lstStyle/>
          <a:p>
            <a:pPr marL="0" indent="0">
              <a:buNone/>
            </a:pPr>
            <a:r>
              <a:rPr lang="en-US" sz="3000" b="1" dirty="0">
                <a:solidFill>
                  <a:schemeClr val="accent1"/>
                </a:solidFill>
              </a:rPr>
              <a:t>1</a:t>
            </a:r>
            <a:endParaRPr lang="en-US" sz="3000" dirty="0"/>
          </a:p>
        </p:txBody>
      </p:sp>
      <p:sp>
        <p:nvSpPr>
          <p:cNvPr id="8" name="Text 5"/>
          <p:cNvSpPr txBox="1"/>
          <p:nvPr/>
        </p:nvSpPr>
        <p:spPr>
          <a:xfrm>
            <a:off x="1828800" y="1600200"/>
            <a:ext cx="2011680" cy="841248"/>
          </a:xfrm>
          <a:prstGeom prst="rect">
            <a:avLst/>
          </a:prstGeom>
          <a:noFill/>
          <a:ln/>
        </p:spPr>
        <p:txBody>
          <a:bodyPr wrap="square" lIns="0" tIns="0" rIns="0" bIns="0" rtlCol="0" anchor="ctr"/>
          <a:lstStyle/>
          <a:p>
            <a:pPr marL="0" indent="0">
              <a:buNone/>
            </a:pPr>
            <a:r>
              <a:rPr lang="en-US" sz="1300" dirty="0">
                <a:solidFill>
                  <a:schemeClr val="tx1"/>
                </a:solidFill>
              </a:rPr>
              <a:t>ledger event</a:t>
            </a:r>
            <a:endParaRPr lang="en-US" sz="1300" dirty="0"/>
          </a:p>
        </p:txBody>
      </p:sp>
      <p:sp>
        <p:nvSpPr>
          <p:cNvPr id="9" name="Shape 6"/>
          <p:cNvSpPr/>
          <p:nvPr/>
        </p:nvSpPr>
        <p:spPr>
          <a:xfrm>
            <a:off x="457200" y="2560320"/>
            <a:ext cx="3474720" cy="841248"/>
          </a:xfrm>
          <a:prstGeom prst="roundRect">
            <a:avLst>
              <a:gd name="adj" fmla="val 8696"/>
            </a:avLst>
          </a:prstGeom>
          <a:solidFill>
            <a:schemeClr val="bg2"/>
          </a:solidFill>
          <a:ln/>
        </p:spPr>
      </p:sp>
      <p:sp>
        <p:nvSpPr>
          <p:cNvPr id="10" name="Text 7"/>
          <p:cNvSpPr txBox="1"/>
          <p:nvPr/>
        </p:nvSpPr>
        <p:spPr>
          <a:xfrm>
            <a:off x="594360" y="2560320"/>
            <a:ext cx="1188720" cy="841248"/>
          </a:xfrm>
          <a:prstGeom prst="rect">
            <a:avLst/>
          </a:prstGeom>
          <a:noFill/>
          <a:ln/>
        </p:spPr>
        <p:txBody>
          <a:bodyPr wrap="square" lIns="0" tIns="0" rIns="0" bIns="0" rtlCol="0" anchor="ctr"/>
          <a:lstStyle/>
          <a:p>
            <a:pPr marL="0" indent="0">
              <a:buNone/>
            </a:pPr>
            <a:r>
              <a:rPr lang="en-US" sz="3000" b="1" dirty="0">
                <a:solidFill>
                  <a:schemeClr val="accent1"/>
                </a:solidFill>
              </a:rPr>
              <a:t>49</a:t>
            </a:r>
            <a:endParaRPr lang="en-US" sz="3000" dirty="0"/>
          </a:p>
        </p:txBody>
      </p:sp>
      <p:sp>
        <p:nvSpPr>
          <p:cNvPr id="11" name="Text 8"/>
          <p:cNvSpPr txBox="1"/>
          <p:nvPr/>
        </p:nvSpPr>
        <p:spPr>
          <a:xfrm>
            <a:off x="1828800" y="2560320"/>
            <a:ext cx="2011680" cy="841248"/>
          </a:xfrm>
          <a:prstGeom prst="rect">
            <a:avLst/>
          </a:prstGeom>
          <a:noFill/>
          <a:ln/>
        </p:spPr>
        <p:txBody>
          <a:bodyPr wrap="square" lIns="0" tIns="0" rIns="0" bIns="0" rtlCol="0" anchor="ctr"/>
          <a:lstStyle/>
          <a:p>
            <a:pPr marL="0" indent="0">
              <a:buNone/>
            </a:pPr>
            <a:r>
              <a:rPr lang="en-US" sz="1300" dirty="0">
                <a:solidFill>
                  <a:schemeClr val="tx1"/>
                </a:solidFill>
              </a:rPr>
              <a:t>replays (Idempotent-Replayed: true)</a:t>
            </a:r>
            <a:endParaRPr lang="en-US" sz="1300" dirty="0"/>
          </a:p>
        </p:txBody>
      </p:sp>
      <p:sp>
        <p:nvSpPr>
          <p:cNvPr id="12" name="Shape 9"/>
          <p:cNvSpPr/>
          <p:nvPr/>
        </p:nvSpPr>
        <p:spPr>
          <a:xfrm>
            <a:off x="457200" y="3520440"/>
            <a:ext cx="3474720" cy="841248"/>
          </a:xfrm>
          <a:prstGeom prst="roundRect">
            <a:avLst>
              <a:gd name="adj" fmla="val 8696"/>
            </a:avLst>
          </a:prstGeom>
          <a:solidFill>
            <a:schemeClr val="bg2"/>
          </a:solidFill>
          <a:ln/>
        </p:spPr>
      </p:sp>
      <p:sp>
        <p:nvSpPr>
          <p:cNvPr id="13" name="Text 10"/>
          <p:cNvSpPr txBox="1"/>
          <p:nvPr/>
        </p:nvSpPr>
        <p:spPr>
          <a:xfrm>
            <a:off x="594360" y="3520440"/>
            <a:ext cx="1188720" cy="841248"/>
          </a:xfrm>
          <a:prstGeom prst="rect">
            <a:avLst/>
          </a:prstGeom>
          <a:noFill/>
          <a:ln/>
        </p:spPr>
        <p:txBody>
          <a:bodyPr wrap="square" lIns="0" tIns="0" rIns="0" bIns="0" rtlCol="0" anchor="ctr"/>
          <a:lstStyle/>
          <a:p>
            <a:pPr marL="0" indent="0">
              <a:buNone/>
            </a:pPr>
            <a:r>
              <a:rPr lang="en-US" sz="3000" b="1" dirty="0">
                <a:solidFill>
                  <a:schemeClr val="accent1"/>
                </a:solidFill>
              </a:rPr>
              <a:t>1000</a:t>
            </a:r>
            <a:endParaRPr lang="en-US" sz="3000" dirty="0"/>
          </a:p>
        </p:txBody>
      </p:sp>
      <p:sp>
        <p:nvSpPr>
          <p:cNvPr id="14" name="Text 11"/>
          <p:cNvSpPr txBox="1"/>
          <p:nvPr/>
        </p:nvSpPr>
        <p:spPr>
          <a:xfrm>
            <a:off x="1828800" y="3520440"/>
            <a:ext cx="2011680" cy="841248"/>
          </a:xfrm>
          <a:prstGeom prst="rect">
            <a:avLst/>
          </a:prstGeom>
          <a:noFill/>
          <a:ln/>
        </p:spPr>
        <p:txBody>
          <a:bodyPr wrap="square" lIns="0" tIns="0" rIns="0" bIns="0" rtlCol="0" anchor="ctr"/>
          <a:lstStyle/>
          <a:p>
            <a:pPr marL="0" indent="0">
              <a:buNone/>
            </a:pPr>
            <a:r>
              <a:rPr lang="en-US" sz="1300" dirty="0">
                <a:solidFill>
                  <a:schemeClr val="tx1"/>
                </a:solidFill>
              </a:rPr>
              <a:t>final balance (LKR 10.00)</a:t>
            </a:r>
            <a:endParaRPr lang="en-US" sz="1300" dirty="0"/>
          </a:p>
        </p:txBody>
      </p:sp>
      <p:sp>
        <p:nvSpPr>
          <p:cNvPr id="15" name="Text 12"/>
          <p:cNvSpPr txBox="1"/>
          <p:nvPr/>
        </p:nvSpPr>
        <p:spPr>
          <a:xfrm>
            <a:off x="4297680" y="1143000"/>
            <a:ext cx="4389120" cy="320040"/>
          </a:xfrm>
          <a:prstGeom prst="rect">
            <a:avLst/>
          </a:prstGeom>
          <a:noFill/>
          <a:ln/>
        </p:spPr>
        <p:txBody>
          <a:bodyPr wrap="square" lIns="0" tIns="0" rIns="0" bIns="0" rtlCol="0" anchor="t"/>
          <a:lstStyle/>
          <a:p>
            <a:pPr marL="0" indent="0">
              <a:buNone/>
            </a:pPr>
            <a:r>
              <a:rPr lang="en-US" sz="1600" b="1" dirty="0">
                <a:solidFill>
                  <a:schemeClr val="tx2"/>
                </a:solidFill>
              </a:rPr>
              <a:t>Chaos switches</a:t>
            </a:r>
            <a:endParaRPr lang="en-US" sz="1600" dirty="0"/>
          </a:p>
        </p:txBody>
      </p:sp>
      <p:sp>
        <p:nvSpPr>
          <p:cNvPr id="16" name="Shape 13"/>
          <p:cNvSpPr/>
          <p:nvPr/>
        </p:nvSpPr>
        <p:spPr>
          <a:xfrm>
            <a:off x="4297680" y="1600200"/>
            <a:ext cx="1600200" cy="603504"/>
          </a:xfrm>
          <a:prstGeom prst="roundRect">
            <a:avLst>
              <a:gd name="adj" fmla="val 12121"/>
            </a:avLst>
          </a:prstGeom>
          <a:solidFill>
            <a:schemeClr val="accent2"/>
          </a:solidFill>
          <a:ln/>
        </p:spPr>
      </p:sp>
      <p:sp>
        <p:nvSpPr>
          <p:cNvPr id="17" name="Text 14"/>
          <p:cNvSpPr txBox="1"/>
          <p:nvPr/>
        </p:nvSpPr>
        <p:spPr>
          <a:xfrm>
            <a:off x="4297680" y="1600200"/>
            <a:ext cx="1600200" cy="603504"/>
          </a:xfrm>
          <a:prstGeom prst="rect">
            <a:avLst/>
          </a:prstGeom>
          <a:noFill/>
          <a:ln/>
        </p:spPr>
        <p:txBody>
          <a:bodyPr wrap="square" lIns="0" tIns="0" rIns="0" bIns="0" rtlCol="0" anchor="ctr"/>
          <a:lstStyle/>
          <a:p>
            <a:pPr marL="0" indent="0" algn="ctr">
              <a:buNone/>
            </a:pPr>
            <a:r>
              <a:rPr lang="en-US" sz="1200" b="1" dirty="0">
                <a:solidFill>
                  <a:schemeClr val="tx1"/>
                </a:solidFill>
              </a:rPr>
              <a:t>dropResponse</a:t>
            </a:r>
            <a:endParaRPr lang="en-US" sz="1200" dirty="0"/>
          </a:p>
        </p:txBody>
      </p:sp>
      <p:sp>
        <p:nvSpPr>
          <p:cNvPr id="18" name="Text 15"/>
          <p:cNvSpPr txBox="1"/>
          <p:nvPr/>
        </p:nvSpPr>
        <p:spPr>
          <a:xfrm>
            <a:off x="6080760" y="1600200"/>
            <a:ext cx="2606040" cy="603504"/>
          </a:xfrm>
          <a:prstGeom prst="rect">
            <a:avLst/>
          </a:prstGeom>
          <a:noFill/>
          <a:ln/>
        </p:spPr>
        <p:txBody>
          <a:bodyPr wrap="square" lIns="0" tIns="0" rIns="0" bIns="0" rtlCol="0" anchor="ctr"/>
          <a:lstStyle/>
          <a:p>
            <a:pPr marL="0" indent="0">
              <a:buNone/>
            </a:pPr>
            <a:r>
              <a:rPr lang="en-US" sz="1400" dirty="0">
                <a:solidFill>
                  <a:schemeClr val="tx1"/>
                </a:solidFill>
              </a:rPr>
              <a:t>Reply lost: the retry is a replay</a:t>
            </a:r>
            <a:endParaRPr lang="en-US" sz="1400" dirty="0"/>
          </a:p>
        </p:txBody>
      </p:sp>
      <p:sp>
        <p:nvSpPr>
          <p:cNvPr id="19" name="Shape 16"/>
          <p:cNvSpPr/>
          <p:nvPr/>
        </p:nvSpPr>
        <p:spPr>
          <a:xfrm>
            <a:off x="4297680" y="2331720"/>
            <a:ext cx="1600200" cy="603504"/>
          </a:xfrm>
          <a:prstGeom prst="roundRect">
            <a:avLst>
              <a:gd name="adj" fmla="val 12121"/>
            </a:avLst>
          </a:prstGeom>
          <a:solidFill>
            <a:schemeClr val="accent2"/>
          </a:solidFill>
          <a:ln/>
        </p:spPr>
      </p:sp>
      <p:sp>
        <p:nvSpPr>
          <p:cNvPr id="20" name="Text 17"/>
          <p:cNvSpPr txBox="1"/>
          <p:nvPr/>
        </p:nvSpPr>
        <p:spPr>
          <a:xfrm>
            <a:off x="4297680" y="2331720"/>
            <a:ext cx="1600200" cy="603504"/>
          </a:xfrm>
          <a:prstGeom prst="rect">
            <a:avLst/>
          </a:prstGeom>
          <a:noFill/>
          <a:ln/>
        </p:spPr>
        <p:txBody>
          <a:bodyPr wrap="square" lIns="0" tIns="0" rIns="0" bIns="0" rtlCol="0" anchor="ctr"/>
          <a:lstStyle/>
          <a:p>
            <a:pPr marL="0" indent="0" algn="ctr">
              <a:buNone/>
            </a:pPr>
            <a:r>
              <a:rPr lang="en-US" sz="1200" b="1" dirty="0">
                <a:solidFill>
                  <a:schemeClr val="tx1"/>
                </a:solidFill>
              </a:rPr>
              <a:t>duplicatePublish</a:t>
            </a:r>
            <a:endParaRPr lang="en-US" sz="1200" dirty="0"/>
          </a:p>
        </p:txBody>
      </p:sp>
      <p:sp>
        <p:nvSpPr>
          <p:cNvPr id="21" name="Text 18"/>
          <p:cNvSpPr txBox="1"/>
          <p:nvPr/>
        </p:nvSpPr>
        <p:spPr>
          <a:xfrm>
            <a:off x="6080760" y="2331720"/>
            <a:ext cx="2606040" cy="603504"/>
          </a:xfrm>
          <a:prstGeom prst="rect">
            <a:avLst/>
          </a:prstGeom>
          <a:noFill/>
          <a:ln/>
        </p:spPr>
        <p:txBody>
          <a:bodyPr wrap="square" lIns="0" tIns="0" rIns="0" bIns="0" rtlCol="0" anchor="ctr"/>
          <a:lstStyle/>
          <a:p>
            <a:pPr marL="0" indent="0">
              <a:buNone/>
            </a:pPr>
            <a:r>
              <a:rPr lang="en-US" sz="1400" dirty="0">
                <a:solidFill>
                  <a:schemeClr val="tx1"/>
                </a:solidFill>
              </a:rPr>
              <a:t>Message sent twice: inbox skips it</a:t>
            </a:r>
            <a:endParaRPr lang="en-US" sz="1400" dirty="0"/>
          </a:p>
        </p:txBody>
      </p:sp>
      <p:sp>
        <p:nvSpPr>
          <p:cNvPr id="22" name="Shape 19"/>
          <p:cNvSpPr/>
          <p:nvPr/>
        </p:nvSpPr>
        <p:spPr>
          <a:xfrm>
            <a:off x="4297680" y="3063240"/>
            <a:ext cx="1600200" cy="603504"/>
          </a:xfrm>
          <a:prstGeom prst="roundRect">
            <a:avLst>
              <a:gd name="adj" fmla="val 12121"/>
            </a:avLst>
          </a:prstGeom>
          <a:solidFill>
            <a:schemeClr val="accent2"/>
          </a:solidFill>
          <a:ln/>
        </p:spPr>
      </p:sp>
      <p:sp>
        <p:nvSpPr>
          <p:cNvPr id="23" name="Text 20"/>
          <p:cNvSpPr txBox="1"/>
          <p:nvPr/>
        </p:nvSpPr>
        <p:spPr>
          <a:xfrm>
            <a:off x="4297680" y="3063240"/>
            <a:ext cx="1600200" cy="603504"/>
          </a:xfrm>
          <a:prstGeom prst="rect">
            <a:avLst/>
          </a:prstGeom>
          <a:noFill/>
          <a:ln/>
        </p:spPr>
        <p:txBody>
          <a:bodyPr wrap="square" lIns="0" tIns="0" rIns="0" bIns="0" rtlCol="0" anchor="ctr"/>
          <a:lstStyle/>
          <a:p>
            <a:pPr marL="0" indent="0" algn="ctr">
              <a:buNone/>
            </a:pPr>
            <a:r>
              <a:rPr lang="en-US" sz="1200" b="1" dirty="0">
                <a:solidFill>
                  <a:schemeClr val="tx1"/>
                </a:solidFill>
              </a:rPr>
              <a:t>failConsumer</a:t>
            </a:r>
            <a:endParaRPr lang="en-US" sz="1200" dirty="0"/>
          </a:p>
        </p:txBody>
      </p:sp>
      <p:sp>
        <p:nvSpPr>
          <p:cNvPr id="24" name="Text 21"/>
          <p:cNvSpPr txBox="1"/>
          <p:nvPr/>
        </p:nvSpPr>
        <p:spPr>
          <a:xfrm>
            <a:off x="6080760" y="3063240"/>
            <a:ext cx="2606040" cy="603504"/>
          </a:xfrm>
          <a:prstGeom prst="rect">
            <a:avLst/>
          </a:prstGeom>
          <a:noFill/>
          <a:ln/>
        </p:spPr>
        <p:txBody>
          <a:bodyPr wrap="square" lIns="0" tIns="0" rIns="0" bIns="0" rtlCol="0" anchor="ctr"/>
          <a:lstStyle/>
          <a:p>
            <a:pPr marL="0" indent="0">
              <a:buNone/>
            </a:pPr>
            <a:r>
              <a:rPr lang="en-US" sz="1400" dirty="0">
                <a:solidFill>
                  <a:schemeClr val="tx1"/>
                </a:solidFill>
              </a:rPr>
              <a:t>Poison message: lands in the DLQ</a:t>
            </a:r>
            <a:endParaRPr lang="en-US" sz="1400" dirty="0"/>
          </a:p>
        </p:txBody>
      </p:sp>
      <p:sp>
        <p:nvSpPr>
          <p:cNvPr id="25" name="Shape 22"/>
          <p:cNvSpPr/>
          <p:nvPr/>
        </p:nvSpPr>
        <p:spPr>
          <a:xfrm>
            <a:off x="4297680" y="3794760"/>
            <a:ext cx="1600200" cy="603504"/>
          </a:xfrm>
          <a:prstGeom prst="roundRect">
            <a:avLst>
              <a:gd name="adj" fmla="val 12121"/>
            </a:avLst>
          </a:prstGeom>
          <a:solidFill>
            <a:schemeClr val="accent2"/>
          </a:solidFill>
          <a:ln/>
        </p:spPr>
      </p:sp>
      <p:sp>
        <p:nvSpPr>
          <p:cNvPr id="26" name="Text 23"/>
          <p:cNvSpPr txBox="1"/>
          <p:nvPr/>
        </p:nvSpPr>
        <p:spPr>
          <a:xfrm>
            <a:off x="4297680" y="3794760"/>
            <a:ext cx="1600200" cy="603504"/>
          </a:xfrm>
          <a:prstGeom prst="rect">
            <a:avLst/>
          </a:prstGeom>
          <a:noFill/>
          <a:ln/>
        </p:spPr>
        <p:txBody>
          <a:bodyPr wrap="square" lIns="0" tIns="0" rIns="0" bIns="0" rtlCol="0" anchor="ctr"/>
          <a:lstStyle/>
          <a:p>
            <a:pPr marL="0" indent="0" algn="ctr">
              <a:buNone/>
            </a:pPr>
            <a:r>
              <a:rPr lang="en-US" sz="1200" b="1" dirty="0">
                <a:solidFill>
                  <a:schemeClr val="tx1"/>
                </a:solidFill>
              </a:rPr>
              <a:t>failPercent</a:t>
            </a:r>
            <a:endParaRPr lang="en-US" sz="1200" dirty="0"/>
          </a:p>
        </p:txBody>
      </p:sp>
      <p:sp>
        <p:nvSpPr>
          <p:cNvPr id="27" name="Text 24"/>
          <p:cNvSpPr txBox="1"/>
          <p:nvPr/>
        </p:nvSpPr>
        <p:spPr>
          <a:xfrm>
            <a:off x="6080760" y="3794760"/>
            <a:ext cx="2606040" cy="603504"/>
          </a:xfrm>
          <a:prstGeom prst="rect">
            <a:avLst/>
          </a:prstGeom>
          <a:noFill/>
          <a:ln/>
        </p:spPr>
        <p:txBody>
          <a:bodyPr wrap="square" lIns="0" tIns="0" rIns="0" bIns="0" rtlCol="0" anchor="ctr"/>
          <a:lstStyle/>
          <a:p>
            <a:pPr marL="0" indent="0">
              <a:buNone/>
            </a:pPr>
            <a:r>
              <a:rPr lang="en-US" sz="1400" dirty="0">
                <a:solidFill>
                  <a:schemeClr val="tx1"/>
                </a:solidFill>
              </a:rPr>
              <a:t>Flaky provider: one charge per key</a:t>
            </a:r>
            <a:endParaRPr lang="en-US" sz="1400" dirty="0"/>
          </a:p>
        </p:txBody>
      </p:sp>
      <p:sp>
        <p:nvSpPr>
          <p:cNvPr id="4"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3200" b="1" dirty="0">
                <a:solidFill>
                  <a:schemeClr val="tx2"/>
                </a:solidFill>
              </a:rPr>
              <a:t>What it solves, and its limits</a:t>
            </a:r>
            <a:endParaRPr lang="en-US" sz="3200" dirty="0"/>
          </a:p>
        </p:txBody>
      </p:sp>
      <p:sp>
        <p:nvSpPr>
          <p:cNvPr id="3" name="Text 1"/>
          <p:cNvSpPr txBox="1"/>
          <p:nvPr/>
        </p:nvSpPr>
        <p:spPr>
          <a:xfrm>
            <a:off x="457200" y="4754880"/>
            <a:ext cx="2743200" cy="228600"/>
          </a:xfrm>
          <a:prstGeom prst="rect">
            <a:avLst/>
          </a:prstGeom>
          <a:noFill/>
          <a:ln/>
        </p:spPr>
        <p:txBody>
          <a:bodyPr wrap="square" lIns="0" tIns="0" rIns="0" bIns="0" rtlCol="0" anchor="t"/>
          <a:lstStyle/>
          <a:p>
            <a:pPr marL="0" indent="0">
              <a:buNone/>
            </a:pPr>
            <a:r>
              <a:rPr lang="en-US" sz="1000" dirty="0">
                <a:solidFill>
                  <a:schemeClr val="accent5"/>
                </a:solidFill>
              </a:rPr>
              <a:t>Presenter: Member 10</a:t>
            </a:r>
            <a:endParaRPr lang="en-US" sz="1000" dirty="0"/>
          </a:p>
        </p:txBody>
      </p:sp>
      <p:sp>
        <p:nvSpPr>
          <p:cNvPr id="5" name="Shape 2"/>
          <p:cNvSpPr/>
          <p:nvPr/>
        </p:nvSpPr>
        <p:spPr>
          <a:xfrm>
            <a:off x="457200" y="1143000"/>
            <a:ext cx="4023360" cy="2697480"/>
          </a:xfrm>
          <a:prstGeom prst="roundRect">
            <a:avLst>
              <a:gd name="adj" fmla="val 2712"/>
            </a:avLst>
          </a:prstGeom>
          <a:solidFill>
            <a:schemeClr val="bg2"/>
          </a:solidFill>
          <a:ln/>
        </p:spPr>
      </p:sp>
      <p:sp>
        <p:nvSpPr>
          <p:cNvPr id="6" name="Text 3"/>
          <p:cNvSpPr txBox="1"/>
          <p:nvPr/>
        </p:nvSpPr>
        <p:spPr>
          <a:xfrm>
            <a:off x="640080" y="1280160"/>
            <a:ext cx="3657600" cy="320040"/>
          </a:xfrm>
          <a:prstGeom prst="rect">
            <a:avLst/>
          </a:prstGeom>
          <a:noFill/>
          <a:ln/>
        </p:spPr>
        <p:txBody>
          <a:bodyPr wrap="square" lIns="0" tIns="0" rIns="0" bIns="0" rtlCol="0" anchor="t"/>
          <a:lstStyle/>
          <a:p>
            <a:pPr marL="0" indent="0">
              <a:buNone/>
            </a:pPr>
            <a:r>
              <a:rPr lang="en-US" sz="1600" b="1" dirty="0">
                <a:solidFill>
                  <a:schemeClr val="accent3"/>
                </a:solidFill>
              </a:rPr>
              <a:t>Problems solved</a:t>
            </a:r>
            <a:endParaRPr lang="en-US" sz="1600" dirty="0"/>
          </a:p>
        </p:txBody>
      </p:sp>
      <p:sp>
        <p:nvSpPr>
          <p:cNvPr id="7" name="Text 4"/>
          <p:cNvSpPr txBox="1"/>
          <p:nvPr/>
        </p:nvSpPr>
        <p:spPr>
          <a:xfrm>
            <a:off x="640080" y="1691640"/>
            <a:ext cx="3657600" cy="2057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Double debit from a retry or double tap</a:t>
            </a:r>
            <a:endParaRPr lang="en-US" sz="1400" dirty="0"/>
          </a:p>
          <a:p>
            <a:pPr marL="342900" indent="-342900">
              <a:spcAft>
                <a:spcPts val="500"/>
              </a:spcAft>
              <a:buSzPct val="100000"/>
              <a:buChar char="•"/>
            </a:pPr>
            <a:r>
              <a:rPr lang="en-US" sz="1400" dirty="0">
                <a:solidFill>
                  <a:schemeClr val="tx1"/>
                </a:solidFill>
              </a:rPr>
              <a:t>Lost reply after a successful save</a:t>
            </a:r>
            <a:endParaRPr lang="en-US" sz="1400" dirty="0"/>
          </a:p>
          <a:p>
            <a:pPr marL="342900" indent="-342900">
              <a:spcAft>
                <a:spcPts val="500"/>
              </a:spcAft>
              <a:buSzPct val="100000"/>
              <a:buChar char="•"/>
            </a:pPr>
            <a:r>
              <a:rPr lang="en-US" sz="1400" dirty="0">
                <a:solidFill>
                  <a:schemeClr val="tx1"/>
                </a:solidFill>
              </a:rPr>
              <a:t>Duplicate messages from the broker</a:t>
            </a:r>
            <a:endParaRPr lang="en-US" sz="1400" dirty="0"/>
          </a:p>
          <a:p>
            <a:pPr marL="342900" indent="-342900">
              <a:spcAft>
                <a:spcPts val="500"/>
              </a:spcAft>
              <a:buSzPct val="100000"/>
              <a:buChar char="•"/>
            </a:pPr>
            <a:r>
              <a:rPr lang="en-US" sz="1400" dirty="0">
                <a:solidFill>
                  <a:schemeClr val="tx1"/>
                </a:solidFill>
              </a:rPr>
              <a:t>Double charge by a payment provider</a:t>
            </a:r>
            <a:endParaRPr lang="en-US" sz="1400" dirty="0"/>
          </a:p>
          <a:p>
            <a:pPr marL="342900" indent="-342900">
              <a:spcAft>
                <a:spcPts val="500"/>
              </a:spcAft>
              <a:buSzPct val="100000"/>
              <a:buChar char="•"/>
            </a:pPr>
            <a:r>
              <a:rPr lang="en-US" sz="1400" dirty="0">
                <a:solidFill>
                  <a:schemeClr val="tx1"/>
                </a:solidFill>
              </a:rPr>
              <a:t>Half-finished transfers (refund saga)</a:t>
            </a:r>
            <a:endParaRPr lang="en-US" sz="1400" dirty="0"/>
          </a:p>
        </p:txBody>
      </p:sp>
      <p:sp>
        <p:nvSpPr>
          <p:cNvPr id="8" name="Shape 5"/>
          <p:cNvSpPr/>
          <p:nvPr/>
        </p:nvSpPr>
        <p:spPr>
          <a:xfrm>
            <a:off x="4663440" y="1143000"/>
            <a:ext cx="4023360" cy="2697480"/>
          </a:xfrm>
          <a:prstGeom prst="roundRect">
            <a:avLst>
              <a:gd name="adj" fmla="val 2712"/>
            </a:avLst>
          </a:prstGeom>
          <a:solidFill>
            <a:schemeClr val="bg2"/>
          </a:solidFill>
          <a:ln/>
        </p:spPr>
      </p:sp>
      <p:sp>
        <p:nvSpPr>
          <p:cNvPr id="9" name="Text 6"/>
          <p:cNvSpPr txBox="1"/>
          <p:nvPr/>
        </p:nvSpPr>
        <p:spPr>
          <a:xfrm>
            <a:off x="4846320" y="1280160"/>
            <a:ext cx="3657600" cy="320040"/>
          </a:xfrm>
          <a:prstGeom prst="rect">
            <a:avLst/>
          </a:prstGeom>
          <a:noFill/>
          <a:ln/>
        </p:spPr>
        <p:txBody>
          <a:bodyPr wrap="square" lIns="0" tIns="0" rIns="0" bIns="0" rtlCol="0" anchor="t"/>
          <a:lstStyle/>
          <a:p>
            <a:pPr marL="0" indent="0">
              <a:buNone/>
            </a:pPr>
            <a:r>
              <a:rPr lang="en-US" sz="1600" b="1" dirty="0">
                <a:solidFill>
                  <a:schemeClr val="accent4"/>
                </a:solidFill>
              </a:rPr>
              <a:t>Honest limits</a:t>
            </a:r>
            <a:endParaRPr lang="en-US" sz="1600" dirty="0"/>
          </a:p>
        </p:txBody>
      </p:sp>
      <p:sp>
        <p:nvSpPr>
          <p:cNvPr id="10" name="Text 7"/>
          <p:cNvSpPr txBox="1"/>
          <p:nvPr/>
        </p:nvSpPr>
        <p:spPr>
          <a:xfrm>
            <a:off x="4846320" y="1691640"/>
            <a:ext cx="3657600" cy="20574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No publisher confirms on the relay</a:t>
            </a:r>
            <a:endParaRPr lang="en-US" sz="1400" dirty="0"/>
          </a:p>
          <a:p>
            <a:pPr marL="342900" indent="-342900">
              <a:spcAft>
                <a:spcPts val="500"/>
              </a:spcAft>
              <a:buSzPct val="100000"/>
              <a:buChar char="•"/>
            </a:pPr>
            <a:r>
              <a:rPr lang="en-US" sz="1400" dirty="0">
                <a:solidFill>
                  <a:schemeClr val="tx1"/>
                </a:solidFill>
              </a:rPr>
              <a:t>A replayed saga command sends no second reply</a:t>
            </a:r>
            <a:endParaRPr lang="en-US" sz="1400" dirty="0"/>
          </a:p>
          <a:p>
            <a:pPr marL="342900" indent="-342900">
              <a:spcAft>
                <a:spcPts val="500"/>
              </a:spcAft>
              <a:buSzPct val="100000"/>
              <a:buChar char="•"/>
            </a:pPr>
            <a:r>
              <a:rPr lang="en-US" sz="1400" dirty="0">
                <a:solidFill>
                  <a:schemeClr val="tx1"/>
                </a:solidFill>
              </a:rPr>
              <a:t>Few isolated component tests</a:t>
            </a:r>
            <a:endParaRPr lang="en-US" sz="1400" dirty="0"/>
          </a:p>
          <a:p>
            <a:pPr marL="342900" indent="-342900">
              <a:spcAft>
                <a:spcPts val="500"/>
              </a:spcAft>
              <a:buSzPct val="100000"/>
              <a:buChar char="•"/>
            </a:pPr>
            <a:r>
              <a:rPr lang="en-US" sz="1400" dirty="0">
                <a:solidFill>
                  <a:schemeClr val="tx1"/>
                </a:solidFill>
              </a:rPr>
              <a:t>Chaos endpoints are for demos only</a:t>
            </a:r>
            <a:endParaRPr lang="en-US" sz="1400" dirty="0"/>
          </a:p>
        </p:txBody>
      </p:sp>
      <p:sp>
        <p:nvSpPr>
          <p:cNvPr id="11" name="Shape 8"/>
          <p:cNvSpPr/>
          <p:nvPr/>
        </p:nvSpPr>
        <p:spPr>
          <a:xfrm>
            <a:off x="457200" y="4023360"/>
            <a:ext cx="8229600" cy="594360"/>
          </a:xfrm>
          <a:prstGeom prst="roundRect">
            <a:avLst>
              <a:gd name="adj" fmla="val 12308"/>
            </a:avLst>
          </a:prstGeom>
          <a:solidFill>
            <a:schemeClr val="tx2"/>
          </a:solidFill>
          <a:ln/>
        </p:spPr>
      </p:sp>
      <p:sp>
        <p:nvSpPr>
          <p:cNvPr id="12" name="Text 9"/>
          <p:cNvSpPr txBox="1"/>
          <p:nvPr/>
        </p:nvSpPr>
        <p:spPr>
          <a:xfrm>
            <a:off x="457200" y="4023360"/>
            <a:ext cx="8229600" cy="594360"/>
          </a:xfrm>
          <a:prstGeom prst="rect">
            <a:avLst/>
          </a:prstGeom>
          <a:noFill/>
          <a:ln/>
        </p:spPr>
        <p:txBody>
          <a:bodyPr wrap="square" lIns="0" tIns="0" rIns="0" bIns="0" rtlCol="0" anchor="ctr"/>
          <a:lstStyle/>
          <a:p>
            <a:pPr marL="0" indent="0" algn="ctr">
              <a:buNone/>
            </a:pPr>
            <a:r>
              <a:rPr lang="en-US" sz="1800" b="1" dirty="0">
                <a:solidFill>
                  <a:schemeClr val="bg1"/>
                </a:solidFill>
              </a:rPr>
              <a:t>Effectively-once: many arrivals, one effect. Thank you. Questions?</a:t>
            </a:r>
            <a:endParaRPr lang="en-US" sz="1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8D"/>
                </a:solidFill>
              </a:defRPr>
            </a:lvl1pPr>
          </a:lstStyle>
          <a:p>
            <a:pPr algn="l"/>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IdempotentWallet">
  <a:themeElements>
    <a:clrScheme name="IdempotentWallet">
      <a:dk1>
        <a:srgbClr val="13242B"/>
      </a:dk1>
      <a:lt1>
        <a:srgbClr val="FFFFFF"/>
      </a:lt1>
      <a:dk2>
        <a:srgbClr val="0B3C49"/>
      </a:dk2>
      <a:lt2>
        <a:srgbClr val="E8F1F3"/>
      </a:lt2>
      <a:accent1>
        <a:srgbClr val="0E7C86"/>
      </a:accent1>
      <a:accent2>
        <a:srgbClr val="F4A62A"/>
      </a:accent2>
      <a:accent3>
        <a:srgbClr val="2E9E6B"/>
      </a:accent3>
      <a:accent4>
        <a:srgbClr val="C8434F"/>
      </a:accent4>
      <a:accent5>
        <a:srgbClr val="5B7C8D"/>
      </a:accent5>
      <a:accent6>
        <a:srgbClr val="7A5195"/>
      </a:accent6>
      <a:hlink>
        <a:srgbClr val="0E7C86"/>
      </a:hlink>
      <a:folHlink>
        <a:srgbClr val="5B7C8D"/>
      </a:folHlink>
    </a:clrScheme>
    <a:fontScheme name="IdempotentWal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1708</Words>
  <Application>Microsoft Office PowerPoint</Application>
  <PresentationFormat>On-screen Show (16:9)</PresentationFormat>
  <Paragraphs>196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IdempotentWallet</vt:lpstr>
      <vt:lpstr>Idempotency and Exactly-Once(ish)</vt:lpstr>
      <vt:lpstr>The problem: the lost reply</vt:lpstr>
      <vt:lpstr>The pattern in one idea</vt:lpstr>
      <vt:lpstr>How we built it: IdempotentWallet</vt:lpstr>
      <vt:lpstr>Layer 1: the Idempotency-Key</vt:lpstr>
      <vt:lpstr>Key and effect commit together</vt:lpstr>
      <vt:lpstr>Layer 2: outbox and inbox</vt:lpstr>
      <vt:lpstr>Layer 3: safe calls to outsiders</vt:lpstr>
      <vt:lpstr>Transfers as a saga</vt:lpstr>
      <vt:lpstr>Proof: we break it on purpose</vt:lpstr>
      <vt:lpstr>What it solves, and its limits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IdempotentWallet: Idempotency and Exactly-Once(ish)</dc:title>
  <dc:subject>PptxGenJS Presentation</dc:subject>
  <dc:creator>PptxGenJS</dc:creator>
  <cp:lastModifiedBy>Vindi Chamathsara</cp:lastModifiedBy>
  <cp:revision>2</cp:revision>
  <dcterms:created xsi:type="dcterms:W3CDTF">2026-10-16T11:43:54Z</dcterms:created>
  <dcterms:modified xsi:type="dcterms:W3CDTF">2026-10-16T11:46:04Z</dcterms:modified>
</cp:coreProperties>
</file>